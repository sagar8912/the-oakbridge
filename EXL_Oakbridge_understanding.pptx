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5" r:id="rId20"/>
    <p:sldId id="276" r:id="rId21"/>
    <p:sldId id="277"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8" d="100"/>
          <a:sy n="68" d="100"/>
        </p:scale>
        <p:origin x="792"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gar saini" userId="4a0dd003ca7c735e" providerId="LiveId" clId="{B6C4A830-7978-416E-A002-4A915BCC4B5C}"/>
    <pc:docChg chg="undo custSel modSld">
      <pc:chgData name="sagar saini" userId="4a0dd003ca7c735e" providerId="LiveId" clId="{B6C4A830-7978-416E-A002-4A915BCC4B5C}" dt="2026-07-03T12:03:27.779" v="389" actId="1076"/>
      <pc:docMkLst>
        <pc:docMk/>
      </pc:docMkLst>
      <pc:sldChg chg="modSp mod">
        <pc:chgData name="sagar saini" userId="4a0dd003ca7c735e" providerId="LiveId" clId="{B6C4A830-7978-416E-A002-4A915BCC4B5C}" dt="2026-07-03T09:43:17.845" v="31" actId="20577"/>
        <pc:sldMkLst>
          <pc:docMk/>
          <pc:sldMk cId="0" sldId="256"/>
        </pc:sldMkLst>
        <pc:spChg chg="mod">
          <ac:chgData name="sagar saini" userId="4a0dd003ca7c735e" providerId="LiveId" clId="{B6C4A830-7978-416E-A002-4A915BCC4B5C}" dt="2026-07-03T09:43:17.845" v="31" actId="20577"/>
          <ac:spMkLst>
            <pc:docMk/>
            <pc:sldMk cId="0" sldId="256"/>
            <ac:spMk id="3" creationId="{00000000-0000-0000-0000-000000000000}"/>
          </ac:spMkLst>
        </pc:spChg>
        <pc:spChg chg="mod">
          <ac:chgData name="sagar saini" userId="4a0dd003ca7c735e" providerId="LiveId" clId="{B6C4A830-7978-416E-A002-4A915BCC4B5C}" dt="2026-07-03T09:12:32.918" v="27" actId="20577"/>
          <ac:spMkLst>
            <pc:docMk/>
            <pc:sldMk cId="0" sldId="256"/>
            <ac:spMk id="6" creationId="{00000000-0000-0000-0000-000000000000}"/>
          </ac:spMkLst>
        </pc:spChg>
      </pc:sldChg>
      <pc:sldChg chg="modSp mod">
        <pc:chgData name="sagar saini" userId="4a0dd003ca7c735e" providerId="LiveId" clId="{B6C4A830-7978-416E-A002-4A915BCC4B5C}" dt="2026-07-03T12:00:50.966" v="384" actId="14100"/>
        <pc:sldMkLst>
          <pc:docMk/>
          <pc:sldMk cId="0" sldId="257"/>
        </pc:sldMkLst>
        <pc:spChg chg="mod">
          <ac:chgData name="sagar saini" userId="4a0dd003ca7c735e" providerId="LiveId" clId="{B6C4A830-7978-416E-A002-4A915BCC4B5C}" dt="2026-07-03T11:16:18.142" v="34" actId="1076"/>
          <ac:spMkLst>
            <pc:docMk/>
            <pc:sldMk cId="0" sldId="257"/>
            <ac:spMk id="3" creationId="{00000000-0000-0000-0000-000000000000}"/>
          </ac:spMkLst>
        </pc:spChg>
        <pc:spChg chg="mod">
          <ac:chgData name="sagar saini" userId="4a0dd003ca7c735e" providerId="LiveId" clId="{B6C4A830-7978-416E-A002-4A915BCC4B5C}" dt="2026-07-03T12:00:50.966" v="384" actId="14100"/>
          <ac:spMkLst>
            <pc:docMk/>
            <pc:sldMk cId="0" sldId="257"/>
            <ac:spMk id="28" creationId="{00000000-0000-0000-0000-000000000000}"/>
          </ac:spMkLst>
        </pc:spChg>
      </pc:sldChg>
      <pc:sldChg chg="modSp mod">
        <pc:chgData name="sagar saini" userId="4a0dd003ca7c735e" providerId="LiveId" clId="{B6C4A830-7978-416E-A002-4A915BCC4B5C}" dt="2026-07-03T12:01:09.850" v="386" actId="1076"/>
        <pc:sldMkLst>
          <pc:docMk/>
          <pc:sldMk cId="0" sldId="258"/>
        </pc:sldMkLst>
        <pc:spChg chg="mod">
          <ac:chgData name="sagar saini" userId="4a0dd003ca7c735e" providerId="LiveId" clId="{B6C4A830-7978-416E-A002-4A915BCC4B5C}" dt="2026-07-03T12:01:09.850" v="386" actId="1076"/>
          <ac:spMkLst>
            <pc:docMk/>
            <pc:sldMk cId="0" sldId="258"/>
            <ac:spMk id="3" creationId="{00000000-0000-0000-0000-000000000000}"/>
          </ac:spMkLst>
        </pc:spChg>
        <pc:spChg chg="mod">
          <ac:chgData name="sagar saini" userId="4a0dd003ca7c735e" providerId="LiveId" clId="{B6C4A830-7978-416E-A002-4A915BCC4B5C}" dt="2026-07-03T11:16:34.876" v="40" actId="20577"/>
          <ac:spMkLst>
            <pc:docMk/>
            <pc:sldMk cId="0" sldId="258"/>
            <ac:spMk id="11" creationId="{00000000-0000-0000-0000-000000000000}"/>
          </ac:spMkLst>
        </pc:spChg>
        <pc:spChg chg="mod">
          <ac:chgData name="sagar saini" userId="4a0dd003ca7c735e" providerId="LiveId" clId="{B6C4A830-7978-416E-A002-4A915BCC4B5C}" dt="2026-07-03T11:16:48.860" v="42" actId="1076"/>
          <ac:spMkLst>
            <pc:docMk/>
            <pc:sldMk cId="0" sldId="258"/>
            <ac:spMk id="25" creationId="{00000000-0000-0000-0000-000000000000}"/>
          </ac:spMkLst>
        </pc:spChg>
        <pc:spChg chg="mod">
          <ac:chgData name="sagar saini" userId="4a0dd003ca7c735e" providerId="LiveId" clId="{B6C4A830-7978-416E-A002-4A915BCC4B5C}" dt="2026-07-03T11:17:00.085" v="44" actId="1076"/>
          <ac:spMkLst>
            <pc:docMk/>
            <pc:sldMk cId="0" sldId="258"/>
            <ac:spMk id="26" creationId="{00000000-0000-0000-0000-000000000000}"/>
          </ac:spMkLst>
        </pc:spChg>
        <pc:spChg chg="mod">
          <ac:chgData name="sagar saini" userId="4a0dd003ca7c735e" providerId="LiveId" clId="{B6C4A830-7978-416E-A002-4A915BCC4B5C}" dt="2026-07-03T11:16:44.125" v="41" actId="1076"/>
          <ac:spMkLst>
            <pc:docMk/>
            <pc:sldMk cId="0" sldId="258"/>
            <ac:spMk id="27" creationId="{00000000-0000-0000-0000-000000000000}"/>
          </ac:spMkLst>
        </pc:spChg>
      </pc:sldChg>
      <pc:sldChg chg="delSp modSp mod">
        <pc:chgData name="sagar saini" userId="4a0dd003ca7c735e" providerId="LiveId" clId="{B6C4A830-7978-416E-A002-4A915BCC4B5C}" dt="2026-07-03T12:03:11.293" v="388" actId="1076"/>
        <pc:sldMkLst>
          <pc:docMk/>
          <pc:sldMk cId="0" sldId="259"/>
        </pc:sldMkLst>
        <pc:spChg chg="mod">
          <ac:chgData name="sagar saini" userId="4a0dd003ca7c735e" providerId="LiveId" clId="{B6C4A830-7978-416E-A002-4A915BCC4B5C}" dt="2026-07-03T11:20:50.302" v="80" actId="14100"/>
          <ac:spMkLst>
            <pc:docMk/>
            <pc:sldMk cId="0" sldId="259"/>
            <ac:spMk id="2" creationId="{00000000-0000-0000-0000-000000000000}"/>
          </ac:spMkLst>
        </pc:spChg>
        <pc:spChg chg="mod">
          <ac:chgData name="sagar saini" userId="4a0dd003ca7c735e" providerId="LiveId" clId="{B6C4A830-7978-416E-A002-4A915BCC4B5C}" dt="2026-07-03T11:21:33.534" v="84" actId="1076"/>
          <ac:spMkLst>
            <pc:docMk/>
            <pc:sldMk cId="0" sldId="259"/>
            <ac:spMk id="3" creationId="{00000000-0000-0000-0000-000000000000}"/>
          </ac:spMkLst>
        </pc:spChg>
        <pc:spChg chg="mod">
          <ac:chgData name="sagar saini" userId="4a0dd003ca7c735e" providerId="LiveId" clId="{B6C4A830-7978-416E-A002-4A915BCC4B5C}" dt="2026-07-03T12:03:11.293" v="388" actId="1076"/>
          <ac:spMkLst>
            <pc:docMk/>
            <pc:sldMk cId="0" sldId="259"/>
            <ac:spMk id="5" creationId="{00000000-0000-0000-0000-000000000000}"/>
          </ac:spMkLst>
        </pc:spChg>
        <pc:spChg chg="mod">
          <ac:chgData name="sagar saini" userId="4a0dd003ca7c735e" providerId="LiveId" clId="{B6C4A830-7978-416E-A002-4A915BCC4B5C}" dt="2026-07-03T12:03:05.452" v="387" actId="1076"/>
          <ac:spMkLst>
            <pc:docMk/>
            <pc:sldMk cId="0" sldId="259"/>
            <ac:spMk id="6" creationId="{00000000-0000-0000-0000-000000000000}"/>
          </ac:spMkLst>
        </pc:spChg>
        <pc:spChg chg="mod">
          <ac:chgData name="sagar saini" userId="4a0dd003ca7c735e" providerId="LiveId" clId="{B6C4A830-7978-416E-A002-4A915BCC4B5C}" dt="2026-07-03T11:20:01.361" v="73" actId="1076"/>
          <ac:spMkLst>
            <pc:docMk/>
            <pc:sldMk cId="0" sldId="259"/>
            <ac:spMk id="12" creationId="{00000000-0000-0000-0000-000000000000}"/>
          </ac:spMkLst>
        </pc:spChg>
        <pc:spChg chg="mod">
          <ac:chgData name="sagar saini" userId="4a0dd003ca7c735e" providerId="LiveId" clId="{B6C4A830-7978-416E-A002-4A915BCC4B5C}" dt="2026-07-03T11:20:05.577" v="74" actId="14100"/>
          <ac:spMkLst>
            <pc:docMk/>
            <pc:sldMk cId="0" sldId="259"/>
            <ac:spMk id="14" creationId="{00000000-0000-0000-0000-000000000000}"/>
          </ac:spMkLst>
        </pc:spChg>
        <pc:spChg chg="mod">
          <ac:chgData name="sagar saini" userId="4a0dd003ca7c735e" providerId="LiveId" clId="{B6C4A830-7978-416E-A002-4A915BCC4B5C}" dt="2026-07-03T11:20:14.791" v="75" actId="1076"/>
          <ac:spMkLst>
            <pc:docMk/>
            <pc:sldMk cId="0" sldId="259"/>
            <ac:spMk id="15" creationId="{00000000-0000-0000-0000-000000000000}"/>
          </ac:spMkLst>
        </pc:spChg>
        <pc:spChg chg="mod">
          <ac:chgData name="sagar saini" userId="4a0dd003ca7c735e" providerId="LiveId" clId="{B6C4A830-7978-416E-A002-4A915BCC4B5C}" dt="2026-07-03T11:20:20.343" v="76" actId="1076"/>
          <ac:spMkLst>
            <pc:docMk/>
            <pc:sldMk cId="0" sldId="259"/>
            <ac:spMk id="18" creationId="{00000000-0000-0000-0000-000000000000}"/>
          </ac:spMkLst>
        </pc:spChg>
        <pc:spChg chg="mod">
          <ac:chgData name="sagar saini" userId="4a0dd003ca7c735e" providerId="LiveId" clId="{B6C4A830-7978-416E-A002-4A915BCC4B5C}" dt="2026-07-03T11:20:26.921" v="77" actId="1076"/>
          <ac:spMkLst>
            <pc:docMk/>
            <pc:sldMk cId="0" sldId="259"/>
            <ac:spMk id="19" creationId="{00000000-0000-0000-0000-000000000000}"/>
          </ac:spMkLst>
        </pc:spChg>
        <pc:spChg chg="mod">
          <ac:chgData name="sagar saini" userId="4a0dd003ca7c735e" providerId="LiveId" clId="{B6C4A830-7978-416E-A002-4A915BCC4B5C}" dt="2026-07-03T11:19:48.235" v="71" actId="1076"/>
          <ac:spMkLst>
            <pc:docMk/>
            <pc:sldMk cId="0" sldId="259"/>
            <ac:spMk id="20" creationId="{00000000-0000-0000-0000-000000000000}"/>
          </ac:spMkLst>
        </pc:spChg>
        <pc:spChg chg="mod">
          <ac:chgData name="sagar saini" userId="4a0dd003ca7c735e" providerId="LiveId" clId="{B6C4A830-7978-416E-A002-4A915BCC4B5C}" dt="2026-07-03T11:18:44.688" v="62" actId="1076"/>
          <ac:spMkLst>
            <pc:docMk/>
            <pc:sldMk cId="0" sldId="259"/>
            <ac:spMk id="22" creationId="{00000000-0000-0000-0000-000000000000}"/>
          </ac:spMkLst>
        </pc:spChg>
        <pc:spChg chg="mod">
          <ac:chgData name="sagar saini" userId="4a0dd003ca7c735e" providerId="LiveId" clId="{B6C4A830-7978-416E-A002-4A915BCC4B5C}" dt="2026-07-03T11:19:16.298" v="66" actId="1076"/>
          <ac:spMkLst>
            <pc:docMk/>
            <pc:sldMk cId="0" sldId="259"/>
            <ac:spMk id="23" creationId="{00000000-0000-0000-0000-000000000000}"/>
          </ac:spMkLst>
        </pc:spChg>
        <pc:spChg chg="mod">
          <ac:chgData name="sagar saini" userId="4a0dd003ca7c735e" providerId="LiveId" clId="{B6C4A830-7978-416E-A002-4A915BCC4B5C}" dt="2026-07-03T11:19:10.345" v="65" actId="1076"/>
          <ac:spMkLst>
            <pc:docMk/>
            <pc:sldMk cId="0" sldId="259"/>
            <ac:spMk id="24" creationId="{00000000-0000-0000-0000-000000000000}"/>
          </ac:spMkLst>
        </pc:spChg>
        <pc:spChg chg="mod">
          <ac:chgData name="sagar saini" userId="4a0dd003ca7c735e" providerId="LiveId" clId="{B6C4A830-7978-416E-A002-4A915BCC4B5C}" dt="2026-07-03T11:18:59.145" v="64" actId="20577"/>
          <ac:spMkLst>
            <pc:docMk/>
            <pc:sldMk cId="0" sldId="259"/>
            <ac:spMk id="25" creationId="{00000000-0000-0000-0000-000000000000}"/>
          </ac:spMkLst>
        </pc:spChg>
        <pc:spChg chg="mod">
          <ac:chgData name="sagar saini" userId="4a0dd003ca7c735e" providerId="LiveId" clId="{B6C4A830-7978-416E-A002-4A915BCC4B5C}" dt="2026-07-03T11:18:52.364" v="63" actId="14100"/>
          <ac:spMkLst>
            <pc:docMk/>
            <pc:sldMk cId="0" sldId="259"/>
            <ac:spMk id="26" creationId="{00000000-0000-0000-0000-000000000000}"/>
          </ac:spMkLst>
        </pc:spChg>
        <pc:spChg chg="mod">
          <ac:chgData name="sagar saini" userId="4a0dd003ca7c735e" providerId="LiveId" clId="{B6C4A830-7978-416E-A002-4A915BCC4B5C}" dt="2026-07-03T11:20:34.184" v="78" actId="1076"/>
          <ac:spMkLst>
            <pc:docMk/>
            <pc:sldMk cId="0" sldId="259"/>
            <ac:spMk id="27" creationId="{00000000-0000-0000-0000-000000000000}"/>
          </ac:spMkLst>
        </pc:spChg>
        <pc:spChg chg="mod">
          <ac:chgData name="sagar saini" userId="4a0dd003ca7c735e" providerId="LiveId" clId="{B6C4A830-7978-416E-A002-4A915BCC4B5C}" dt="2026-07-03T11:18:39.686" v="61" actId="1076"/>
          <ac:spMkLst>
            <pc:docMk/>
            <pc:sldMk cId="0" sldId="259"/>
            <ac:spMk id="28" creationId="{00000000-0000-0000-0000-000000000000}"/>
          </ac:spMkLst>
        </pc:spChg>
        <pc:spChg chg="del mod">
          <ac:chgData name="sagar saini" userId="4a0dd003ca7c735e" providerId="LiveId" clId="{B6C4A830-7978-416E-A002-4A915BCC4B5C}" dt="2026-07-03T11:18:11.120" v="53" actId="478"/>
          <ac:spMkLst>
            <pc:docMk/>
            <pc:sldMk cId="0" sldId="259"/>
            <ac:spMk id="29" creationId="{00000000-0000-0000-0000-000000000000}"/>
          </ac:spMkLst>
        </pc:spChg>
        <pc:spChg chg="mod">
          <ac:chgData name="sagar saini" userId="4a0dd003ca7c735e" providerId="LiveId" clId="{B6C4A830-7978-416E-A002-4A915BCC4B5C}" dt="2026-07-03T11:21:53.609" v="86" actId="14100"/>
          <ac:spMkLst>
            <pc:docMk/>
            <pc:sldMk cId="0" sldId="259"/>
            <ac:spMk id="42" creationId="{00000000-0000-0000-0000-000000000000}"/>
          </ac:spMkLst>
        </pc:spChg>
        <pc:spChg chg="mod">
          <ac:chgData name="sagar saini" userId="4a0dd003ca7c735e" providerId="LiveId" clId="{B6C4A830-7978-416E-A002-4A915BCC4B5C}" dt="2026-07-03T11:23:06.163" v="95" actId="14100"/>
          <ac:spMkLst>
            <pc:docMk/>
            <pc:sldMk cId="0" sldId="259"/>
            <ac:spMk id="44" creationId="{00000000-0000-0000-0000-000000000000}"/>
          </ac:spMkLst>
        </pc:spChg>
        <pc:spChg chg="mod">
          <ac:chgData name="sagar saini" userId="4a0dd003ca7c735e" providerId="LiveId" clId="{B6C4A830-7978-416E-A002-4A915BCC4B5C}" dt="2026-07-03T11:23:14.048" v="96" actId="14100"/>
          <ac:spMkLst>
            <pc:docMk/>
            <pc:sldMk cId="0" sldId="259"/>
            <ac:spMk id="49" creationId="{00000000-0000-0000-0000-000000000000}"/>
          </ac:spMkLst>
        </pc:spChg>
        <pc:spChg chg="mod">
          <ac:chgData name="sagar saini" userId="4a0dd003ca7c735e" providerId="LiveId" clId="{B6C4A830-7978-416E-A002-4A915BCC4B5C}" dt="2026-07-03T11:22:39.328" v="91" actId="14100"/>
          <ac:spMkLst>
            <pc:docMk/>
            <pc:sldMk cId="0" sldId="259"/>
            <ac:spMk id="50" creationId="{00000000-0000-0000-0000-000000000000}"/>
          </ac:spMkLst>
        </pc:spChg>
        <pc:spChg chg="mod">
          <ac:chgData name="sagar saini" userId="4a0dd003ca7c735e" providerId="LiveId" clId="{B6C4A830-7978-416E-A002-4A915BCC4B5C}" dt="2026-07-03T11:22:53.129" v="93" actId="14100"/>
          <ac:spMkLst>
            <pc:docMk/>
            <pc:sldMk cId="0" sldId="259"/>
            <ac:spMk id="54" creationId="{00000000-0000-0000-0000-000000000000}"/>
          </ac:spMkLst>
        </pc:spChg>
        <pc:spChg chg="mod">
          <ac:chgData name="sagar saini" userId="4a0dd003ca7c735e" providerId="LiveId" clId="{B6C4A830-7978-416E-A002-4A915BCC4B5C}" dt="2026-07-03T11:22:44.466" v="92" actId="14100"/>
          <ac:spMkLst>
            <pc:docMk/>
            <pc:sldMk cId="0" sldId="259"/>
            <ac:spMk id="55" creationId="{00000000-0000-0000-0000-000000000000}"/>
          </ac:spMkLst>
        </pc:spChg>
        <pc:spChg chg="mod">
          <ac:chgData name="sagar saini" userId="4a0dd003ca7c735e" providerId="LiveId" clId="{B6C4A830-7978-416E-A002-4A915BCC4B5C}" dt="2026-07-03T11:22:05.015" v="88" actId="14100"/>
          <ac:spMkLst>
            <pc:docMk/>
            <pc:sldMk cId="0" sldId="259"/>
            <ac:spMk id="56" creationId="{00000000-0000-0000-0000-000000000000}"/>
          </ac:spMkLst>
        </pc:spChg>
        <pc:spChg chg="mod">
          <ac:chgData name="sagar saini" userId="4a0dd003ca7c735e" providerId="LiveId" clId="{B6C4A830-7978-416E-A002-4A915BCC4B5C}" dt="2026-07-03T11:22:15.112" v="89" actId="14100"/>
          <ac:spMkLst>
            <pc:docMk/>
            <pc:sldMk cId="0" sldId="259"/>
            <ac:spMk id="61" creationId="{00000000-0000-0000-0000-000000000000}"/>
          </ac:spMkLst>
        </pc:spChg>
      </pc:sldChg>
      <pc:sldChg chg="modSp mod">
        <pc:chgData name="sagar saini" userId="4a0dd003ca7c735e" providerId="LiveId" clId="{B6C4A830-7978-416E-A002-4A915BCC4B5C}" dt="2026-07-03T12:03:27.779" v="389" actId="1076"/>
        <pc:sldMkLst>
          <pc:docMk/>
          <pc:sldMk cId="0" sldId="260"/>
        </pc:sldMkLst>
        <pc:spChg chg="mod">
          <ac:chgData name="sagar saini" userId="4a0dd003ca7c735e" providerId="LiveId" clId="{B6C4A830-7978-416E-A002-4A915BCC4B5C}" dt="2026-07-03T11:23:50.343" v="99" actId="1076"/>
          <ac:spMkLst>
            <pc:docMk/>
            <pc:sldMk cId="0" sldId="260"/>
            <ac:spMk id="3" creationId="{00000000-0000-0000-0000-000000000000}"/>
          </ac:spMkLst>
        </pc:spChg>
        <pc:spChg chg="mod">
          <ac:chgData name="sagar saini" userId="4a0dd003ca7c735e" providerId="LiveId" clId="{B6C4A830-7978-416E-A002-4A915BCC4B5C}" dt="2026-07-03T12:03:27.779" v="389" actId="1076"/>
          <ac:spMkLst>
            <pc:docMk/>
            <pc:sldMk cId="0" sldId="260"/>
            <ac:spMk id="5" creationId="{00000000-0000-0000-0000-000000000000}"/>
          </ac:spMkLst>
        </pc:spChg>
        <pc:spChg chg="mod">
          <ac:chgData name="sagar saini" userId="4a0dd003ca7c735e" providerId="LiveId" clId="{B6C4A830-7978-416E-A002-4A915BCC4B5C}" dt="2026-07-03T11:25:44.998" v="111" actId="14100"/>
          <ac:spMkLst>
            <pc:docMk/>
            <pc:sldMk cId="0" sldId="260"/>
            <ac:spMk id="22" creationId="{00000000-0000-0000-0000-000000000000}"/>
          </ac:spMkLst>
        </pc:spChg>
        <pc:spChg chg="mod">
          <ac:chgData name="sagar saini" userId="4a0dd003ca7c735e" providerId="LiveId" clId="{B6C4A830-7978-416E-A002-4A915BCC4B5C}" dt="2026-07-03T11:25:03.477" v="108" actId="14100"/>
          <ac:spMkLst>
            <pc:docMk/>
            <pc:sldMk cId="0" sldId="260"/>
            <ac:spMk id="46" creationId="{00000000-0000-0000-0000-000000000000}"/>
          </ac:spMkLst>
        </pc:spChg>
        <pc:spChg chg="mod">
          <ac:chgData name="sagar saini" userId="4a0dd003ca7c735e" providerId="LiveId" clId="{B6C4A830-7978-416E-A002-4A915BCC4B5C}" dt="2026-07-03T11:24:52.025" v="107" actId="1076"/>
          <ac:spMkLst>
            <pc:docMk/>
            <pc:sldMk cId="0" sldId="260"/>
            <ac:spMk id="58" creationId="{00000000-0000-0000-0000-000000000000}"/>
          </ac:spMkLst>
        </pc:spChg>
        <pc:spChg chg="mod">
          <ac:chgData name="sagar saini" userId="4a0dd003ca7c735e" providerId="LiveId" clId="{B6C4A830-7978-416E-A002-4A915BCC4B5C}" dt="2026-07-03T11:24:49.790" v="104" actId="1076"/>
          <ac:spMkLst>
            <pc:docMk/>
            <pc:sldMk cId="0" sldId="260"/>
            <ac:spMk id="61" creationId="{00000000-0000-0000-0000-000000000000}"/>
          </ac:spMkLst>
        </pc:spChg>
        <pc:spChg chg="mod">
          <ac:chgData name="sagar saini" userId="4a0dd003ca7c735e" providerId="LiveId" clId="{B6C4A830-7978-416E-A002-4A915BCC4B5C}" dt="2026-07-03T11:24:50.302" v="105" actId="1076"/>
          <ac:spMkLst>
            <pc:docMk/>
            <pc:sldMk cId="0" sldId="260"/>
            <ac:spMk id="62" creationId="{00000000-0000-0000-0000-000000000000}"/>
          </ac:spMkLst>
        </pc:spChg>
      </pc:sldChg>
      <pc:sldChg chg="modSp mod">
        <pc:chgData name="sagar saini" userId="4a0dd003ca7c735e" providerId="LiveId" clId="{B6C4A830-7978-416E-A002-4A915BCC4B5C}" dt="2026-07-03T11:26:13.814" v="113" actId="1076"/>
        <pc:sldMkLst>
          <pc:docMk/>
          <pc:sldMk cId="0" sldId="261"/>
        </pc:sldMkLst>
        <pc:spChg chg="mod">
          <ac:chgData name="sagar saini" userId="4a0dd003ca7c735e" providerId="LiveId" clId="{B6C4A830-7978-416E-A002-4A915BCC4B5C}" dt="2026-07-03T11:26:13.814" v="113" actId="1076"/>
          <ac:spMkLst>
            <pc:docMk/>
            <pc:sldMk cId="0" sldId="261"/>
            <ac:spMk id="3" creationId="{00000000-0000-0000-0000-000000000000}"/>
          </ac:spMkLst>
        </pc:spChg>
      </pc:sldChg>
      <pc:sldChg chg="modSp mod">
        <pc:chgData name="sagar saini" userId="4a0dd003ca7c735e" providerId="LiveId" clId="{B6C4A830-7978-416E-A002-4A915BCC4B5C}" dt="2026-07-03T11:27:00.193" v="117" actId="1076"/>
        <pc:sldMkLst>
          <pc:docMk/>
          <pc:sldMk cId="0" sldId="262"/>
        </pc:sldMkLst>
        <pc:spChg chg="mod">
          <ac:chgData name="sagar saini" userId="4a0dd003ca7c735e" providerId="LiveId" clId="{B6C4A830-7978-416E-A002-4A915BCC4B5C}" dt="2026-07-03T11:26:47.451" v="115" actId="1076"/>
          <ac:spMkLst>
            <pc:docMk/>
            <pc:sldMk cId="0" sldId="262"/>
            <ac:spMk id="3" creationId="{00000000-0000-0000-0000-000000000000}"/>
          </ac:spMkLst>
        </pc:spChg>
        <pc:spChg chg="mod">
          <ac:chgData name="sagar saini" userId="4a0dd003ca7c735e" providerId="LiveId" clId="{B6C4A830-7978-416E-A002-4A915BCC4B5C}" dt="2026-07-03T11:26:54.498" v="116" actId="1076"/>
          <ac:spMkLst>
            <pc:docMk/>
            <pc:sldMk cId="0" sldId="262"/>
            <ac:spMk id="5" creationId="{00000000-0000-0000-0000-000000000000}"/>
          </ac:spMkLst>
        </pc:spChg>
        <pc:spChg chg="mod">
          <ac:chgData name="sagar saini" userId="4a0dd003ca7c735e" providerId="LiveId" clId="{B6C4A830-7978-416E-A002-4A915BCC4B5C}" dt="2026-07-03T11:27:00.193" v="117" actId="1076"/>
          <ac:spMkLst>
            <pc:docMk/>
            <pc:sldMk cId="0" sldId="262"/>
            <ac:spMk id="6" creationId="{00000000-0000-0000-0000-000000000000}"/>
          </ac:spMkLst>
        </pc:spChg>
      </pc:sldChg>
      <pc:sldChg chg="delSp modSp mod">
        <pc:chgData name="sagar saini" userId="4a0dd003ca7c735e" providerId="LiveId" clId="{B6C4A830-7978-416E-A002-4A915BCC4B5C}" dt="2026-07-03T11:31:25.586" v="166" actId="1076"/>
        <pc:sldMkLst>
          <pc:docMk/>
          <pc:sldMk cId="0" sldId="263"/>
        </pc:sldMkLst>
        <pc:spChg chg="mod">
          <ac:chgData name="sagar saini" userId="4a0dd003ca7c735e" providerId="LiveId" clId="{B6C4A830-7978-416E-A002-4A915BCC4B5C}" dt="2026-07-03T11:30:52.910" v="157" actId="255"/>
          <ac:spMkLst>
            <pc:docMk/>
            <pc:sldMk cId="0" sldId="263"/>
            <ac:spMk id="22" creationId="{00000000-0000-0000-0000-000000000000}"/>
          </ac:spMkLst>
        </pc:spChg>
        <pc:spChg chg="mod">
          <ac:chgData name="sagar saini" userId="4a0dd003ca7c735e" providerId="LiveId" clId="{B6C4A830-7978-416E-A002-4A915BCC4B5C}" dt="2026-07-03T11:31:25.586" v="166" actId="1076"/>
          <ac:spMkLst>
            <pc:docMk/>
            <pc:sldMk cId="0" sldId="263"/>
            <ac:spMk id="23" creationId="{00000000-0000-0000-0000-000000000000}"/>
          </ac:spMkLst>
        </pc:spChg>
        <pc:spChg chg="mod">
          <ac:chgData name="sagar saini" userId="4a0dd003ca7c735e" providerId="LiveId" clId="{B6C4A830-7978-416E-A002-4A915BCC4B5C}" dt="2026-07-03T11:31:05.279" v="160" actId="1076"/>
          <ac:spMkLst>
            <pc:docMk/>
            <pc:sldMk cId="0" sldId="263"/>
            <ac:spMk id="24" creationId="{00000000-0000-0000-0000-000000000000}"/>
          </ac:spMkLst>
        </pc:spChg>
        <pc:spChg chg="mod">
          <ac:chgData name="sagar saini" userId="4a0dd003ca7c735e" providerId="LiveId" clId="{B6C4A830-7978-416E-A002-4A915BCC4B5C}" dt="2026-07-03T11:31:13.842" v="161" actId="1076"/>
          <ac:spMkLst>
            <pc:docMk/>
            <pc:sldMk cId="0" sldId="263"/>
            <ac:spMk id="25" creationId="{00000000-0000-0000-0000-000000000000}"/>
          </ac:spMkLst>
        </pc:spChg>
        <pc:spChg chg="mod">
          <ac:chgData name="sagar saini" userId="4a0dd003ca7c735e" providerId="LiveId" clId="{B6C4A830-7978-416E-A002-4A915BCC4B5C}" dt="2026-07-03T11:30:57.718" v="158" actId="1076"/>
          <ac:spMkLst>
            <pc:docMk/>
            <pc:sldMk cId="0" sldId="263"/>
            <ac:spMk id="26" creationId="{00000000-0000-0000-0000-000000000000}"/>
          </ac:spMkLst>
        </pc:spChg>
        <pc:spChg chg="del mod">
          <ac:chgData name="sagar saini" userId="4a0dd003ca7c735e" providerId="LiveId" clId="{B6C4A830-7978-416E-A002-4A915BCC4B5C}" dt="2026-07-03T11:31:21.952" v="165"/>
          <ac:spMkLst>
            <pc:docMk/>
            <pc:sldMk cId="0" sldId="263"/>
            <ac:spMk id="27" creationId="{00000000-0000-0000-0000-000000000000}"/>
          </ac:spMkLst>
        </pc:spChg>
        <pc:spChg chg="mod">
          <ac:chgData name="sagar saini" userId="4a0dd003ca7c735e" providerId="LiveId" clId="{B6C4A830-7978-416E-A002-4A915BCC4B5C}" dt="2026-07-03T11:30:07.514" v="146" actId="255"/>
          <ac:spMkLst>
            <pc:docMk/>
            <pc:sldMk cId="0" sldId="263"/>
            <ac:spMk id="28" creationId="{00000000-0000-0000-0000-000000000000}"/>
          </ac:spMkLst>
        </pc:spChg>
        <pc:spChg chg="mod">
          <ac:chgData name="sagar saini" userId="4a0dd003ca7c735e" providerId="LiveId" clId="{B6C4A830-7978-416E-A002-4A915BCC4B5C}" dt="2026-07-03T11:30:35.326" v="153" actId="1076"/>
          <ac:spMkLst>
            <pc:docMk/>
            <pc:sldMk cId="0" sldId="263"/>
            <ac:spMk id="29" creationId="{00000000-0000-0000-0000-000000000000}"/>
          </ac:spMkLst>
        </pc:spChg>
        <pc:spChg chg="mod">
          <ac:chgData name="sagar saini" userId="4a0dd003ca7c735e" providerId="LiveId" clId="{B6C4A830-7978-416E-A002-4A915BCC4B5C}" dt="2026-07-03T11:30:20.586" v="149" actId="1076"/>
          <ac:spMkLst>
            <pc:docMk/>
            <pc:sldMk cId="0" sldId="263"/>
            <ac:spMk id="30" creationId="{00000000-0000-0000-0000-000000000000}"/>
          </ac:spMkLst>
        </pc:spChg>
        <pc:spChg chg="mod">
          <ac:chgData name="sagar saini" userId="4a0dd003ca7c735e" providerId="LiveId" clId="{B6C4A830-7978-416E-A002-4A915BCC4B5C}" dt="2026-07-03T11:30:26.868" v="150" actId="1076"/>
          <ac:spMkLst>
            <pc:docMk/>
            <pc:sldMk cId="0" sldId="263"/>
            <ac:spMk id="31" creationId="{00000000-0000-0000-0000-000000000000}"/>
          </ac:spMkLst>
        </pc:spChg>
        <pc:spChg chg="mod">
          <ac:chgData name="sagar saini" userId="4a0dd003ca7c735e" providerId="LiveId" clId="{B6C4A830-7978-416E-A002-4A915BCC4B5C}" dt="2026-07-03T11:30:13.774" v="147" actId="1076"/>
          <ac:spMkLst>
            <pc:docMk/>
            <pc:sldMk cId="0" sldId="263"/>
            <ac:spMk id="32" creationId="{00000000-0000-0000-0000-000000000000}"/>
          </ac:spMkLst>
        </pc:spChg>
        <pc:spChg chg="del mod">
          <ac:chgData name="sagar saini" userId="4a0dd003ca7c735e" providerId="LiveId" clId="{B6C4A830-7978-416E-A002-4A915BCC4B5C}" dt="2026-07-03T11:30:28.825" v="152"/>
          <ac:spMkLst>
            <pc:docMk/>
            <pc:sldMk cId="0" sldId="263"/>
            <ac:spMk id="33" creationId="{00000000-0000-0000-0000-000000000000}"/>
          </ac:spMkLst>
        </pc:spChg>
        <pc:spChg chg="mod">
          <ac:chgData name="sagar saini" userId="4a0dd003ca7c735e" providerId="LiveId" clId="{B6C4A830-7978-416E-A002-4A915BCC4B5C}" dt="2026-07-03T11:30:01.671" v="145" actId="255"/>
          <ac:spMkLst>
            <pc:docMk/>
            <pc:sldMk cId="0" sldId="263"/>
            <ac:spMk id="34" creationId="{00000000-0000-0000-0000-000000000000}"/>
          </ac:spMkLst>
        </pc:spChg>
        <pc:spChg chg="mod">
          <ac:chgData name="sagar saini" userId="4a0dd003ca7c735e" providerId="LiveId" clId="{B6C4A830-7978-416E-A002-4A915BCC4B5C}" dt="2026-07-03T11:29:32.155" v="141" actId="1076"/>
          <ac:spMkLst>
            <pc:docMk/>
            <pc:sldMk cId="0" sldId="263"/>
            <ac:spMk id="35" creationId="{00000000-0000-0000-0000-000000000000}"/>
          </ac:spMkLst>
        </pc:spChg>
        <pc:spChg chg="mod">
          <ac:chgData name="sagar saini" userId="4a0dd003ca7c735e" providerId="LiveId" clId="{B6C4A830-7978-416E-A002-4A915BCC4B5C}" dt="2026-07-03T11:29:15.421" v="139" actId="1076"/>
          <ac:spMkLst>
            <pc:docMk/>
            <pc:sldMk cId="0" sldId="263"/>
            <ac:spMk id="36" creationId="{00000000-0000-0000-0000-000000000000}"/>
          </ac:spMkLst>
        </pc:spChg>
        <pc:spChg chg="mod">
          <ac:chgData name="sagar saini" userId="4a0dd003ca7c735e" providerId="LiveId" clId="{B6C4A830-7978-416E-A002-4A915BCC4B5C}" dt="2026-07-03T11:29:24.763" v="140" actId="1076"/>
          <ac:spMkLst>
            <pc:docMk/>
            <pc:sldMk cId="0" sldId="263"/>
            <ac:spMk id="37" creationId="{00000000-0000-0000-0000-000000000000}"/>
          </ac:spMkLst>
        </pc:spChg>
        <pc:spChg chg="mod">
          <ac:chgData name="sagar saini" userId="4a0dd003ca7c735e" providerId="LiveId" clId="{B6C4A830-7978-416E-A002-4A915BCC4B5C}" dt="2026-07-03T11:29:06.748" v="137" actId="1076"/>
          <ac:spMkLst>
            <pc:docMk/>
            <pc:sldMk cId="0" sldId="263"/>
            <ac:spMk id="38" creationId="{00000000-0000-0000-0000-000000000000}"/>
          </ac:spMkLst>
        </pc:spChg>
        <pc:spChg chg="del mod">
          <ac:chgData name="sagar saini" userId="4a0dd003ca7c735e" providerId="LiveId" clId="{B6C4A830-7978-416E-A002-4A915BCC4B5C}" dt="2026-07-03T11:28:59.690" v="136"/>
          <ac:spMkLst>
            <pc:docMk/>
            <pc:sldMk cId="0" sldId="263"/>
            <ac:spMk id="39" creationId="{00000000-0000-0000-0000-000000000000}"/>
          </ac:spMkLst>
        </pc:spChg>
        <pc:spChg chg="mod">
          <ac:chgData name="sagar saini" userId="4a0dd003ca7c735e" providerId="LiveId" clId="{B6C4A830-7978-416E-A002-4A915BCC4B5C}" dt="2026-07-03T11:27:33.782" v="120" actId="255"/>
          <ac:spMkLst>
            <pc:docMk/>
            <pc:sldMk cId="0" sldId="263"/>
            <ac:spMk id="40" creationId="{00000000-0000-0000-0000-000000000000}"/>
          </ac:spMkLst>
        </pc:spChg>
        <pc:spChg chg="mod">
          <ac:chgData name="sagar saini" userId="4a0dd003ca7c735e" providerId="LiveId" clId="{B6C4A830-7978-416E-A002-4A915BCC4B5C}" dt="2026-07-03T11:27:46.168" v="122" actId="1076"/>
          <ac:spMkLst>
            <pc:docMk/>
            <pc:sldMk cId="0" sldId="263"/>
            <ac:spMk id="41" creationId="{00000000-0000-0000-0000-000000000000}"/>
          </ac:spMkLst>
        </pc:spChg>
        <pc:spChg chg="mod">
          <ac:chgData name="sagar saini" userId="4a0dd003ca7c735e" providerId="LiveId" clId="{B6C4A830-7978-416E-A002-4A915BCC4B5C}" dt="2026-07-03T11:28:10.862" v="125" actId="1076"/>
          <ac:spMkLst>
            <pc:docMk/>
            <pc:sldMk cId="0" sldId="263"/>
            <ac:spMk id="42" creationId="{00000000-0000-0000-0000-000000000000}"/>
          </ac:spMkLst>
        </pc:spChg>
        <pc:spChg chg="mod">
          <ac:chgData name="sagar saini" userId="4a0dd003ca7c735e" providerId="LiveId" clId="{B6C4A830-7978-416E-A002-4A915BCC4B5C}" dt="2026-07-03T11:28:17.113" v="126" actId="1076"/>
          <ac:spMkLst>
            <pc:docMk/>
            <pc:sldMk cId="0" sldId="263"/>
            <ac:spMk id="43" creationId="{00000000-0000-0000-0000-000000000000}"/>
          </ac:spMkLst>
        </pc:spChg>
        <pc:spChg chg="mod">
          <ac:chgData name="sagar saini" userId="4a0dd003ca7c735e" providerId="LiveId" clId="{B6C4A830-7978-416E-A002-4A915BCC4B5C}" dt="2026-07-03T11:27:58.020" v="123" actId="1076"/>
          <ac:spMkLst>
            <pc:docMk/>
            <pc:sldMk cId="0" sldId="263"/>
            <ac:spMk id="44" creationId="{00000000-0000-0000-0000-000000000000}"/>
          </ac:spMkLst>
        </pc:spChg>
        <pc:spChg chg="del mod">
          <ac:chgData name="sagar saini" userId="4a0dd003ca7c735e" providerId="LiveId" clId="{B6C4A830-7978-416E-A002-4A915BCC4B5C}" dt="2026-07-03T11:28:29.733" v="130"/>
          <ac:spMkLst>
            <pc:docMk/>
            <pc:sldMk cId="0" sldId="263"/>
            <ac:spMk id="45" creationId="{00000000-0000-0000-0000-000000000000}"/>
          </ac:spMkLst>
        </pc:spChg>
      </pc:sldChg>
      <pc:sldChg chg="delSp modSp mod">
        <pc:chgData name="sagar saini" userId="4a0dd003ca7c735e" providerId="LiveId" clId="{B6C4A830-7978-416E-A002-4A915BCC4B5C}" dt="2026-07-03T11:37:10.262" v="214" actId="20577"/>
        <pc:sldMkLst>
          <pc:docMk/>
          <pc:sldMk cId="0" sldId="264"/>
        </pc:sldMkLst>
        <pc:spChg chg="mod">
          <ac:chgData name="sagar saini" userId="4a0dd003ca7c735e" providerId="LiveId" clId="{B6C4A830-7978-416E-A002-4A915BCC4B5C}" dt="2026-07-03T11:32:28.689" v="173" actId="1076"/>
          <ac:spMkLst>
            <pc:docMk/>
            <pc:sldMk cId="0" sldId="264"/>
            <ac:spMk id="3" creationId="{00000000-0000-0000-0000-000000000000}"/>
          </ac:spMkLst>
        </pc:spChg>
        <pc:spChg chg="mod">
          <ac:chgData name="sagar saini" userId="4a0dd003ca7c735e" providerId="LiveId" clId="{B6C4A830-7978-416E-A002-4A915BCC4B5C}" dt="2026-07-03T11:33:11.250" v="177" actId="1076"/>
          <ac:spMkLst>
            <pc:docMk/>
            <pc:sldMk cId="0" sldId="264"/>
            <ac:spMk id="5" creationId="{00000000-0000-0000-0000-000000000000}"/>
          </ac:spMkLst>
        </pc:spChg>
        <pc:spChg chg="mod">
          <ac:chgData name="sagar saini" userId="4a0dd003ca7c735e" providerId="LiveId" clId="{B6C4A830-7978-416E-A002-4A915BCC4B5C}" dt="2026-07-03T11:33:04.115" v="176" actId="1076"/>
          <ac:spMkLst>
            <pc:docMk/>
            <pc:sldMk cId="0" sldId="264"/>
            <ac:spMk id="6" creationId="{00000000-0000-0000-0000-000000000000}"/>
          </ac:spMkLst>
        </pc:spChg>
        <pc:spChg chg="mod">
          <ac:chgData name="sagar saini" userId="4a0dd003ca7c735e" providerId="LiveId" clId="{B6C4A830-7978-416E-A002-4A915BCC4B5C}" dt="2026-07-03T11:33:38.998" v="179" actId="1076"/>
          <ac:spMkLst>
            <pc:docMk/>
            <pc:sldMk cId="0" sldId="264"/>
            <ac:spMk id="10" creationId="{00000000-0000-0000-0000-000000000000}"/>
          </ac:spMkLst>
        </pc:spChg>
        <pc:spChg chg="mod">
          <ac:chgData name="sagar saini" userId="4a0dd003ca7c735e" providerId="LiveId" clId="{B6C4A830-7978-416E-A002-4A915BCC4B5C}" dt="2026-07-03T11:31:48.010" v="168" actId="20577"/>
          <ac:spMkLst>
            <pc:docMk/>
            <pc:sldMk cId="0" sldId="264"/>
            <ac:spMk id="11" creationId="{00000000-0000-0000-0000-000000000000}"/>
          </ac:spMkLst>
        </pc:spChg>
        <pc:spChg chg="mod">
          <ac:chgData name="sagar saini" userId="4a0dd003ca7c735e" providerId="LiveId" clId="{B6C4A830-7978-416E-A002-4A915BCC4B5C}" dt="2026-07-03T11:33:31.200" v="178" actId="1076"/>
          <ac:spMkLst>
            <pc:docMk/>
            <pc:sldMk cId="0" sldId="264"/>
            <ac:spMk id="12" creationId="{00000000-0000-0000-0000-000000000000}"/>
          </ac:spMkLst>
        </pc:spChg>
        <pc:spChg chg="mod">
          <ac:chgData name="sagar saini" userId="4a0dd003ca7c735e" providerId="LiveId" clId="{B6C4A830-7978-416E-A002-4A915BCC4B5C}" dt="2026-07-03T11:36:42.669" v="208" actId="14100"/>
          <ac:spMkLst>
            <pc:docMk/>
            <pc:sldMk cId="0" sldId="264"/>
            <ac:spMk id="13" creationId="{00000000-0000-0000-0000-000000000000}"/>
          </ac:spMkLst>
        </pc:spChg>
        <pc:spChg chg="mod">
          <ac:chgData name="sagar saini" userId="4a0dd003ca7c735e" providerId="LiveId" clId="{B6C4A830-7978-416E-A002-4A915BCC4B5C}" dt="2026-07-03T11:36:48.846" v="209" actId="1076"/>
          <ac:spMkLst>
            <pc:docMk/>
            <pc:sldMk cId="0" sldId="264"/>
            <ac:spMk id="15" creationId="{00000000-0000-0000-0000-000000000000}"/>
          </ac:spMkLst>
        </pc:spChg>
        <pc:spChg chg="mod">
          <ac:chgData name="sagar saini" userId="4a0dd003ca7c735e" providerId="LiveId" clId="{B6C4A830-7978-416E-A002-4A915BCC4B5C}" dt="2026-07-03T11:36:54.765" v="210" actId="1076"/>
          <ac:spMkLst>
            <pc:docMk/>
            <pc:sldMk cId="0" sldId="264"/>
            <ac:spMk id="16" creationId="{00000000-0000-0000-0000-000000000000}"/>
          </ac:spMkLst>
        </pc:spChg>
        <pc:spChg chg="mod">
          <ac:chgData name="sagar saini" userId="4a0dd003ca7c735e" providerId="LiveId" clId="{B6C4A830-7978-416E-A002-4A915BCC4B5C}" dt="2026-07-03T11:36:00.519" v="202" actId="14100"/>
          <ac:spMkLst>
            <pc:docMk/>
            <pc:sldMk cId="0" sldId="264"/>
            <ac:spMk id="17" creationId="{00000000-0000-0000-0000-000000000000}"/>
          </ac:spMkLst>
        </pc:spChg>
        <pc:spChg chg="mod">
          <ac:chgData name="sagar saini" userId="4a0dd003ca7c735e" providerId="LiveId" clId="{B6C4A830-7978-416E-A002-4A915BCC4B5C}" dt="2026-07-03T11:36:04.967" v="203" actId="1076"/>
          <ac:spMkLst>
            <pc:docMk/>
            <pc:sldMk cId="0" sldId="264"/>
            <ac:spMk id="18" creationId="{00000000-0000-0000-0000-000000000000}"/>
          </ac:spMkLst>
        </pc:spChg>
        <pc:spChg chg="mod">
          <ac:chgData name="sagar saini" userId="4a0dd003ca7c735e" providerId="LiveId" clId="{B6C4A830-7978-416E-A002-4A915BCC4B5C}" dt="2026-07-03T11:36:29.718" v="206" actId="1076"/>
          <ac:spMkLst>
            <pc:docMk/>
            <pc:sldMk cId="0" sldId="264"/>
            <ac:spMk id="19" creationId="{00000000-0000-0000-0000-000000000000}"/>
          </ac:spMkLst>
        </pc:spChg>
        <pc:spChg chg="mod">
          <ac:chgData name="sagar saini" userId="4a0dd003ca7c735e" providerId="LiveId" clId="{B6C4A830-7978-416E-A002-4A915BCC4B5C}" dt="2026-07-03T11:37:10.262" v="214" actId="20577"/>
          <ac:spMkLst>
            <pc:docMk/>
            <pc:sldMk cId="0" sldId="264"/>
            <ac:spMk id="20" creationId="{00000000-0000-0000-0000-000000000000}"/>
          </ac:spMkLst>
        </pc:spChg>
        <pc:spChg chg="mod">
          <ac:chgData name="sagar saini" userId="4a0dd003ca7c735e" providerId="LiveId" clId="{B6C4A830-7978-416E-A002-4A915BCC4B5C}" dt="2026-07-03T11:36:13.435" v="204" actId="14100"/>
          <ac:spMkLst>
            <pc:docMk/>
            <pc:sldMk cId="0" sldId="264"/>
            <ac:spMk id="21" creationId="{00000000-0000-0000-0000-000000000000}"/>
          </ac:spMkLst>
        </pc:spChg>
        <pc:spChg chg="mod">
          <ac:chgData name="sagar saini" userId="4a0dd003ca7c735e" providerId="LiveId" clId="{B6C4A830-7978-416E-A002-4A915BCC4B5C}" dt="2026-07-03T11:36:20.330" v="205" actId="1076"/>
          <ac:spMkLst>
            <pc:docMk/>
            <pc:sldMk cId="0" sldId="264"/>
            <ac:spMk id="22" creationId="{00000000-0000-0000-0000-000000000000}"/>
          </ac:spMkLst>
        </pc:spChg>
        <pc:spChg chg="mod">
          <ac:chgData name="sagar saini" userId="4a0dd003ca7c735e" providerId="LiveId" clId="{B6C4A830-7978-416E-A002-4A915BCC4B5C}" dt="2026-07-03T11:35:33.369" v="198" actId="1076"/>
          <ac:spMkLst>
            <pc:docMk/>
            <pc:sldMk cId="0" sldId="264"/>
            <ac:spMk id="23" creationId="{00000000-0000-0000-0000-000000000000}"/>
          </ac:spMkLst>
        </pc:spChg>
        <pc:spChg chg="mod">
          <ac:chgData name="sagar saini" userId="4a0dd003ca7c735e" providerId="LiveId" clId="{B6C4A830-7978-416E-A002-4A915BCC4B5C}" dt="2026-07-03T11:35:27.496" v="197" actId="1076"/>
          <ac:spMkLst>
            <pc:docMk/>
            <pc:sldMk cId="0" sldId="264"/>
            <ac:spMk id="24" creationId="{00000000-0000-0000-0000-000000000000}"/>
          </ac:spMkLst>
        </pc:spChg>
        <pc:spChg chg="mod">
          <ac:chgData name="sagar saini" userId="4a0dd003ca7c735e" providerId="LiveId" clId="{B6C4A830-7978-416E-A002-4A915BCC4B5C}" dt="2026-07-03T11:34:48.015" v="192" actId="1076"/>
          <ac:spMkLst>
            <pc:docMk/>
            <pc:sldMk cId="0" sldId="264"/>
            <ac:spMk id="25" creationId="{00000000-0000-0000-0000-000000000000}"/>
          </ac:spMkLst>
        </pc:spChg>
        <pc:spChg chg="mod">
          <ac:chgData name="sagar saini" userId="4a0dd003ca7c735e" providerId="LiveId" clId="{B6C4A830-7978-416E-A002-4A915BCC4B5C}" dt="2026-07-03T11:35:09.654" v="195" actId="1076"/>
          <ac:spMkLst>
            <pc:docMk/>
            <pc:sldMk cId="0" sldId="264"/>
            <ac:spMk id="26" creationId="{00000000-0000-0000-0000-000000000000}"/>
          </ac:spMkLst>
        </pc:spChg>
        <pc:spChg chg="mod">
          <ac:chgData name="sagar saini" userId="4a0dd003ca7c735e" providerId="LiveId" clId="{B6C4A830-7978-416E-A002-4A915BCC4B5C}" dt="2026-07-03T11:35:02.598" v="194" actId="1076"/>
          <ac:spMkLst>
            <pc:docMk/>
            <pc:sldMk cId="0" sldId="264"/>
            <ac:spMk id="27" creationId="{00000000-0000-0000-0000-000000000000}"/>
          </ac:spMkLst>
        </pc:spChg>
        <pc:spChg chg="mod">
          <ac:chgData name="sagar saini" userId="4a0dd003ca7c735e" providerId="LiveId" clId="{B6C4A830-7978-416E-A002-4A915BCC4B5C}" dt="2026-07-03T11:34:55.497" v="193" actId="1076"/>
          <ac:spMkLst>
            <pc:docMk/>
            <pc:sldMk cId="0" sldId="264"/>
            <ac:spMk id="28" creationId="{00000000-0000-0000-0000-000000000000}"/>
          </ac:spMkLst>
        </pc:spChg>
        <pc:spChg chg="mod">
          <ac:chgData name="sagar saini" userId="4a0dd003ca7c735e" providerId="LiveId" clId="{B6C4A830-7978-416E-A002-4A915BCC4B5C}" dt="2026-07-03T11:34:11.888" v="186" actId="1076"/>
          <ac:spMkLst>
            <pc:docMk/>
            <pc:sldMk cId="0" sldId="264"/>
            <ac:spMk id="29" creationId="{00000000-0000-0000-0000-000000000000}"/>
          </ac:spMkLst>
        </pc:spChg>
        <pc:spChg chg="mod">
          <ac:chgData name="sagar saini" userId="4a0dd003ca7c735e" providerId="LiveId" clId="{B6C4A830-7978-416E-A002-4A915BCC4B5C}" dt="2026-07-03T11:34:15.822" v="187" actId="1076"/>
          <ac:spMkLst>
            <pc:docMk/>
            <pc:sldMk cId="0" sldId="264"/>
            <ac:spMk id="30" creationId="{00000000-0000-0000-0000-000000000000}"/>
          </ac:spMkLst>
        </pc:spChg>
        <pc:spChg chg="mod">
          <ac:chgData name="sagar saini" userId="4a0dd003ca7c735e" providerId="LiveId" clId="{B6C4A830-7978-416E-A002-4A915BCC4B5C}" dt="2026-07-03T11:34:33.217" v="190" actId="1076"/>
          <ac:spMkLst>
            <pc:docMk/>
            <pc:sldMk cId="0" sldId="264"/>
            <ac:spMk id="31" creationId="{00000000-0000-0000-0000-000000000000}"/>
          </ac:spMkLst>
        </pc:spChg>
        <pc:spChg chg="mod">
          <ac:chgData name="sagar saini" userId="4a0dd003ca7c735e" providerId="LiveId" clId="{B6C4A830-7978-416E-A002-4A915BCC4B5C}" dt="2026-07-03T11:34:26.046" v="188" actId="1076"/>
          <ac:spMkLst>
            <pc:docMk/>
            <pc:sldMk cId="0" sldId="264"/>
            <ac:spMk id="32" creationId="{00000000-0000-0000-0000-000000000000}"/>
          </ac:spMkLst>
        </pc:spChg>
        <pc:spChg chg="del">
          <ac:chgData name="sagar saini" userId="4a0dd003ca7c735e" providerId="LiveId" clId="{B6C4A830-7978-416E-A002-4A915BCC4B5C}" dt="2026-07-03T11:34:03.856" v="184" actId="21"/>
          <ac:spMkLst>
            <pc:docMk/>
            <pc:sldMk cId="0" sldId="264"/>
            <ac:spMk id="33" creationId="{00000000-0000-0000-0000-000000000000}"/>
          </ac:spMkLst>
        </pc:spChg>
        <pc:spChg chg="del">
          <ac:chgData name="sagar saini" userId="4a0dd003ca7c735e" providerId="LiveId" clId="{B6C4A830-7978-416E-A002-4A915BCC4B5C}" dt="2026-07-03T11:34:07.543" v="185" actId="21"/>
          <ac:spMkLst>
            <pc:docMk/>
            <pc:sldMk cId="0" sldId="264"/>
            <ac:spMk id="34" creationId="{00000000-0000-0000-0000-000000000000}"/>
          </ac:spMkLst>
        </pc:spChg>
        <pc:spChg chg="del">
          <ac:chgData name="sagar saini" userId="4a0dd003ca7c735e" providerId="LiveId" clId="{B6C4A830-7978-416E-A002-4A915BCC4B5C}" dt="2026-07-03T11:33:53.935" v="181" actId="478"/>
          <ac:spMkLst>
            <pc:docMk/>
            <pc:sldMk cId="0" sldId="264"/>
            <ac:spMk id="35" creationId="{00000000-0000-0000-0000-000000000000}"/>
          </ac:spMkLst>
        </pc:spChg>
        <pc:spChg chg="del mod">
          <ac:chgData name="sagar saini" userId="4a0dd003ca7c735e" providerId="LiveId" clId="{B6C4A830-7978-416E-A002-4A915BCC4B5C}" dt="2026-07-03T11:33:53.935" v="183"/>
          <ac:spMkLst>
            <pc:docMk/>
            <pc:sldMk cId="0" sldId="264"/>
            <ac:spMk id="36" creationId="{00000000-0000-0000-0000-000000000000}"/>
          </ac:spMkLst>
        </pc:spChg>
      </pc:sldChg>
      <pc:sldChg chg="modSp mod">
        <pc:chgData name="sagar saini" userId="4a0dd003ca7c735e" providerId="LiveId" clId="{B6C4A830-7978-416E-A002-4A915BCC4B5C}" dt="2026-07-03T11:38:20.722" v="223" actId="14100"/>
        <pc:sldMkLst>
          <pc:docMk/>
          <pc:sldMk cId="0" sldId="265"/>
        </pc:sldMkLst>
        <pc:spChg chg="mod">
          <ac:chgData name="sagar saini" userId="4a0dd003ca7c735e" providerId="LiveId" clId="{B6C4A830-7978-416E-A002-4A915BCC4B5C}" dt="2026-07-03T11:37:35.283" v="217" actId="1076"/>
          <ac:spMkLst>
            <pc:docMk/>
            <pc:sldMk cId="0" sldId="265"/>
            <ac:spMk id="3" creationId="{00000000-0000-0000-0000-000000000000}"/>
          </ac:spMkLst>
        </pc:spChg>
        <pc:spChg chg="mod">
          <ac:chgData name="sagar saini" userId="4a0dd003ca7c735e" providerId="LiveId" clId="{B6C4A830-7978-416E-A002-4A915BCC4B5C}" dt="2026-07-03T11:37:44.668" v="218" actId="1076"/>
          <ac:spMkLst>
            <pc:docMk/>
            <pc:sldMk cId="0" sldId="265"/>
            <ac:spMk id="5" creationId="{00000000-0000-0000-0000-000000000000}"/>
          </ac:spMkLst>
        </pc:spChg>
        <pc:spChg chg="mod">
          <ac:chgData name="sagar saini" userId="4a0dd003ca7c735e" providerId="LiveId" clId="{B6C4A830-7978-416E-A002-4A915BCC4B5C}" dt="2026-07-03T11:37:50.636" v="219" actId="1076"/>
          <ac:spMkLst>
            <pc:docMk/>
            <pc:sldMk cId="0" sldId="265"/>
            <ac:spMk id="6" creationId="{00000000-0000-0000-0000-000000000000}"/>
          </ac:spMkLst>
        </pc:spChg>
        <pc:spChg chg="mod">
          <ac:chgData name="sagar saini" userId="4a0dd003ca7c735e" providerId="LiveId" clId="{B6C4A830-7978-416E-A002-4A915BCC4B5C}" dt="2026-07-03T11:37:54.996" v="220" actId="1076"/>
          <ac:spMkLst>
            <pc:docMk/>
            <pc:sldMk cId="0" sldId="265"/>
            <ac:spMk id="9" creationId="{00000000-0000-0000-0000-000000000000}"/>
          </ac:spMkLst>
        </pc:spChg>
        <pc:spChg chg="mod">
          <ac:chgData name="sagar saini" userId="4a0dd003ca7c735e" providerId="LiveId" clId="{B6C4A830-7978-416E-A002-4A915BCC4B5C}" dt="2026-07-03T11:38:20.722" v="223" actId="14100"/>
          <ac:spMkLst>
            <pc:docMk/>
            <pc:sldMk cId="0" sldId="265"/>
            <ac:spMk id="23" creationId="{00000000-0000-0000-0000-000000000000}"/>
          </ac:spMkLst>
        </pc:spChg>
        <pc:spChg chg="mod">
          <ac:chgData name="sagar saini" userId="4a0dd003ca7c735e" providerId="LiveId" clId="{B6C4A830-7978-416E-A002-4A915BCC4B5C}" dt="2026-07-03T11:38:04.232" v="221" actId="14100"/>
          <ac:spMkLst>
            <pc:docMk/>
            <pc:sldMk cId="0" sldId="265"/>
            <ac:spMk id="27" creationId="{00000000-0000-0000-0000-000000000000}"/>
          </ac:spMkLst>
        </pc:spChg>
        <pc:spChg chg="mod">
          <ac:chgData name="sagar saini" userId="4a0dd003ca7c735e" providerId="LiveId" clId="{B6C4A830-7978-416E-A002-4A915BCC4B5C}" dt="2026-07-03T11:38:12.461" v="222" actId="14100"/>
          <ac:spMkLst>
            <pc:docMk/>
            <pc:sldMk cId="0" sldId="265"/>
            <ac:spMk id="31" creationId="{00000000-0000-0000-0000-000000000000}"/>
          </ac:spMkLst>
        </pc:spChg>
      </pc:sldChg>
      <pc:sldChg chg="modSp mod">
        <pc:chgData name="sagar saini" userId="4a0dd003ca7c735e" providerId="LiveId" clId="{B6C4A830-7978-416E-A002-4A915BCC4B5C}" dt="2026-07-03T11:39:19.070" v="228" actId="14100"/>
        <pc:sldMkLst>
          <pc:docMk/>
          <pc:sldMk cId="0" sldId="266"/>
        </pc:sldMkLst>
        <pc:spChg chg="mod">
          <ac:chgData name="sagar saini" userId="4a0dd003ca7c735e" providerId="LiveId" clId="{B6C4A830-7978-416E-A002-4A915BCC4B5C}" dt="2026-07-03T11:38:54.168" v="225" actId="1076"/>
          <ac:spMkLst>
            <pc:docMk/>
            <pc:sldMk cId="0" sldId="266"/>
            <ac:spMk id="3" creationId="{00000000-0000-0000-0000-000000000000}"/>
          </ac:spMkLst>
        </pc:spChg>
        <pc:spChg chg="mod">
          <ac:chgData name="sagar saini" userId="4a0dd003ca7c735e" providerId="LiveId" clId="{B6C4A830-7978-416E-A002-4A915BCC4B5C}" dt="2026-07-03T11:38:58.925" v="226" actId="1076"/>
          <ac:spMkLst>
            <pc:docMk/>
            <pc:sldMk cId="0" sldId="266"/>
            <ac:spMk id="5" creationId="{00000000-0000-0000-0000-000000000000}"/>
          </ac:spMkLst>
        </pc:spChg>
        <pc:spChg chg="mod">
          <ac:chgData name="sagar saini" userId="4a0dd003ca7c735e" providerId="LiveId" clId="{B6C4A830-7978-416E-A002-4A915BCC4B5C}" dt="2026-07-03T11:39:05.662" v="227" actId="1076"/>
          <ac:spMkLst>
            <pc:docMk/>
            <pc:sldMk cId="0" sldId="266"/>
            <ac:spMk id="6" creationId="{00000000-0000-0000-0000-000000000000}"/>
          </ac:spMkLst>
        </pc:spChg>
        <pc:spChg chg="mod">
          <ac:chgData name="sagar saini" userId="4a0dd003ca7c735e" providerId="LiveId" clId="{B6C4A830-7978-416E-A002-4A915BCC4B5C}" dt="2026-07-03T11:39:19.070" v="228" actId="14100"/>
          <ac:spMkLst>
            <pc:docMk/>
            <pc:sldMk cId="0" sldId="266"/>
            <ac:spMk id="29" creationId="{00000000-0000-0000-0000-000000000000}"/>
          </ac:spMkLst>
        </pc:spChg>
      </pc:sldChg>
      <pc:sldChg chg="modSp mod">
        <pc:chgData name="sagar saini" userId="4a0dd003ca7c735e" providerId="LiveId" clId="{B6C4A830-7978-416E-A002-4A915BCC4B5C}" dt="2026-07-03T11:43:46.938" v="263" actId="20577"/>
        <pc:sldMkLst>
          <pc:docMk/>
          <pc:sldMk cId="0" sldId="267"/>
        </pc:sldMkLst>
        <pc:spChg chg="mod">
          <ac:chgData name="sagar saini" userId="4a0dd003ca7c735e" providerId="LiveId" clId="{B6C4A830-7978-416E-A002-4A915BCC4B5C}" dt="2026-07-03T11:40:02.682" v="231" actId="1076"/>
          <ac:spMkLst>
            <pc:docMk/>
            <pc:sldMk cId="0" sldId="267"/>
            <ac:spMk id="3" creationId="{00000000-0000-0000-0000-000000000000}"/>
          </ac:spMkLst>
        </pc:spChg>
        <pc:spChg chg="mod">
          <ac:chgData name="sagar saini" userId="4a0dd003ca7c735e" providerId="LiveId" clId="{B6C4A830-7978-416E-A002-4A915BCC4B5C}" dt="2026-07-03T11:42:39.683" v="257" actId="14100"/>
          <ac:spMkLst>
            <pc:docMk/>
            <pc:sldMk cId="0" sldId="267"/>
            <ac:spMk id="11" creationId="{00000000-0000-0000-0000-000000000000}"/>
          </ac:spMkLst>
        </pc:spChg>
        <pc:spChg chg="mod">
          <ac:chgData name="sagar saini" userId="4a0dd003ca7c735e" providerId="LiveId" clId="{B6C4A830-7978-416E-A002-4A915BCC4B5C}" dt="2026-07-03T11:43:46.938" v="263" actId="20577"/>
          <ac:spMkLst>
            <pc:docMk/>
            <pc:sldMk cId="0" sldId="267"/>
            <ac:spMk id="14" creationId="{00000000-0000-0000-0000-000000000000}"/>
          </ac:spMkLst>
        </pc:spChg>
        <pc:spChg chg="mod">
          <ac:chgData name="sagar saini" userId="4a0dd003ca7c735e" providerId="LiveId" clId="{B6C4A830-7978-416E-A002-4A915BCC4B5C}" dt="2026-07-03T11:42:33.402" v="256" actId="14100"/>
          <ac:spMkLst>
            <pc:docMk/>
            <pc:sldMk cId="0" sldId="267"/>
            <ac:spMk id="16" creationId="{00000000-0000-0000-0000-000000000000}"/>
          </ac:spMkLst>
        </pc:spChg>
        <pc:spChg chg="mod">
          <ac:chgData name="sagar saini" userId="4a0dd003ca7c735e" providerId="LiveId" clId="{B6C4A830-7978-416E-A002-4A915BCC4B5C}" dt="2026-07-03T11:43:19.339" v="260" actId="1076"/>
          <ac:spMkLst>
            <pc:docMk/>
            <pc:sldMk cId="0" sldId="267"/>
            <ac:spMk id="19" creationId="{00000000-0000-0000-0000-000000000000}"/>
          </ac:spMkLst>
        </pc:spChg>
        <pc:spChg chg="mod">
          <ac:chgData name="sagar saini" userId="4a0dd003ca7c735e" providerId="LiveId" clId="{B6C4A830-7978-416E-A002-4A915BCC4B5C}" dt="2026-07-03T11:42:28.102" v="255" actId="14100"/>
          <ac:spMkLst>
            <pc:docMk/>
            <pc:sldMk cId="0" sldId="267"/>
            <ac:spMk id="21" creationId="{00000000-0000-0000-0000-000000000000}"/>
          </ac:spMkLst>
        </pc:spChg>
        <pc:spChg chg="mod">
          <ac:chgData name="sagar saini" userId="4a0dd003ca7c735e" providerId="LiveId" clId="{B6C4A830-7978-416E-A002-4A915BCC4B5C}" dt="2026-07-03T11:40:24.340" v="232" actId="1076"/>
          <ac:spMkLst>
            <pc:docMk/>
            <pc:sldMk cId="0" sldId="267"/>
            <ac:spMk id="25" creationId="{00000000-0000-0000-0000-000000000000}"/>
          </ac:spMkLst>
        </pc:spChg>
        <pc:spChg chg="mod">
          <ac:chgData name="sagar saini" userId="4a0dd003ca7c735e" providerId="LiveId" clId="{B6C4A830-7978-416E-A002-4A915BCC4B5C}" dt="2026-07-03T11:41:01.169" v="239" actId="1076"/>
          <ac:spMkLst>
            <pc:docMk/>
            <pc:sldMk cId="0" sldId="267"/>
            <ac:spMk id="27" creationId="{00000000-0000-0000-0000-000000000000}"/>
          </ac:spMkLst>
        </pc:spChg>
        <pc:spChg chg="mod">
          <ac:chgData name="sagar saini" userId="4a0dd003ca7c735e" providerId="LiveId" clId="{B6C4A830-7978-416E-A002-4A915BCC4B5C}" dt="2026-07-03T11:41:23.385" v="243" actId="1076"/>
          <ac:spMkLst>
            <pc:docMk/>
            <pc:sldMk cId="0" sldId="267"/>
            <ac:spMk id="29" creationId="{00000000-0000-0000-0000-000000000000}"/>
          </ac:spMkLst>
        </pc:spChg>
        <pc:spChg chg="mod">
          <ac:chgData name="sagar saini" userId="4a0dd003ca7c735e" providerId="LiveId" clId="{B6C4A830-7978-416E-A002-4A915BCC4B5C}" dt="2026-07-03T11:41:34.602" v="245" actId="1076"/>
          <ac:spMkLst>
            <pc:docMk/>
            <pc:sldMk cId="0" sldId="267"/>
            <ac:spMk id="31" creationId="{00000000-0000-0000-0000-000000000000}"/>
          </ac:spMkLst>
        </pc:spChg>
        <pc:spChg chg="mod">
          <ac:chgData name="sagar saini" userId="4a0dd003ca7c735e" providerId="LiveId" clId="{B6C4A830-7978-416E-A002-4A915BCC4B5C}" dt="2026-07-03T11:41:44.766" v="247" actId="1076"/>
          <ac:spMkLst>
            <pc:docMk/>
            <pc:sldMk cId="0" sldId="267"/>
            <ac:spMk id="33" creationId="{00000000-0000-0000-0000-000000000000}"/>
          </ac:spMkLst>
        </pc:spChg>
        <pc:spChg chg="mod">
          <ac:chgData name="sagar saini" userId="4a0dd003ca7c735e" providerId="LiveId" clId="{B6C4A830-7978-416E-A002-4A915BCC4B5C}" dt="2026-07-03T11:41:58.903" v="250" actId="1076"/>
          <ac:spMkLst>
            <pc:docMk/>
            <pc:sldMk cId="0" sldId="267"/>
            <ac:spMk id="35" creationId="{00000000-0000-0000-0000-000000000000}"/>
          </ac:spMkLst>
        </pc:spChg>
        <pc:spChg chg="mod">
          <ac:chgData name="sagar saini" userId="4a0dd003ca7c735e" providerId="LiveId" clId="{B6C4A830-7978-416E-A002-4A915BCC4B5C}" dt="2026-07-03T11:42:15.402" v="254" actId="1076"/>
          <ac:spMkLst>
            <pc:docMk/>
            <pc:sldMk cId="0" sldId="267"/>
            <ac:spMk id="37" creationId="{00000000-0000-0000-0000-000000000000}"/>
          </ac:spMkLst>
        </pc:spChg>
        <pc:spChg chg="mod">
          <ac:chgData name="sagar saini" userId="4a0dd003ca7c735e" providerId="LiveId" clId="{B6C4A830-7978-416E-A002-4A915BCC4B5C}" dt="2026-07-03T11:42:49.815" v="258" actId="14100"/>
          <ac:spMkLst>
            <pc:docMk/>
            <pc:sldMk cId="0" sldId="267"/>
            <ac:spMk id="42" creationId="{00000000-0000-0000-0000-000000000000}"/>
          </ac:spMkLst>
        </pc:spChg>
        <pc:cxnChg chg="mod">
          <ac:chgData name="sagar saini" userId="4a0dd003ca7c735e" providerId="LiveId" clId="{B6C4A830-7978-416E-A002-4A915BCC4B5C}" dt="2026-07-03T11:40:32.852" v="234" actId="1076"/>
          <ac:cxnSpMkLst>
            <pc:docMk/>
            <pc:sldMk cId="0" sldId="267"/>
            <ac:cxnSpMk id="26" creationId="{00000000-0000-0000-0000-000000000000}"/>
          </ac:cxnSpMkLst>
        </pc:cxnChg>
        <pc:cxnChg chg="mod">
          <ac:chgData name="sagar saini" userId="4a0dd003ca7c735e" providerId="LiveId" clId="{B6C4A830-7978-416E-A002-4A915BCC4B5C}" dt="2026-07-03T11:41:18.652" v="242" actId="1076"/>
          <ac:cxnSpMkLst>
            <pc:docMk/>
            <pc:sldMk cId="0" sldId="267"/>
            <ac:cxnSpMk id="28" creationId="{00000000-0000-0000-0000-000000000000}"/>
          </ac:cxnSpMkLst>
        </pc:cxnChg>
        <pc:cxnChg chg="mod">
          <ac:chgData name="sagar saini" userId="4a0dd003ca7c735e" providerId="LiveId" clId="{B6C4A830-7978-416E-A002-4A915BCC4B5C}" dt="2026-07-03T11:41:29.198" v="244" actId="1076"/>
          <ac:cxnSpMkLst>
            <pc:docMk/>
            <pc:sldMk cId="0" sldId="267"/>
            <ac:cxnSpMk id="30" creationId="{00000000-0000-0000-0000-000000000000}"/>
          </ac:cxnSpMkLst>
        </pc:cxnChg>
        <pc:cxnChg chg="mod">
          <ac:chgData name="sagar saini" userId="4a0dd003ca7c735e" providerId="LiveId" clId="{B6C4A830-7978-416E-A002-4A915BCC4B5C}" dt="2026-07-03T11:41:39.369" v="246" actId="1076"/>
          <ac:cxnSpMkLst>
            <pc:docMk/>
            <pc:sldMk cId="0" sldId="267"/>
            <ac:cxnSpMk id="32" creationId="{00000000-0000-0000-0000-000000000000}"/>
          </ac:cxnSpMkLst>
        </pc:cxnChg>
        <pc:cxnChg chg="mod">
          <ac:chgData name="sagar saini" userId="4a0dd003ca7c735e" providerId="LiveId" clId="{B6C4A830-7978-416E-A002-4A915BCC4B5C}" dt="2026-07-03T11:41:54.714" v="249" actId="1076"/>
          <ac:cxnSpMkLst>
            <pc:docMk/>
            <pc:sldMk cId="0" sldId="267"/>
            <ac:cxnSpMk id="34" creationId="{00000000-0000-0000-0000-000000000000}"/>
          </ac:cxnSpMkLst>
        </pc:cxnChg>
        <pc:cxnChg chg="mod">
          <ac:chgData name="sagar saini" userId="4a0dd003ca7c735e" providerId="LiveId" clId="{B6C4A830-7978-416E-A002-4A915BCC4B5C}" dt="2026-07-03T11:42:05.525" v="252" actId="1076"/>
          <ac:cxnSpMkLst>
            <pc:docMk/>
            <pc:sldMk cId="0" sldId="267"/>
            <ac:cxnSpMk id="36" creationId="{00000000-0000-0000-0000-000000000000}"/>
          </ac:cxnSpMkLst>
        </pc:cxnChg>
      </pc:sldChg>
      <pc:sldChg chg="modSp mod">
        <pc:chgData name="sagar saini" userId="4a0dd003ca7c735e" providerId="LiveId" clId="{B6C4A830-7978-416E-A002-4A915BCC4B5C}" dt="2026-07-03T11:44:28.796" v="266" actId="1076"/>
        <pc:sldMkLst>
          <pc:docMk/>
          <pc:sldMk cId="0" sldId="268"/>
        </pc:sldMkLst>
        <pc:spChg chg="mod">
          <ac:chgData name="sagar saini" userId="4a0dd003ca7c735e" providerId="LiveId" clId="{B6C4A830-7978-416E-A002-4A915BCC4B5C}" dt="2026-07-03T11:44:20.120" v="265" actId="1076"/>
          <ac:spMkLst>
            <pc:docMk/>
            <pc:sldMk cId="0" sldId="268"/>
            <ac:spMk id="3" creationId="{00000000-0000-0000-0000-000000000000}"/>
          </ac:spMkLst>
        </pc:spChg>
        <pc:spChg chg="mod">
          <ac:chgData name="sagar saini" userId="4a0dd003ca7c735e" providerId="LiveId" clId="{B6C4A830-7978-416E-A002-4A915BCC4B5C}" dt="2026-07-03T11:44:28.796" v="266" actId="1076"/>
          <ac:spMkLst>
            <pc:docMk/>
            <pc:sldMk cId="0" sldId="268"/>
            <ac:spMk id="5" creationId="{00000000-0000-0000-0000-000000000000}"/>
          </ac:spMkLst>
        </pc:spChg>
      </pc:sldChg>
      <pc:sldChg chg="modSp mod">
        <pc:chgData name="sagar saini" userId="4a0dd003ca7c735e" providerId="LiveId" clId="{B6C4A830-7978-416E-A002-4A915BCC4B5C}" dt="2026-07-03T11:50:59.233" v="312" actId="1076"/>
        <pc:sldMkLst>
          <pc:docMk/>
          <pc:sldMk cId="0" sldId="269"/>
        </pc:sldMkLst>
        <pc:spChg chg="mod">
          <ac:chgData name="sagar saini" userId="4a0dd003ca7c735e" providerId="LiveId" clId="{B6C4A830-7978-416E-A002-4A915BCC4B5C}" dt="2026-07-03T11:44:58.330" v="268" actId="1076"/>
          <ac:spMkLst>
            <pc:docMk/>
            <pc:sldMk cId="0" sldId="269"/>
            <ac:spMk id="3" creationId="{00000000-0000-0000-0000-000000000000}"/>
          </ac:spMkLst>
        </pc:spChg>
        <pc:spChg chg="mod">
          <ac:chgData name="sagar saini" userId="4a0dd003ca7c735e" providerId="LiveId" clId="{B6C4A830-7978-416E-A002-4A915BCC4B5C}" dt="2026-07-03T11:46:00.568" v="269" actId="1076"/>
          <ac:spMkLst>
            <pc:docMk/>
            <pc:sldMk cId="0" sldId="269"/>
            <ac:spMk id="5" creationId="{00000000-0000-0000-0000-000000000000}"/>
          </ac:spMkLst>
        </pc:spChg>
        <pc:spChg chg="mod">
          <ac:chgData name="sagar saini" userId="4a0dd003ca7c735e" providerId="LiveId" clId="{B6C4A830-7978-416E-A002-4A915BCC4B5C}" dt="2026-07-03T11:49:08.881" v="294" actId="1076"/>
          <ac:spMkLst>
            <pc:docMk/>
            <pc:sldMk cId="0" sldId="269"/>
            <ac:spMk id="10" creationId="{00000000-0000-0000-0000-000000000000}"/>
          </ac:spMkLst>
        </pc:spChg>
        <pc:spChg chg="mod">
          <ac:chgData name="sagar saini" userId="4a0dd003ca7c735e" providerId="LiveId" clId="{B6C4A830-7978-416E-A002-4A915BCC4B5C}" dt="2026-07-03T11:50:55.363" v="311" actId="14100"/>
          <ac:spMkLst>
            <pc:docMk/>
            <pc:sldMk cId="0" sldId="269"/>
            <ac:spMk id="11" creationId="{00000000-0000-0000-0000-000000000000}"/>
          </ac:spMkLst>
        </pc:spChg>
        <pc:spChg chg="mod">
          <ac:chgData name="sagar saini" userId="4a0dd003ca7c735e" providerId="LiveId" clId="{B6C4A830-7978-416E-A002-4A915BCC4B5C}" dt="2026-07-03T11:50:59.233" v="312" actId="1076"/>
          <ac:spMkLst>
            <pc:docMk/>
            <pc:sldMk cId="0" sldId="269"/>
            <ac:spMk id="12" creationId="{00000000-0000-0000-0000-000000000000}"/>
          </ac:spMkLst>
        </pc:spChg>
        <pc:spChg chg="mod">
          <ac:chgData name="sagar saini" userId="4a0dd003ca7c735e" providerId="LiveId" clId="{B6C4A830-7978-416E-A002-4A915BCC4B5C}" dt="2026-07-03T11:49:42.907" v="300" actId="1076"/>
          <ac:spMkLst>
            <pc:docMk/>
            <pc:sldMk cId="0" sldId="269"/>
            <ac:spMk id="13" creationId="{00000000-0000-0000-0000-000000000000}"/>
          </ac:spMkLst>
        </pc:spChg>
        <pc:spChg chg="mod">
          <ac:chgData name="sagar saini" userId="4a0dd003ca7c735e" providerId="LiveId" clId="{B6C4A830-7978-416E-A002-4A915BCC4B5C}" dt="2026-07-03T11:49:51.068" v="301" actId="1076"/>
          <ac:spMkLst>
            <pc:docMk/>
            <pc:sldMk cId="0" sldId="269"/>
            <ac:spMk id="14" creationId="{00000000-0000-0000-0000-000000000000}"/>
          </ac:spMkLst>
        </pc:spChg>
        <pc:spChg chg="mod">
          <ac:chgData name="sagar saini" userId="4a0dd003ca7c735e" providerId="LiveId" clId="{B6C4A830-7978-416E-A002-4A915BCC4B5C}" dt="2026-07-03T11:50:01.056" v="303" actId="14100"/>
          <ac:spMkLst>
            <pc:docMk/>
            <pc:sldMk cId="0" sldId="269"/>
            <ac:spMk id="15" creationId="{00000000-0000-0000-0000-000000000000}"/>
          </ac:spMkLst>
        </pc:spChg>
        <pc:spChg chg="mod">
          <ac:chgData name="sagar saini" userId="4a0dd003ca7c735e" providerId="LiveId" clId="{B6C4A830-7978-416E-A002-4A915BCC4B5C}" dt="2026-07-03T11:50:41.793" v="309" actId="1076"/>
          <ac:spMkLst>
            <pc:docMk/>
            <pc:sldMk cId="0" sldId="269"/>
            <ac:spMk id="16" creationId="{00000000-0000-0000-0000-000000000000}"/>
          </ac:spMkLst>
        </pc:spChg>
        <pc:spChg chg="mod">
          <ac:chgData name="sagar saini" userId="4a0dd003ca7c735e" providerId="LiveId" clId="{B6C4A830-7978-416E-A002-4A915BCC4B5C}" dt="2026-07-03T11:50:11.925" v="304" actId="1076"/>
          <ac:spMkLst>
            <pc:docMk/>
            <pc:sldMk cId="0" sldId="269"/>
            <ac:spMk id="17" creationId="{00000000-0000-0000-0000-000000000000}"/>
          </ac:spMkLst>
        </pc:spChg>
        <pc:spChg chg="mod">
          <ac:chgData name="sagar saini" userId="4a0dd003ca7c735e" providerId="LiveId" clId="{B6C4A830-7978-416E-A002-4A915BCC4B5C}" dt="2026-07-03T11:50:16.759" v="305" actId="1076"/>
          <ac:spMkLst>
            <pc:docMk/>
            <pc:sldMk cId="0" sldId="269"/>
            <ac:spMk id="18" creationId="{00000000-0000-0000-0000-000000000000}"/>
          </ac:spMkLst>
        </pc:spChg>
        <pc:spChg chg="mod">
          <ac:chgData name="sagar saini" userId="4a0dd003ca7c735e" providerId="LiveId" clId="{B6C4A830-7978-416E-A002-4A915BCC4B5C}" dt="2026-07-03T11:50:23.137" v="306" actId="14100"/>
          <ac:spMkLst>
            <pc:docMk/>
            <pc:sldMk cId="0" sldId="269"/>
            <ac:spMk id="19" creationId="{00000000-0000-0000-0000-000000000000}"/>
          </ac:spMkLst>
        </pc:spChg>
        <pc:spChg chg="mod">
          <ac:chgData name="sagar saini" userId="4a0dd003ca7c735e" providerId="LiveId" clId="{B6C4A830-7978-416E-A002-4A915BCC4B5C}" dt="2026-07-03T11:48:57.486" v="293" actId="1076"/>
          <ac:spMkLst>
            <pc:docMk/>
            <pc:sldMk cId="0" sldId="269"/>
            <ac:spMk id="20" creationId="{00000000-0000-0000-0000-000000000000}"/>
          </ac:spMkLst>
        </pc:spChg>
        <pc:spChg chg="mod">
          <ac:chgData name="sagar saini" userId="4a0dd003ca7c735e" providerId="LiveId" clId="{B6C4A830-7978-416E-A002-4A915BCC4B5C}" dt="2026-07-03T11:50:30.082" v="307" actId="14100"/>
          <ac:spMkLst>
            <pc:docMk/>
            <pc:sldMk cId="0" sldId="269"/>
            <ac:spMk id="23" creationId="{00000000-0000-0000-0000-000000000000}"/>
          </ac:spMkLst>
        </pc:spChg>
        <pc:spChg chg="mod">
          <ac:chgData name="sagar saini" userId="4a0dd003ca7c735e" providerId="LiveId" clId="{B6C4A830-7978-416E-A002-4A915BCC4B5C}" dt="2026-07-03T11:48:40.254" v="290" actId="1076"/>
          <ac:spMkLst>
            <pc:docMk/>
            <pc:sldMk cId="0" sldId="269"/>
            <ac:spMk id="24" creationId="{00000000-0000-0000-0000-000000000000}"/>
          </ac:spMkLst>
        </pc:spChg>
        <pc:spChg chg="mod">
          <ac:chgData name="sagar saini" userId="4a0dd003ca7c735e" providerId="LiveId" clId="{B6C4A830-7978-416E-A002-4A915BCC4B5C}" dt="2026-07-03T11:48:34.989" v="289" actId="1076"/>
          <ac:spMkLst>
            <pc:docMk/>
            <pc:sldMk cId="0" sldId="269"/>
            <ac:spMk id="25" creationId="{00000000-0000-0000-0000-000000000000}"/>
          </ac:spMkLst>
        </pc:spChg>
        <pc:spChg chg="mod">
          <ac:chgData name="sagar saini" userId="4a0dd003ca7c735e" providerId="LiveId" clId="{B6C4A830-7978-416E-A002-4A915BCC4B5C}" dt="2026-07-03T11:50:33.714" v="308" actId="14100"/>
          <ac:spMkLst>
            <pc:docMk/>
            <pc:sldMk cId="0" sldId="269"/>
            <ac:spMk id="27" creationId="{00000000-0000-0000-0000-000000000000}"/>
          </ac:spMkLst>
        </pc:spChg>
        <pc:spChg chg="mod">
          <ac:chgData name="sagar saini" userId="4a0dd003ca7c735e" providerId="LiveId" clId="{B6C4A830-7978-416E-A002-4A915BCC4B5C}" dt="2026-07-03T11:48:05.570" v="286" actId="1076"/>
          <ac:spMkLst>
            <pc:docMk/>
            <pc:sldMk cId="0" sldId="269"/>
            <ac:spMk id="28" creationId="{00000000-0000-0000-0000-000000000000}"/>
          </ac:spMkLst>
        </pc:spChg>
        <pc:spChg chg="mod">
          <ac:chgData name="sagar saini" userId="4a0dd003ca7c735e" providerId="LiveId" clId="{B6C4A830-7978-416E-A002-4A915BCC4B5C}" dt="2026-07-03T11:47:43.648" v="283" actId="1076"/>
          <ac:spMkLst>
            <pc:docMk/>
            <pc:sldMk cId="0" sldId="269"/>
            <ac:spMk id="29" creationId="{00000000-0000-0000-0000-000000000000}"/>
          </ac:spMkLst>
        </pc:spChg>
        <pc:spChg chg="mod">
          <ac:chgData name="sagar saini" userId="4a0dd003ca7c735e" providerId="LiveId" clId="{B6C4A830-7978-416E-A002-4A915BCC4B5C}" dt="2026-07-03T11:47:36.897" v="282" actId="1076"/>
          <ac:spMkLst>
            <pc:docMk/>
            <pc:sldMk cId="0" sldId="269"/>
            <ac:spMk id="30" creationId="{00000000-0000-0000-0000-000000000000}"/>
          </ac:spMkLst>
        </pc:spChg>
        <pc:spChg chg="mod">
          <ac:chgData name="sagar saini" userId="4a0dd003ca7c735e" providerId="LiveId" clId="{B6C4A830-7978-416E-A002-4A915BCC4B5C}" dt="2026-07-03T11:47:09.331" v="279" actId="14100"/>
          <ac:spMkLst>
            <pc:docMk/>
            <pc:sldMk cId="0" sldId="269"/>
            <ac:spMk id="43" creationId="{00000000-0000-0000-0000-000000000000}"/>
          </ac:spMkLst>
        </pc:spChg>
        <pc:spChg chg="mod">
          <ac:chgData name="sagar saini" userId="4a0dd003ca7c735e" providerId="LiveId" clId="{B6C4A830-7978-416E-A002-4A915BCC4B5C}" dt="2026-07-03T11:47:16.584" v="280" actId="14100"/>
          <ac:spMkLst>
            <pc:docMk/>
            <pc:sldMk cId="0" sldId="269"/>
            <ac:spMk id="44" creationId="{00000000-0000-0000-0000-000000000000}"/>
          </ac:spMkLst>
        </pc:spChg>
        <pc:spChg chg="mod">
          <ac:chgData name="sagar saini" userId="4a0dd003ca7c735e" providerId="LiveId" clId="{B6C4A830-7978-416E-A002-4A915BCC4B5C}" dt="2026-07-03T11:46:08.232" v="270" actId="1076"/>
          <ac:spMkLst>
            <pc:docMk/>
            <pc:sldMk cId="0" sldId="269"/>
            <ac:spMk id="45" creationId="{00000000-0000-0000-0000-000000000000}"/>
          </ac:spMkLst>
        </pc:spChg>
        <pc:spChg chg="mod">
          <ac:chgData name="sagar saini" userId="4a0dd003ca7c735e" providerId="LiveId" clId="{B6C4A830-7978-416E-A002-4A915BCC4B5C}" dt="2026-07-03T11:46:28.662" v="273" actId="1076"/>
          <ac:spMkLst>
            <pc:docMk/>
            <pc:sldMk cId="0" sldId="269"/>
            <ac:spMk id="46" creationId="{00000000-0000-0000-0000-000000000000}"/>
          </ac:spMkLst>
        </pc:spChg>
        <pc:spChg chg="mod">
          <ac:chgData name="sagar saini" userId="4a0dd003ca7c735e" providerId="LiveId" clId="{B6C4A830-7978-416E-A002-4A915BCC4B5C}" dt="2026-07-03T11:46:53.782" v="276" actId="1076"/>
          <ac:spMkLst>
            <pc:docMk/>
            <pc:sldMk cId="0" sldId="269"/>
            <ac:spMk id="47" creationId="{00000000-0000-0000-0000-000000000000}"/>
          </ac:spMkLst>
        </pc:spChg>
        <pc:spChg chg="mod">
          <ac:chgData name="sagar saini" userId="4a0dd003ca7c735e" providerId="LiveId" clId="{B6C4A830-7978-416E-A002-4A915BCC4B5C}" dt="2026-07-03T11:47:01.957" v="277" actId="1076"/>
          <ac:spMkLst>
            <pc:docMk/>
            <pc:sldMk cId="0" sldId="269"/>
            <ac:spMk id="48" creationId="{00000000-0000-0000-0000-000000000000}"/>
          </ac:spMkLst>
        </pc:spChg>
        <pc:spChg chg="mod">
          <ac:chgData name="sagar saini" userId="4a0dd003ca7c735e" providerId="LiveId" clId="{B6C4A830-7978-416E-A002-4A915BCC4B5C}" dt="2026-07-03T11:46:48.222" v="275" actId="1076"/>
          <ac:spMkLst>
            <pc:docMk/>
            <pc:sldMk cId="0" sldId="269"/>
            <ac:spMk id="49" creationId="{00000000-0000-0000-0000-000000000000}"/>
          </ac:spMkLst>
        </pc:spChg>
      </pc:sldChg>
      <pc:sldChg chg="modSp mod">
        <pc:chgData name="sagar saini" userId="4a0dd003ca7c735e" providerId="LiveId" clId="{B6C4A830-7978-416E-A002-4A915BCC4B5C}" dt="2026-07-03T11:51:39.719" v="315" actId="1076"/>
        <pc:sldMkLst>
          <pc:docMk/>
          <pc:sldMk cId="0" sldId="270"/>
        </pc:sldMkLst>
        <pc:spChg chg="mod">
          <ac:chgData name="sagar saini" userId="4a0dd003ca7c735e" providerId="LiveId" clId="{B6C4A830-7978-416E-A002-4A915BCC4B5C}" dt="2026-07-03T11:51:27.746" v="314" actId="1076"/>
          <ac:spMkLst>
            <pc:docMk/>
            <pc:sldMk cId="0" sldId="270"/>
            <ac:spMk id="3" creationId="{00000000-0000-0000-0000-000000000000}"/>
          </ac:spMkLst>
        </pc:spChg>
        <pc:spChg chg="mod">
          <ac:chgData name="sagar saini" userId="4a0dd003ca7c735e" providerId="LiveId" clId="{B6C4A830-7978-416E-A002-4A915BCC4B5C}" dt="2026-07-03T11:51:39.719" v="315" actId="1076"/>
          <ac:spMkLst>
            <pc:docMk/>
            <pc:sldMk cId="0" sldId="270"/>
            <ac:spMk id="5" creationId="{00000000-0000-0000-0000-000000000000}"/>
          </ac:spMkLst>
        </pc:spChg>
      </pc:sldChg>
      <pc:sldChg chg="modSp mod">
        <pc:chgData name="sagar saini" userId="4a0dd003ca7c735e" providerId="LiveId" clId="{B6C4A830-7978-416E-A002-4A915BCC4B5C}" dt="2026-07-03T11:52:11.519" v="319" actId="1076"/>
        <pc:sldMkLst>
          <pc:docMk/>
          <pc:sldMk cId="0" sldId="271"/>
        </pc:sldMkLst>
        <pc:spChg chg="mod">
          <ac:chgData name="sagar saini" userId="4a0dd003ca7c735e" providerId="LiveId" clId="{B6C4A830-7978-416E-A002-4A915BCC4B5C}" dt="2026-07-03T11:52:06.745" v="318" actId="1076"/>
          <ac:spMkLst>
            <pc:docMk/>
            <pc:sldMk cId="0" sldId="271"/>
            <ac:spMk id="3" creationId="{00000000-0000-0000-0000-000000000000}"/>
          </ac:spMkLst>
        </pc:spChg>
        <pc:spChg chg="mod">
          <ac:chgData name="sagar saini" userId="4a0dd003ca7c735e" providerId="LiveId" clId="{B6C4A830-7978-416E-A002-4A915BCC4B5C}" dt="2026-07-03T11:52:11.519" v="319" actId="1076"/>
          <ac:spMkLst>
            <pc:docMk/>
            <pc:sldMk cId="0" sldId="271"/>
            <ac:spMk id="5" creationId="{00000000-0000-0000-0000-000000000000}"/>
          </ac:spMkLst>
        </pc:spChg>
      </pc:sldChg>
      <pc:sldChg chg="modSp mod">
        <pc:chgData name="sagar saini" userId="4a0dd003ca7c735e" providerId="LiveId" clId="{B6C4A830-7978-416E-A002-4A915BCC4B5C}" dt="2026-07-03T11:53:12.356" v="326" actId="14100"/>
        <pc:sldMkLst>
          <pc:docMk/>
          <pc:sldMk cId="0" sldId="272"/>
        </pc:sldMkLst>
        <pc:spChg chg="mod">
          <ac:chgData name="sagar saini" userId="4a0dd003ca7c735e" providerId="LiveId" clId="{B6C4A830-7978-416E-A002-4A915BCC4B5C}" dt="2026-07-03T11:52:36.115" v="322" actId="1076"/>
          <ac:spMkLst>
            <pc:docMk/>
            <pc:sldMk cId="0" sldId="272"/>
            <ac:spMk id="3" creationId="{00000000-0000-0000-0000-000000000000}"/>
          </ac:spMkLst>
        </pc:spChg>
        <pc:spChg chg="mod">
          <ac:chgData name="sagar saini" userId="4a0dd003ca7c735e" providerId="LiveId" clId="{B6C4A830-7978-416E-A002-4A915BCC4B5C}" dt="2026-07-03T11:52:54.340" v="323" actId="1076"/>
          <ac:spMkLst>
            <pc:docMk/>
            <pc:sldMk cId="0" sldId="272"/>
            <ac:spMk id="5" creationId="{00000000-0000-0000-0000-000000000000}"/>
          </ac:spMkLst>
        </pc:spChg>
        <pc:spChg chg="mod">
          <ac:chgData name="sagar saini" userId="4a0dd003ca7c735e" providerId="LiveId" clId="{B6C4A830-7978-416E-A002-4A915BCC4B5C}" dt="2026-07-03T11:53:05.413" v="325" actId="14100"/>
          <ac:spMkLst>
            <pc:docMk/>
            <pc:sldMk cId="0" sldId="272"/>
            <ac:spMk id="11" creationId="{00000000-0000-0000-0000-000000000000}"/>
          </ac:spMkLst>
        </pc:spChg>
        <pc:spChg chg="mod">
          <ac:chgData name="sagar saini" userId="4a0dd003ca7c735e" providerId="LiveId" clId="{B6C4A830-7978-416E-A002-4A915BCC4B5C}" dt="2026-07-03T11:53:00.047" v="324" actId="14100"/>
          <ac:spMkLst>
            <pc:docMk/>
            <pc:sldMk cId="0" sldId="272"/>
            <ac:spMk id="15" creationId="{00000000-0000-0000-0000-000000000000}"/>
          </ac:spMkLst>
        </pc:spChg>
        <pc:spChg chg="mod">
          <ac:chgData name="sagar saini" userId="4a0dd003ca7c735e" providerId="LiveId" clId="{B6C4A830-7978-416E-A002-4A915BCC4B5C}" dt="2026-07-03T11:53:12.356" v="326" actId="14100"/>
          <ac:spMkLst>
            <pc:docMk/>
            <pc:sldMk cId="0" sldId="272"/>
            <ac:spMk id="19" creationId="{00000000-0000-0000-0000-000000000000}"/>
          </ac:spMkLst>
        </pc:spChg>
      </pc:sldChg>
      <pc:sldChg chg="delSp modSp mod">
        <pc:chgData name="sagar saini" userId="4a0dd003ca7c735e" providerId="LiveId" clId="{B6C4A830-7978-416E-A002-4A915BCC4B5C}" dt="2026-07-03T11:54:55.069" v="338"/>
        <pc:sldMkLst>
          <pc:docMk/>
          <pc:sldMk cId="0" sldId="273"/>
        </pc:sldMkLst>
        <pc:spChg chg="mod">
          <ac:chgData name="sagar saini" userId="4a0dd003ca7c735e" providerId="LiveId" clId="{B6C4A830-7978-416E-A002-4A915BCC4B5C}" dt="2026-07-03T11:53:40.752" v="328" actId="255"/>
          <ac:spMkLst>
            <pc:docMk/>
            <pc:sldMk cId="0" sldId="273"/>
            <ac:spMk id="3" creationId="{00000000-0000-0000-0000-000000000000}"/>
          </ac:spMkLst>
        </pc:spChg>
        <pc:spChg chg="mod">
          <ac:chgData name="sagar saini" userId="4a0dd003ca7c735e" providerId="LiveId" clId="{B6C4A830-7978-416E-A002-4A915BCC4B5C}" dt="2026-07-03T11:53:29.720" v="327" actId="1076"/>
          <ac:spMkLst>
            <pc:docMk/>
            <pc:sldMk cId="0" sldId="273"/>
            <ac:spMk id="5" creationId="{00000000-0000-0000-0000-000000000000}"/>
          </ac:spMkLst>
        </pc:spChg>
        <pc:spChg chg="del mod">
          <ac:chgData name="sagar saini" userId="4a0dd003ca7c735e" providerId="LiveId" clId="{B6C4A830-7978-416E-A002-4A915BCC4B5C}" dt="2026-07-03T11:54:29.828" v="330" actId="21"/>
          <ac:spMkLst>
            <pc:docMk/>
            <pc:sldMk cId="0" sldId="273"/>
            <ac:spMk id="25" creationId="{00000000-0000-0000-0000-000000000000}"/>
          </ac:spMkLst>
        </pc:spChg>
        <pc:spChg chg="del">
          <ac:chgData name="sagar saini" userId="4a0dd003ca7c735e" providerId="LiveId" clId="{B6C4A830-7978-416E-A002-4A915BCC4B5C}" dt="2026-07-03T11:54:33.486" v="331" actId="21"/>
          <ac:spMkLst>
            <pc:docMk/>
            <pc:sldMk cId="0" sldId="273"/>
            <ac:spMk id="26" creationId="{00000000-0000-0000-0000-000000000000}"/>
          </ac:spMkLst>
        </pc:spChg>
        <pc:spChg chg="del mod">
          <ac:chgData name="sagar saini" userId="4a0dd003ca7c735e" providerId="LiveId" clId="{B6C4A830-7978-416E-A002-4A915BCC4B5C}" dt="2026-07-03T11:54:55.068" v="336"/>
          <ac:spMkLst>
            <pc:docMk/>
            <pc:sldMk cId="0" sldId="273"/>
            <ac:spMk id="27" creationId="{00000000-0000-0000-0000-000000000000}"/>
          </ac:spMkLst>
        </pc:spChg>
        <pc:spChg chg="del mod">
          <ac:chgData name="sagar saini" userId="4a0dd003ca7c735e" providerId="LiveId" clId="{B6C4A830-7978-416E-A002-4A915BCC4B5C}" dt="2026-07-03T11:54:55.069" v="338"/>
          <ac:spMkLst>
            <pc:docMk/>
            <pc:sldMk cId="0" sldId="273"/>
            <ac:spMk id="28" creationId="{00000000-0000-0000-0000-000000000000}"/>
          </ac:spMkLst>
        </pc:spChg>
      </pc:sldChg>
      <pc:sldChg chg="modSp mod">
        <pc:chgData name="sagar saini" userId="4a0dd003ca7c735e" providerId="LiveId" clId="{B6C4A830-7978-416E-A002-4A915BCC4B5C}" dt="2026-07-03T11:55:24.736" v="342" actId="1076"/>
        <pc:sldMkLst>
          <pc:docMk/>
          <pc:sldMk cId="0" sldId="275"/>
        </pc:sldMkLst>
        <pc:spChg chg="mod">
          <ac:chgData name="sagar saini" userId="4a0dd003ca7c735e" providerId="LiveId" clId="{B6C4A830-7978-416E-A002-4A915BCC4B5C}" dt="2026-07-03T11:55:14.099" v="340" actId="1076"/>
          <ac:spMkLst>
            <pc:docMk/>
            <pc:sldMk cId="0" sldId="275"/>
            <ac:spMk id="3" creationId="{00000000-0000-0000-0000-000000000000}"/>
          </ac:spMkLst>
        </pc:spChg>
        <pc:spChg chg="mod">
          <ac:chgData name="sagar saini" userId="4a0dd003ca7c735e" providerId="LiveId" clId="{B6C4A830-7978-416E-A002-4A915BCC4B5C}" dt="2026-07-03T11:55:19.495" v="341" actId="1076"/>
          <ac:spMkLst>
            <pc:docMk/>
            <pc:sldMk cId="0" sldId="275"/>
            <ac:spMk id="5" creationId="{00000000-0000-0000-0000-000000000000}"/>
          </ac:spMkLst>
        </pc:spChg>
        <pc:spChg chg="mod">
          <ac:chgData name="sagar saini" userId="4a0dd003ca7c735e" providerId="LiveId" clId="{B6C4A830-7978-416E-A002-4A915BCC4B5C}" dt="2026-07-03T11:55:24.736" v="342" actId="1076"/>
          <ac:spMkLst>
            <pc:docMk/>
            <pc:sldMk cId="0" sldId="275"/>
            <ac:spMk id="6" creationId="{00000000-0000-0000-0000-000000000000}"/>
          </ac:spMkLst>
        </pc:spChg>
      </pc:sldChg>
      <pc:sldChg chg="addSp delSp modSp mod">
        <pc:chgData name="sagar saini" userId="4a0dd003ca7c735e" providerId="LiveId" clId="{B6C4A830-7978-416E-A002-4A915BCC4B5C}" dt="2026-07-03T12:00:23.562" v="383" actId="1076"/>
        <pc:sldMkLst>
          <pc:docMk/>
          <pc:sldMk cId="0" sldId="276"/>
        </pc:sldMkLst>
        <pc:spChg chg="mod">
          <ac:chgData name="sagar saini" userId="4a0dd003ca7c735e" providerId="LiveId" clId="{B6C4A830-7978-416E-A002-4A915BCC4B5C}" dt="2026-07-03T12:00:23.562" v="383" actId="1076"/>
          <ac:spMkLst>
            <pc:docMk/>
            <pc:sldMk cId="0" sldId="276"/>
            <ac:spMk id="3" creationId="{00000000-0000-0000-0000-000000000000}"/>
          </ac:spMkLst>
        </pc:spChg>
        <pc:spChg chg="mod">
          <ac:chgData name="sagar saini" userId="4a0dd003ca7c735e" providerId="LiveId" clId="{B6C4A830-7978-416E-A002-4A915BCC4B5C}" dt="2026-07-03T11:56:36.073" v="353" actId="14100"/>
          <ac:spMkLst>
            <pc:docMk/>
            <pc:sldMk cId="0" sldId="276"/>
            <ac:spMk id="10" creationId="{00000000-0000-0000-0000-000000000000}"/>
          </ac:spMkLst>
        </pc:spChg>
        <pc:spChg chg="mod">
          <ac:chgData name="sagar saini" userId="4a0dd003ca7c735e" providerId="LiveId" clId="{B6C4A830-7978-416E-A002-4A915BCC4B5C}" dt="2026-07-03T11:58:00.844" v="365" actId="14100"/>
          <ac:spMkLst>
            <pc:docMk/>
            <pc:sldMk cId="0" sldId="276"/>
            <ac:spMk id="11" creationId="{00000000-0000-0000-0000-000000000000}"/>
          </ac:spMkLst>
        </pc:spChg>
        <pc:spChg chg="mod">
          <ac:chgData name="sagar saini" userId="4a0dd003ca7c735e" providerId="LiveId" clId="{B6C4A830-7978-416E-A002-4A915BCC4B5C}" dt="2026-07-03T11:56:21.897" v="350" actId="1076"/>
          <ac:spMkLst>
            <pc:docMk/>
            <pc:sldMk cId="0" sldId="276"/>
            <ac:spMk id="12" creationId="{00000000-0000-0000-0000-000000000000}"/>
          </ac:spMkLst>
        </pc:spChg>
        <pc:spChg chg="mod">
          <ac:chgData name="sagar saini" userId="4a0dd003ca7c735e" providerId="LiveId" clId="{B6C4A830-7978-416E-A002-4A915BCC4B5C}" dt="2026-07-03T11:56:27.718" v="351" actId="1076"/>
          <ac:spMkLst>
            <pc:docMk/>
            <pc:sldMk cId="0" sldId="276"/>
            <ac:spMk id="13" creationId="{00000000-0000-0000-0000-000000000000}"/>
          </ac:spMkLst>
        </pc:spChg>
        <pc:spChg chg="mod">
          <ac:chgData name="sagar saini" userId="4a0dd003ca7c735e" providerId="LiveId" clId="{B6C4A830-7978-416E-A002-4A915BCC4B5C}" dt="2026-07-03T11:56:41.941" v="354" actId="1076"/>
          <ac:spMkLst>
            <pc:docMk/>
            <pc:sldMk cId="0" sldId="276"/>
            <ac:spMk id="14" creationId="{00000000-0000-0000-0000-000000000000}"/>
          </ac:spMkLst>
        </pc:spChg>
        <pc:spChg chg="mod">
          <ac:chgData name="sagar saini" userId="4a0dd003ca7c735e" providerId="LiveId" clId="{B6C4A830-7978-416E-A002-4A915BCC4B5C}" dt="2026-07-03T11:57:53.452" v="364" actId="14100"/>
          <ac:spMkLst>
            <pc:docMk/>
            <pc:sldMk cId="0" sldId="276"/>
            <ac:spMk id="15" creationId="{00000000-0000-0000-0000-000000000000}"/>
          </ac:spMkLst>
        </pc:spChg>
        <pc:spChg chg="mod">
          <ac:chgData name="sagar saini" userId="4a0dd003ca7c735e" providerId="LiveId" clId="{B6C4A830-7978-416E-A002-4A915BCC4B5C}" dt="2026-07-03T11:56:48.356" v="355" actId="1076"/>
          <ac:spMkLst>
            <pc:docMk/>
            <pc:sldMk cId="0" sldId="276"/>
            <ac:spMk id="16" creationId="{00000000-0000-0000-0000-000000000000}"/>
          </ac:spMkLst>
        </pc:spChg>
        <pc:spChg chg="mod">
          <ac:chgData name="sagar saini" userId="4a0dd003ca7c735e" providerId="LiveId" clId="{B6C4A830-7978-416E-A002-4A915BCC4B5C}" dt="2026-07-03T11:56:56.067" v="356" actId="1076"/>
          <ac:spMkLst>
            <pc:docMk/>
            <pc:sldMk cId="0" sldId="276"/>
            <ac:spMk id="17" creationId="{00000000-0000-0000-0000-000000000000}"/>
          </ac:spMkLst>
        </pc:spChg>
        <pc:spChg chg="mod">
          <ac:chgData name="sagar saini" userId="4a0dd003ca7c735e" providerId="LiveId" clId="{B6C4A830-7978-416E-A002-4A915BCC4B5C}" dt="2026-07-03T11:57:01.896" v="357" actId="1076"/>
          <ac:spMkLst>
            <pc:docMk/>
            <pc:sldMk cId="0" sldId="276"/>
            <ac:spMk id="18" creationId="{00000000-0000-0000-0000-000000000000}"/>
          </ac:spMkLst>
        </pc:spChg>
        <pc:spChg chg="mod">
          <ac:chgData name="sagar saini" userId="4a0dd003ca7c735e" providerId="LiveId" clId="{B6C4A830-7978-416E-A002-4A915BCC4B5C}" dt="2026-07-03T11:57:48.064" v="363" actId="14100"/>
          <ac:spMkLst>
            <pc:docMk/>
            <pc:sldMk cId="0" sldId="276"/>
            <ac:spMk id="19" creationId="{00000000-0000-0000-0000-000000000000}"/>
          </ac:spMkLst>
        </pc:spChg>
        <pc:spChg chg="mod">
          <ac:chgData name="sagar saini" userId="4a0dd003ca7c735e" providerId="LiveId" clId="{B6C4A830-7978-416E-A002-4A915BCC4B5C}" dt="2026-07-03T11:57:09.199" v="358" actId="1076"/>
          <ac:spMkLst>
            <pc:docMk/>
            <pc:sldMk cId="0" sldId="276"/>
            <ac:spMk id="21" creationId="{00000000-0000-0000-0000-000000000000}"/>
          </ac:spMkLst>
        </pc:spChg>
        <pc:spChg chg="mod">
          <ac:chgData name="sagar saini" userId="4a0dd003ca7c735e" providerId="LiveId" clId="{B6C4A830-7978-416E-A002-4A915BCC4B5C}" dt="2026-07-03T11:57:24.428" v="360" actId="14100"/>
          <ac:spMkLst>
            <pc:docMk/>
            <pc:sldMk cId="0" sldId="276"/>
            <ac:spMk id="22" creationId="{00000000-0000-0000-0000-000000000000}"/>
          </ac:spMkLst>
        </pc:spChg>
        <pc:spChg chg="mod">
          <ac:chgData name="sagar saini" userId="4a0dd003ca7c735e" providerId="LiveId" clId="{B6C4A830-7978-416E-A002-4A915BCC4B5C}" dt="2026-07-03T11:57:38.581" v="362" actId="14100"/>
          <ac:spMkLst>
            <pc:docMk/>
            <pc:sldMk cId="0" sldId="276"/>
            <ac:spMk id="23" creationId="{00000000-0000-0000-0000-000000000000}"/>
          </ac:spMkLst>
        </pc:spChg>
        <pc:spChg chg="mod">
          <ac:chgData name="sagar saini" userId="4a0dd003ca7c735e" providerId="LiveId" clId="{B6C4A830-7978-416E-A002-4A915BCC4B5C}" dt="2026-07-03T11:57:32.918" v="361" actId="1076"/>
          <ac:spMkLst>
            <pc:docMk/>
            <pc:sldMk cId="0" sldId="276"/>
            <ac:spMk id="25" creationId="{00000000-0000-0000-0000-000000000000}"/>
          </ac:spMkLst>
        </pc:spChg>
        <pc:spChg chg="mod">
          <ac:chgData name="sagar saini" userId="4a0dd003ca7c735e" providerId="LiveId" clId="{B6C4A830-7978-416E-A002-4A915BCC4B5C}" dt="2026-07-03T11:59:44.169" v="381" actId="14100"/>
          <ac:spMkLst>
            <pc:docMk/>
            <pc:sldMk cId="0" sldId="276"/>
            <ac:spMk id="27" creationId="{00000000-0000-0000-0000-000000000000}"/>
          </ac:spMkLst>
        </pc:spChg>
        <pc:spChg chg="add del">
          <ac:chgData name="sagar saini" userId="4a0dd003ca7c735e" providerId="LiveId" clId="{B6C4A830-7978-416E-A002-4A915BCC4B5C}" dt="2026-07-03T11:56:01.163" v="348" actId="478"/>
          <ac:spMkLst>
            <pc:docMk/>
            <pc:sldMk cId="0" sldId="276"/>
            <ac:spMk id="29" creationId="{00000000-0000-0000-0000-000000000000}"/>
          </ac:spMkLst>
        </pc:spChg>
        <pc:spChg chg="mod">
          <ac:chgData name="sagar saini" userId="4a0dd003ca7c735e" providerId="LiveId" clId="{B6C4A830-7978-416E-A002-4A915BCC4B5C}" dt="2026-07-03T11:59:01.420" v="376" actId="1076"/>
          <ac:spMkLst>
            <pc:docMk/>
            <pc:sldMk cId="0" sldId="276"/>
            <ac:spMk id="30" creationId="{00000000-0000-0000-0000-000000000000}"/>
          </ac:spMkLst>
        </pc:spChg>
        <pc:spChg chg="mod">
          <ac:chgData name="sagar saini" userId="4a0dd003ca7c735e" providerId="LiveId" clId="{B6C4A830-7978-416E-A002-4A915BCC4B5C}" dt="2026-07-03T11:59:28.723" v="379" actId="14100"/>
          <ac:spMkLst>
            <pc:docMk/>
            <pc:sldMk cId="0" sldId="276"/>
            <ac:spMk id="31" creationId="{00000000-0000-0000-0000-000000000000}"/>
          </ac:spMkLst>
        </pc:spChg>
        <pc:spChg chg="add del mod">
          <ac:chgData name="sagar saini" userId="4a0dd003ca7c735e" providerId="LiveId" clId="{B6C4A830-7978-416E-A002-4A915BCC4B5C}" dt="2026-07-03T11:59:09.394" v="377" actId="1076"/>
          <ac:spMkLst>
            <pc:docMk/>
            <pc:sldMk cId="0" sldId="276"/>
            <ac:spMk id="32" creationId="{00000000-0000-0000-0000-000000000000}"/>
          </ac:spMkLst>
        </pc:spChg>
        <pc:spChg chg="add del">
          <ac:chgData name="sagar saini" userId="4a0dd003ca7c735e" providerId="LiveId" clId="{B6C4A830-7978-416E-A002-4A915BCC4B5C}" dt="2026-07-03T11:56:01.163" v="348" actId="478"/>
          <ac:spMkLst>
            <pc:docMk/>
            <pc:sldMk cId="0" sldId="276"/>
            <ac:spMk id="33" creationId="{00000000-0000-0000-0000-000000000000}"/>
          </ac:spMkLst>
        </pc:spChg>
        <pc:spChg chg="mod">
          <ac:chgData name="sagar saini" userId="4a0dd003ca7c735e" providerId="LiveId" clId="{B6C4A830-7978-416E-A002-4A915BCC4B5C}" dt="2026-07-03T11:58:40.679" v="372" actId="1076"/>
          <ac:spMkLst>
            <pc:docMk/>
            <pc:sldMk cId="0" sldId="276"/>
            <ac:spMk id="34" creationId="{00000000-0000-0000-0000-000000000000}"/>
          </ac:spMkLst>
        </pc:spChg>
        <pc:spChg chg="mod">
          <ac:chgData name="sagar saini" userId="4a0dd003ca7c735e" providerId="LiveId" clId="{B6C4A830-7978-416E-A002-4A915BCC4B5C}" dt="2026-07-03T11:58:55.737" v="375" actId="14100"/>
          <ac:spMkLst>
            <pc:docMk/>
            <pc:sldMk cId="0" sldId="276"/>
            <ac:spMk id="35" creationId="{00000000-0000-0000-0000-000000000000}"/>
          </ac:spMkLst>
        </pc:spChg>
        <pc:spChg chg="add del mod">
          <ac:chgData name="sagar saini" userId="4a0dd003ca7c735e" providerId="LiveId" clId="{B6C4A830-7978-416E-A002-4A915BCC4B5C}" dt="2026-07-03T11:58:46.195" v="373" actId="1076"/>
          <ac:spMkLst>
            <pc:docMk/>
            <pc:sldMk cId="0" sldId="276"/>
            <ac:spMk id="36" creationId="{00000000-0000-0000-0000-000000000000}"/>
          </ac:spMkLst>
        </pc:spChg>
        <pc:spChg chg="add del">
          <ac:chgData name="sagar saini" userId="4a0dd003ca7c735e" providerId="LiveId" clId="{B6C4A830-7978-416E-A002-4A915BCC4B5C}" dt="2026-07-03T11:56:01.163" v="348" actId="478"/>
          <ac:spMkLst>
            <pc:docMk/>
            <pc:sldMk cId="0" sldId="276"/>
            <ac:spMk id="37" creationId="{00000000-0000-0000-0000-000000000000}"/>
          </ac:spMkLst>
        </pc:spChg>
        <pc:spChg chg="mod">
          <ac:chgData name="sagar saini" userId="4a0dd003ca7c735e" providerId="LiveId" clId="{B6C4A830-7978-416E-A002-4A915BCC4B5C}" dt="2026-07-03T11:58:28.072" v="369" actId="14100"/>
          <ac:spMkLst>
            <pc:docMk/>
            <pc:sldMk cId="0" sldId="276"/>
            <ac:spMk id="38" creationId="{00000000-0000-0000-0000-000000000000}"/>
          </ac:spMkLst>
        </pc:spChg>
        <pc:spChg chg="mod">
          <ac:chgData name="sagar saini" userId="4a0dd003ca7c735e" providerId="LiveId" clId="{B6C4A830-7978-416E-A002-4A915BCC4B5C}" dt="2026-07-03T11:58:37.036" v="371" actId="14100"/>
          <ac:spMkLst>
            <pc:docMk/>
            <pc:sldMk cId="0" sldId="276"/>
            <ac:spMk id="39" creationId="{00000000-0000-0000-0000-000000000000}"/>
          </ac:spMkLst>
        </pc:spChg>
        <pc:spChg chg="add del mod">
          <ac:chgData name="sagar saini" userId="4a0dd003ca7c735e" providerId="LiveId" clId="{B6C4A830-7978-416E-A002-4A915BCC4B5C}" dt="2026-07-03T11:58:22.204" v="368" actId="1076"/>
          <ac:spMkLst>
            <pc:docMk/>
            <pc:sldMk cId="0" sldId="276"/>
            <ac:spMk id="40" creationId="{00000000-0000-0000-0000-000000000000}"/>
          </ac:spMkLst>
        </pc:spChg>
        <pc:spChg chg="add del mod">
          <ac:chgData name="sagar saini" userId="4a0dd003ca7c735e" providerId="LiveId" clId="{B6C4A830-7978-416E-A002-4A915BCC4B5C}" dt="2026-07-03T11:58:12.893" v="367" actId="20577"/>
          <ac:spMkLst>
            <pc:docMk/>
            <pc:sldMk cId="0" sldId="276"/>
            <ac:spMk id="41"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6217920" cy="6858000"/>
          </a:xfrm>
          <a:prstGeom prst="rect">
            <a:avLst/>
          </a:prstGeom>
          <a:solidFill>
            <a:srgbClr val="F4F6F8"/>
          </a:solidFill>
          <a:ln>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    </a:t>
            </a:r>
            <a:endParaRPr/>
          </a:p>
        </p:txBody>
      </p:sp>
      <p:sp>
        <p:nvSpPr>
          <p:cNvPr id="4" name="Isosceles Triangle 3"/>
          <p:cNvSpPr/>
          <p:nvPr/>
        </p:nvSpPr>
        <p:spPr>
          <a:xfrm>
            <a:off x="7589520" y="960120"/>
            <a:ext cx="3200400" cy="4206240"/>
          </a:xfrm>
          <a:prstGeom prst="triangle">
            <a:avLst/>
          </a:prstGeom>
          <a:solidFill>
            <a:srgbClr val="F26419"/>
          </a:solidFill>
          <a:ln>
            <a:solidFill>
              <a:srgbClr val="F2641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417320"/>
            <a:ext cx="5669280" cy="1645920"/>
          </a:xfrm>
          <a:prstGeom prst="rect">
            <a:avLst/>
          </a:prstGeom>
          <a:noFill/>
        </p:spPr>
        <p:txBody>
          <a:bodyPr wrap="square" lIns="64008" tIns="64008" rIns="64008" bIns="64008" anchor="t">
            <a:spAutoFit/>
          </a:bodyPr>
          <a:lstStyle/>
          <a:p>
            <a:pPr algn="l"/>
            <a:r>
              <a:rPr sz="2700" b="0">
                <a:solidFill>
                  <a:srgbClr val="F26419"/>
                </a:solidFill>
                <a:latin typeface="Aptos"/>
              </a:rPr>
              <a:t>EXL – Oakbridge:</a:t>
            </a:r>
          </a:p>
          <a:p>
            <a:pPr algn="l"/>
            <a:r>
              <a:rPr sz="2700" b="0">
                <a:solidFill>
                  <a:srgbClr val="F26419"/>
                </a:solidFill>
                <a:latin typeface="Aptos"/>
              </a:rPr>
              <a:t>Our Understanding of</a:t>
            </a:r>
          </a:p>
          <a:p>
            <a:pPr algn="l"/>
            <a:r>
              <a:rPr sz="2700" b="0">
                <a:solidFill>
                  <a:srgbClr val="F26419"/>
                </a:solidFill>
                <a:latin typeface="Aptos"/>
              </a:rPr>
              <a:t>Existing System</a:t>
            </a:r>
          </a:p>
        </p:txBody>
      </p:sp>
      <p:sp>
        <p:nvSpPr>
          <p:cNvPr id="6" name="TextBox 5"/>
          <p:cNvSpPr txBox="1"/>
          <p:nvPr/>
        </p:nvSpPr>
        <p:spPr>
          <a:xfrm>
            <a:off x="713232" y="3246120"/>
            <a:ext cx="5120640" cy="560153"/>
          </a:xfrm>
          <a:prstGeom prst="rect">
            <a:avLst/>
          </a:prstGeom>
          <a:noFill/>
        </p:spPr>
        <p:txBody>
          <a:bodyPr wrap="square" lIns="64008" tIns="64008" rIns="64008" bIns="64008" anchor="t">
            <a:spAutoFit/>
          </a:bodyPr>
          <a:lstStyle/>
          <a:p>
            <a:pPr algn="l"/>
            <a:r>
              <a:rPr lang="en-US" sz="1400" b="0" dirty="0" err="1">
                <a:solidFill>
                  <a:srgbClr val="5A5A5A"/>
                </a:solidFill>
                <a:latin typeface="Aptos"/>
              </a:rPr>
              <a:t>Oakbridge</a:t>
            </a:r>
            <a:r>
              <a:rPr lang="en-US" sz="1400" dirty="0">
                <a:solidFill>
                  <a:srgbClr val="5A5A5A"/>
                </a:solidFill>
                <a:latin typeface="Aptos"/>
              </a:rPr>
              <a:t> </a:t>
            </a:r>
            <a:r>
              <a:rPr sz="1400" b="0" dirty="0">
                <a:solidFill>
                  <a:srgbClr val="5A5A5A"/>
                </a:solidFill>
                <a:latin typeface="Aptos"/>
              </a:rPr>
              <a:t>summary | Application, data flow and technical understanding</a:t>
            </a:r>
          </a:p>
        </p:txBody>
      </p:sp>
      <p:sp>
        <p:nvSpPr>
          <p:cNvPr id="7" name="TextBox 6"/>
          <p:cNvSpPr txBox="1"/>
          <p:nvPr/>
        </p:nvSpPr>
        <p:spPr>
          <a:xfrm>
            <a:off x="713232" y="5440680"/>
            <a:ext cx="3657600" cy="560153"/>
          </a:xfrm>
          <a:prstGeom prst="rect">
            <a:avLst/>
          </a:prstGeom>
          <a:noFill/>
        </p:spPr>
        <p:txBody>
          <a:bodyPr wrap="square" lIns="64008" tIns="64008" rIns="64008" bIns="64008" anchor="t">
            <a:spAutoFit/>
          </a:bodyPr>
          <a:lstStyle/>
          <a:p>
            <a:pPr algn="l"/>
            <a:r>
              <a:rPr sz="1400" b="0" dirty="0">
                <a:solidFill>
                  <a:srgbClr val="5A5A5A"/>
                </a:solidFill>
                <a:latin typeface="Aptos"/>
              </a:rPr>
              <a:t>Prepared by: </a:t>
            </a:r>
            <a:r>
              <a:rPr lang="en-US" sz="1400" dirty="0">
                <a:solidFill>
                  <a:srgbClr val="5A5A5A"/>
                </a:solidFill>
                <a:latin typeface="Aptos"/>
              </a:rPr>
              <a:t>Sachin</a:t>
            </a:r>
            <a:r>
              <a:rPr sz="1400" b="0" dirty="0">
                <a:solidFill>
                  <a:srgbClr val="5A5A5A"/>
                </a:solidFill>
                <a:latin typeface="Aptos"/>
              </a:rPr>
              <a:t> &amp; Sagar</a:t>
            </a:r>
          </a:p>
          <a:p>
            <a:pPr algn="l"/>
            <a:r>
              <a:rPr sz="1400" b="0" dirty="0">
                <a:solidFill>
                  <a:srgbClr val="5A5A5A"/>
                </a:solidFill>
                <a:latin typeface="Aptos"/>
              </a:rPr>
              <a:t>July 2026</a:t>
            </a:r>
          </a:p>
        </p:txBody>
      </p:sp>
      <p:sp>
        <p:nvSpPr>
          <p:cNvPr id="8" name="TextBox 7"/>
          <p:cNvSpPr txBox="1"/>
          <p:nvPr/>
        </p:nvSpPr>
        <p:spPr>
          <a:xfrm>
            <a:off x="7909560" y="6455664"/>
            <a:ext cx="3108960" cy="182880"/>
          </a:xfrm>
          <a:prstGeom prst="rect">
            <a:avLst/>
          </a:prstGeom>
          <a:noFill/>
        </p:spPr>
        <p:txBody>
          <a:bodyPr wrap="square" lIns="64008" tIns="64008" rIns="64008" bIns="64008" anchor="t">
            <a:spAutoFit/>
          </a:bodyPr>
          <a:lstStyle/>
          <a:p>
            <a:pPr algn="r"/>
            <a:r>
              <a:rPr sz="650" b="0">
                <a:solidFill>
                  <a:srgbClr val="5A5A5A"/>
                </a:solidFill>
                <a:latin typeface="Aptos"/>
              </a:rPr>
              <a:t>©2026 EXLService Holdings, Inc. All rights reserved.</a:t>
            </a:r>
          </a:p>
        </p:txBody>
      </p:sp>
      <p:sp>
        <p:nvSpPr>
          <p:cNvPr id="9" name="TextBox 8"/>
          <p:cNvSpPr txBox="1"/>
          <p:nvPr/>
        </p:nvSpPr>
        <p:spPr>
          <a:xfrm>
            <a:off x="11137392" y="6382512"/>
            <a:ext cx="731520" cy="274320"/>
          </a:xfrm>
          <a:prstGeom prst="rect">
            <a:avLst/>
          </a:prstGeom>
          <a:noFill/>
        </p:spPr>
        <p:txBody>
          <a:bodyPr wrap="square" lIns="64008" tIns="64008" rIns="64008" bIns="64008" anchor="t">
            <a:spAutoFit/>
          </a:bodyPr>
          <a:lstStyle/>
          <a:p>
            <a:pPr algn="r"/>
            <a:r>
              <a:rPr sz="1800" b="1">
                <a:solidFill>
                  <a:srgbClr val="F26419"/>
                </a:solidFill>
                <a:latin typeface="Aptos"/>
              </a:rPr>
              <a:t>EXL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420624"/>
          </a:xfrm>
          <a:prstGeom prst="rect">
            <a:avLst/>
          </a:prstGeom>
          <a:solidFill>
            <a:srgbClr val="21324A"/>
          </a:solidFill>
          <a:ln>
            <a:solidFill>
              <a:srgbClr val="21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04800" y="5506"/>
            <a:ext cx="2377440" cy="437043"/>
          </a:xfrm>
          <a:prstGeom prst="rect">
            <a:avLst/>
          </a:prstGeom>
          <a:noFill/>
        </p:spPr>
        <p:txBody>
          <a:bodyPr wrap="square" lIns="64008" tIns="64008" rIns="64008" bIns="64008" anchor="t">
            <a:spAutoFit/>
          </a:bodyPr>
          <a:lstStyle/>
          <a:p>
            <a:pPr algn="l"/>
            <a:r>
              <a:rPr sz="2000" b="1" dirty="0">
                <a:solidFill>
                  <a:srgbClr val="FFFFFF"/>
                </a:solidFill>
                <a:latin typeface="Aptos"/>
              </a:rPr>
              <a:t>OVERVIEW</a:t>
            </a:r>
          </a:p>
        </p:txBody>
      </p:sp>
      <p:sp>
        <p:nvSpPr>
          <p:cNvPr id="4" name="TextBox 3"/>
          <p:cNvSpPr txBox="1"/>
          <p:nvPr/>
        </p:nvSpPr>
        <p:spPr>
          <a:xfrm>
            <a:off x="11155680" y="100584"/>
            <a:ext cx="731520" cy="228600"/>
          </a:xfrm>
          <a:prstGeom prst="rect">
            <a:avLst/>
          </a:prstGeom>
          <a:noFill/>
        </p:spPr>
        <p:txBody>
          <a:bodyPr wrap="square" lIns="64008" tIns="64008" rIns="64008" bIns="64008" anchor="t">
            <a:spAutoFit/>
          </a:bodyPr>
          <a:lstStyle/>
          <a:p>
            <a:pPr algn="r"/>
            <a:r>
              <a:rPr sz="1400" b="1">
                <a:solidFill>
                  <a:srgbClr val="F26419"/>
                </a:solidFill>
                <a:latin typeface="Aptos"/>
              </a:rPr>
              <a:t>EXL</a:t>
            </a:r>
          </a:p>
        </p:txBody>
      </p:sp>
      <p:sp>
        <p:nvSpPr>
          <p:cNvPr id="5" name="TextBox 4"/>
          <p:cNvSpPr txBox="1"/>
          <p:nvPr/>
        </p:nvSpPr>
        <p:spPr>
          <a:xfrm>
            <a:off x="502920" y="621792"/>
            <a:ext cx="9509760" cy="438912"/>
          </a:xfrm>
          <a:prstGeom prst="rect">
            <a:avLst/>
          </a:prstGeom>
          <a:noFill/>
        </p:spPr>
        <p:txBody>
          <a:bodyPr wrap="square" lIns="64008" tIns="64008" rIns="64008" bIns="64008" anchor="t">
            <a:spAutoFit/>
          </a:bodyPr>
          <a:lstStyle/>
          <a:p>
            <a:pPr algn="l"/>
            <a:r>
              <a:rPr sz="2300" b="1">
                <a:solidFill>
                  <a:srgbClr val="F26419"/>
                </a:solidFill>
                <a:latin typeface="Aptos"/>
              </a:rPr>
              <a:t>Agenda</a:t>
            </a:r>
          </a:p>
        </p:txBody>
      </p:sp>
      <p:sp>
        <p:nvSpPr>
          <p:cNvPr id="7" name="TextBox 6"/>
          <p:cNvSpPr txBox="1"/>
          <p:nvPr/>
        </p:nvSpPr>
        <p:spPr>
          <a:xfrm>
            <a:off x="502920" y="6528816"/>
            <a:ext cx="7772400" cy="201168"/>
          </a:xfrm>
          <a:prstGeom prst="rect">
            <a:avLst/>
          </a:prstGeom>
          <a:noFill/>
        </p:spPr>
        <p:txBody>
          <a:bodyPr wrap="square" lIns="64008" tIns="64008" rIns="64008" bIns="64008" anchor="t">
            <a:spAutoFit/>
          </a:bodyPr>
          <a:lstStyle/>
          <a:p>
            <a:pPr algn="l"/>
            <a:r>
              <a:rPr sz="750" b="0">
                <a:solidFill>
                  <a:srgbClr val="5A5A5A"/>
                </a:solidFill>
                <a:latin typeface="Aptos"/>
              </a:rPr>
              <a:t>EXL – Oakbridge Engagement | Our Understanding of Existing System</a:t>
            </a:r>
          </a:p>
        </p:txBody>
      </p:sp>
      <p:sp>
        <p:nvSpPr>
          <p:cNvPr id="8" name="TextBox 7"/>
          <p:cNvSpPr txBox="1"/>
          <p:nvPr/>
        </p:nvSpPr>
        <p:spPr>
          <a:xfrm>
            <a:off x="11475720" y="6528816"/>
            <a:ext cx="320040" cy="201168"/>
          </a:xfrm>
          <a:prstGeom prst="rect">
            <a:avLst/>
          </a:prstGeom>
          <a:noFill/>
        </p:spPr>
        <p:txBody>
          <a:bodyPr wrap="square" lIns="64008" tIns="64008" rIns="64008" bIns="64008" anchor="t">
            <a:spAutoFit/>
          </a:bodyPr>
          <a:lstStyle/>
          <a:p>
            <a:pPr algn="r"/>
            <a:r>
              <a:rPr sz="750" b="0">
                <a:solidFill>
                  <a:srgbClr val="5A5A5A"/>
                </a:solidFill>
                <a:latin typeface="Aptos"/>
              </a:rPr>
              <a:t>2</a:t>
            </a:r>
          </a:p>
        </p:txBody>
      </p:sp>
      <p:sp>
        <p:nvSpPr>
          <p:cNvPr id="9" name="Rectangle 8"/>
          <p:cNvSpPr/>
          <p:nvPr/>
        </p:nvSpPr>
        <p:spPr>
          <a:xfrm>
            <a:off x="502920" y="1344168"/>
            <a:ext cx="11064240" cy="22860"/>
          </a:xfrm>
          <a:prstGeom prst="rect">
            <a:avLst/>
          </a:prstGeom>
          <a:solidFill>
            <a:srgbClr val="DAE0E6"/>
          </a:solidFill>
          <a:ln>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77240" y="1737360"/>
            <a:ext cx="384048" cy="384048"/>
          </a:xfrm>
          <a:prstGeom prst="roundRect">
            <a:avLst/>
          </a:prstGeom>
          <a:solidFill>
            <a:srgbClr val="1F609A"/>
          </a:solidFill>
          <a:ln>
            <a:solidFill>
              <a:srgbClr val="1F60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1819656"/>
            <a:ext cx="384048" cy="109728"/>
          </a:xfrm>
          <a:prstGeom prst="rect">
            <a:avLst/>
          </a:prstGeom>
          <a:noFill/>
        </p:spPr>
        <p:txBody>
          <a:bodyPr wrap="square" lIns="64008" tIns="64008" rIns="64008" bIns="64008" anchor="t">
            <a:spAutoFit/>
          </a:bodyPr>
          <a:lstStyle/>
          <a:p>
            <a:pPr algn="ctr"/>
            <a:r>
              <a:rPr sz="1400" b="1">
                <a:solidFill>
                  <a:srgbClr val="FFFFFF"/>
                </a:solidFill>
                <a:latin typeface="Aptos"/>
              </a:rPr>
              <a:t>1</a:t>
            </a:r>
          </a:p>
        </p:txBody>
      </p:sp>
      <p:sp>
        <p:nvSpPr>
          <p:cNvPr id="12" name="TextBox 11"/>
          <p:cNvSpPr txBox="1"/>
          <p:nvPr/>
        </p:nvSpPr>
        <p:spPr>
          <a:xfrm>
            <a:off x="1325880" y="1764792"/>
            <a:ext cx="7772400" cy="292608"/>
          </a:xfrm>
          <a:prstGeom prst="rect">
            <a:avLst/>
          </a:prstGeom>
          <a:noFill/>
        </p:spPr>
        <p:txBody>
          <a:bodyPr wrap="square" lIns="64008" tIns="64008" rIns="64008" bIns="64008" anchor="t">
            <a:spAutoFit/>
          </a:bodyPr>
          <a:lstStyle/>
          <a:p>
            <a:pPr algn="l"/>
            <a:r>
              <a:rPr sz="1600" b="0">
                <a:solidFill>
                  <a:srgbClr val="1E1E1E"/>
                </a:solidFill>
                <a:latin typeface="Aptos"/>
              </a:rPr>
              <a:t>Our understanding of vision and priorities</a:t>
            </a:r>
          </a:p>
        </p:txBody>
      </p:sp>
      <p:sp>
        <p:nvSpPr>
          <p:cNvPr id="13" name="Rounded Rectangle 12"/>
          <p:cNvSpPr/>
          <p:nvPr/>
        </p:nvSpPr>
        <p:spPr>
          <a:xfrm>
            <a:off x="777240" y="2395728"/>
            <a:ext cx="384048" cy="384048"/>
          </a:xfrm>
          <a:prstGeom prst="roundRect">
            <a:avLst/>
          </a:prstGeom>
          <a:solidFill>
            <a:srgbClr val="1F609A"/>
          </a:solidFill>
          <a:ln>
            <a:solidFill>
              <a:srgbClr val="1F60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7240" y="2478024"/>
            <a:ext cx="384048" cy="109728"/>
          </a:xfrm>
          <a:prstGeom prst="rect">
            <a:avLst/>
          </a:prstGeom>
          <a:noFill/>
        </p:spPr>
        <p:txBody>
          <a:bodyPr wrap="square" lIns="64008" tIns="64008" rIns="64008" bIns="64008" anchor="t">
            <a:spAutoFit/>
          </a:bodyPr>
          <a:lstStyle/>
          <a:p>
            <a:pPr algn="ctr"/>
            <a:r>
              <a:rPr sz="1400" b="1">
                <a:solidFill>
                  <a:srgbClr val="FFFFFF"/>
                </a:solidFill>
                <a:latin typeface="Aptos"/>
              </a:rPr>
              <a:t>2</a:t>
            </a:r>
          </a:p>
        </p:txBody>
      </p:sp>
      <p:sp>
        <p:nvSpPr>
          <p:cNvPr id="15" name="TextBox 14"/>
          <p:cNvSpPr txBox="1"/>
          <p:nvPr/>
        </p:nvSpPr>
        <p:spPr>
          <a:xfrm>
            <a:off x="1325880" y="2423160"/>
            <a:ext cx="7772400" cy="292608"/>
          </a:xfrm>
          <a:prstGeom prst="rect">
            <a:avLst/>
          </a:prstGeom>
          <a:noFill/>
        </p:spPr>
        <p:txBody>
          <a:bodyPr wrap="square" lIns="64008" tIns="64008" rIns="64008" bIns="64008" anchor="t">
            <a:spAutoFit/>
          </a:bodyPr>
          <a:lstStyle/>
          <a:p>
            <a:pPr algn="l"/>
            <a:r>
              <a:rPr sz="1600" b="0">
                <a:solidFill>
                  <a:srgbClr val="1E1E1E"/>
                </a:solidFill>
                <a:latin typeface="Aptos"/>
              </a:rPr>
              <a:t>Existing application and module landscape</a:t>
            </a:r>
          </a:p>
        </p:txBody>
      </p:sp>
      <p:sp>
        <p:nvSpPr>
          <p:cNvPr id="16" name="Rounded Rectangle 15"/>
          <p:cNvSpPr/>
          <p:nvPr/>
        </p:nvSpPr>
        <p:spPr>
          <a:xfrm>
            <a:off x="777240" y="3054096"/>
            <a:ext cx="384048" cy="384048"/>
          </a:xfrm>
          <a:prstGeom prst="roundRect">
            <a:avLst/>
          </a:prstGeom>
          <a:solidFill>
            <a:srgbClr val="1F609A"/>
          </a:solidFill>
          <a:ln>
            <a:solidFill>
              <a:srgbClr val="1F60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7240" y="3136391"/>
            <a:ext cx="384048" cy="109728"/>
          </a:xfrm>
          <a:prstGeom prst="rect">
            <a:avLst/>
          </a:prstGeom>
          <a:noFill/>
        </p:spPr>
        <p:txBody>
          <a:bodyPr wrap="square" lIns="64008" tIns="64008" rIns="64008" bIns="64008" anchor="t">
            <a:spAutoFit/>
          </a:bodyPr>
          <a:lstStyle/>
          <a:p>
            <a:pPr algn="ctr"/>
            <a:r>
              <a:rPr sz="1400" b="1">
                <a:solidFill>
                  <a:srgbClr val="FFFFFF"/>
                </a:solidFill>
                <a:latin typeface="Aptos"/>
              </a:rPr>
              <a:t>3</a:t>
            </a:r>
          </a:p>
        </p:txBody>
      </p:sp>
      <p:sp>
        <p:nvSpPr>
          <p:cNvPr id="18" name="TextBox 17"/>
          <p:cNvSpPr txBox="1"/>
          <p:nvPr/>
        </p:nvSpPr>
        <p:spPr>
          <a:xfrm>
            <a:off x="1325880" y="3081527"/>
            <a:ext cx="7772400" cy="292608"/>
          </a:xfrm>
          <a:prstGeom prst="rect">
            <a:avLst/>
          </a:prstGeom>
          <a:noFill/>
        </p:spPr>
        <p:txBody>
          <a:bodyPr wrap="square" lIns="64008" tIns="64008" rIns="64008" bIns="64008" anchor="t">
            <a:spAutoFit/>
          </a:bodyPr>
          <a:lstStyle/>
          <a:p>
            <a:pPr algn="l"/>
            <a:r>
              <a:rPr sz="1600" b="0">
                <a:solidFill>
                  <a:srgbClr val="1E1E1E"/>
                </a:solidFill>
                <a:latin typeface="Aptos"/>
              </a:rPr>
              <a:t>End-to-end operating workflow</a:t>
            </a:r>
          </a:p>
        </p:txBody>
      </p:sp>
      <p:sp>
        <p:nvSpPr>
          <p:cNvPr id="19" name="Rounded Rectangle 18"/>
          <p:cNvSpPr/>
          <p:nvPr/>
        </p:nvSpPr>
        <p:spPr>
          <a:xfrm>
            <a:off x="777240" y="3712464"/>
            <a:ext cx="384048" cy="384048"/>
          </a:xfrm>
          <a:prstGeom prst="roundRect">
            <a:avLst/>
          </a:prstGeom>
          <a:solidFill>
            <a:srgbClr val="1F609A"/>
          </a:solidFill>
          <a:ln>
            <a:solidFill>
              <a:srgbClr val="1F60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77240" y="3794760"/>
            <a:ext cx="384048" cy="109728"/>
          </a:xfrm>
          <a:prstGeom prst="rect">
            <a:avLst/>
          </a:prstGeom>
          <a:noFill/>
        </p:spPr>
        <p:txBody>
          <a:bodyPr wrap="square" lIns="64008" tIns="64008" rIns="64008" bIns="64008" anchor="t">
            <a:spAutoFit/>
          </a:bodyPr>
          <a:lstStyle/>
          <a:p>
            <a:pPr algn="ctr"/>
            <a:r>
              <a:rPr sz="1400" b="1">
                <a:solidFill>
                  <a:srgbClr val="FFFFFF"/>
                </a:solidFill>
                <a:latin typeface="Aptos"/>
              </a:rPr>
              <a:t>4</a:t>
            </a:r>
          </a:p>
        </p:txBody>
      </p:sp>
      <p:sp>
        <p:nvSpPr>
          <p:cNvPr id="21" name="TextBox 20"/>
          <p:cNvSpPr txBox="1"/>
          <p:nvPr/>
        </p:nvSpPr>
        <p:spPr>
          <a:xfrm>
            <a:off x="1325880" y="3739896"/>
            <a:ext cx="7772400" cy="292608"/>
          </a:xfrm>
          <a:prstGeom prst="rect">
            <a:avLst/>
          </a:prstGeom>
          <a:noFill/>
        </p:spPr>
        <p:txBody>
          <a:bodyPr wrap="square" lIns="64008" tIns="64008" rIns="64008" bIns="64008" anchor="t">
            <a:spAutoFit/>
          </a:bodyPr>
          <a:lstStyle/>
          <a:p>
            <a:pPr algn="l"/>
            <a:r>
              <a:rPr sz="1600" b="0">
                <a:solidFill>
                  <a:srgbClr val="1E1E1E"/>
                </a:solidFill>
                <a:latin typeface="Aptos"/>
              </a:rPr>
              <a:t>Data integration and management flow</a:t>
            </a:r>
          </a:p>
        </p:txBody>
      </p:sp>
      <p:sp>
        <p:nvSpPr>
          <p:cNvPr id="22" name="Rounded Rectangle 21"/>
          <p:cNvSpPr/>
          <p:nvPr/>
        </p:nvSpPr>
        <p:spPr>
          <a:xfrm>
            <a:off x="777240" y="4370831"/>
            <a:ext cx="384048" cy="384048"/>
          </a:xfrm>
          <a:prstGeom prst="roundRect">
            <a:avLst/>
          </a:prstGeom>
          <a:solidFill>
            <a:srgbClr val="1F609A"/>
          </a:solidFill>
          <a:ln>
            <a:solidFill>
              <a:srgbClr val="1F60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7240" y="4453127"/>
            <a:ext cx="384048" cy="109728"/>
          </a:xfrm>
          <a:prstGeom prst="rect">
            <a:avLst/>
          </a:prstGeom>
          <a:noFill/>
        </p:spPr>
        <p:txBody>
          <a:bodyPr wrap="square" lIns="64008" tIns="64008" rIns="64008" bIns="64008" anchor="t">
            <a:spAutoFit/>
          </a:bodyPr>
          <a:lstStyle/>
          <a:p>
            <a:pPr algn="ctr"/>
            <a:r>
              <a:rPr sz="1400" b="1">
                <a:solidFill>
                  <a:srgbClr val="FFFFFF"/>
                </a:solidFill>
                <a:latin typeface="Aptos"/>
              </a:rPr>
              <a:t>5</a:t>
            </a:r>
          </a:p>
        </p:txBody>
      </p:sp>
      <p:sp>
        <p:nvSpPr>
          <p:cNvPr id="24" name="TextBox 23"/>
          <p:cNvSpPr txBox="1"/>
          <p:nvPr/>
        </p:nvSpPr>
        <p:spPr>
          <a:xfrm>
            <a:off x="1325880" y="4398264"/>
            <a:ext cx="7772400" cy="292608"/>
          </a:xfrm>
          <a:prstGeom prst="rect">
            <a:avLst/>
          </a:prstGeom>
          <a:noFill/>
        </p:spPr>
        <p:txBody>
          <a:bodyPr wrap="square" lIns="64008" tIns="64008" rIns="64008" bIns="64008" anchor="t">
            <a:spAutoFit/>
          </a:bodyPr>
          <a:lstStyle/>
          <a:p>
            <a:pPr algn="l"/>
            <a:r>
              <a:rPr sz="1600" b="0">
                <a:solidFill>
                  <a:srgbClr val="1E1E1E"/>
                </a:solidFill>
                <a:latin typeface="Aptos"/>
              </a:rPr>
              <a:t>Backend/API and security understanding</a:t>
            </a:r>
          </a:p>
        </p:txBody>
      </p:sp>
      <p:sp>
        <p:nvSpPr>
          <p:cNvPr id="25" name="Rounded Rectangle 24"/>
          <p:cNvSpPr/>
          <p:nvPr/>
        </p:nvSpPr>
        <p:spPr>
          <a:xfrm>
            <a:off x="777240" y="5029200"/>
            <a:ext cx="384048" cy="384048"/>
          </a:xfrm>
          <a:prstGeom prst="roundRect">
            <a:avLst/>
          </a:prstGeom>
          <a:solidFill>
            <a:srgbClr val="1F609A"/>
          </a:solidFill>
          <a:ln>
            <a:solidFill>
              <a:srgbClr val="1F60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77240" y="5111496"/>
            <a:ext cx="384048" cy="109728"/>
          </a:xfrm>
          <a:prstGeom prst="rect">
            <a:avLst/>
          </a:prstGeom>
          <a:noFill/>
        </p:spPr>
        <p:txBody>
          <a:bodyPr wrap="square" lIns="64008" tIns="64008" rIns="64008" bIns="64008" anchor="t">
            <a:spAutoFit/>
          </a:bodyPr>
          <a:lstStyle/>
          <a:p>
            <a:pPr algn="ctr"/>
            <a:r>
              <a:rPr sz="1400" b="1">
                <a:solidFill>
                  <a:srgbClr val="FFFFFF"/>
                </a:solidFill>
                <a:latin typeface="Aptos"/>
              </a:rPr>
              <a:t>6</a:t>
            </a:r>
          </a:p>
        </p:txBody>
      </p:sp>
      <p:sp>
        <p:nvSpPr>
          <p:cNvPr id="27" name="TextBox 26"/>
          <p:cNvSpPr txBox="1"/>
          <p:nvPr/>
        </p:nvSpPr>
        <p:spPr>
          <a:xfrm>
            <a:off x="1325880" y="5056632"/>
            <a:ext cx="7772400" cy="292608"/>
          </a:xfrm>
          <a:prstGeom prst="rect">
            <a:avLst/>
          </a:prstGeom>
          <a:noFill/>
        </p:spPr>
        <p:txBody>
          <a:bodyPr wrap="square" lIns="64008" tIns="64008" rIns="64008" bIns="64008" anchor="t">
            <a:spAutoFit/>
          </a:bodyPr>
          <a:lstStyle/>
          <a:p>
            <a:pPr algn="l"/>
            <a:r>
              <a:rPr sz="1600" b="0">
                <a:solidFill>
                  <a:srgbClr val="1E1E1E"/>
                </a:solidFill>
                <a:latin typeface="Aptos"/>
              </a:rPr>
              <a:t>Testing observations, challenges and recommendations</a:t>
            </a:r>
          </a:p>
        </p:txBody>
      </p:sp>
      <p:sp>
        <p:nvSpPr>
          <p:cNvPr id="28" name="Rounded Rectangle 27"/>
          <p:cNvSpPr/>
          <p:nvPr/>
        </p:nvSpPr>
        <p:spPr>
          <a:xfrm>
            <a:off x="8138160" y="1485901"/>
            <a:ext cx="3497580" cy="2546603"/>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138160" y="1691640"/>
            <a:ext cx="73152" cy="2103120"/>
          </a:xfrm>
          <a:prstGeom prst="rect">
            <a:avLst/>
          </a:prstGeom>
          <a:solidFill>
            <a:srgbClr val="F26419"/>
          </a:solidFill>
          <a:ln>
            <a:solidFill>
              <a:srgbClr val="F2641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321040" y="1810512"/>
            <a:ext cx="2971800" cy="320040"/>
          </a:xfrm>
          <a:prstGeom prst="rect">
            <a:avLst/>
          </a:prstGeom>
          <a:noFill/>
        </p:spPr>
        <p:txBody>
          <a:bodyPr wrap="square" lIns="64008" tIns="64008" rIns="64008" bIns="64008" anchor="t">
            <a:spAutoFit/>
          </a:bodyPr>
          <a:lstStyle/>
          <a:p>
            <a:pPr algn="l"/>
            <a:r>
              <a:rPr sz="1400" b="1" dirty="0">
                <a:solidFill>
                  <a:srgbClr val="21324A"/>
                </a:solidFill>
                <a:latin typeface="Aptos"/>
              </a:rPr>
              <a:t>Purpose of this deck</a:t>
            </a:r>
          </a:p>
        </p:txBody>
      </p:sp>
      <p:sp>
        <p:nvSpPr>
          <p:cNvPr id="31" name="TextBox 30"/>
          <p:cNvSpPr txBox="1"/>
          <p:nvPr/>
        </p:nvSpPr>
        <p:spPr>
          <a:xfrm>
            <a:off x="8321040" y="2194560"/>
            <a:ext cx="2971800" cy="1508760"/>
          </a:xfrm>
          <a:prstGeom prst="rect">
            <a:avLst/>
          </a:prstGeom>
          <a:noFill/>
        </p:spPr>
        <p:txBody>
          <a:bodyPr wrap="square" lIns="64008" tIns="64008" rIns="64008" bIns="64008" anchor="t">
            <a:spAutoFit/>
          </a:bodyPr>
          <a:lstStyle/>
          <a:p>
            <a:pPr algn="l"/>
            <a:r>
              <a:rPr sz="1400" b="0" dirty="0">
                <a:solidFill>
                  <a:srgbClr val="1E1E1E"/>
                </a:solidFill>
                <a:latin typeface="Aptos"/>
              </a:rPr>
              <a:t>This presentation summarizes EXL’s understanding of the </a:t>
            </a:r>
            <a:r>
              <a:rPr sz="1400" b="0" dirty="0" err="1">
                <a:solidFill>
                  <a:srgbClr val="1E1E1E"/>
                </a:solidFill>
                <a:latin typeface="Aptos"/>
              </a:rPr>
              <a:t>Oakbridge</a:t>
            </a:r>
            <a:r>
              <a:rPr sz="1400" b="0" dirty="0">
                <a:solidFill>
                  <a:srgbClr val="1E1E1E"/>
                </a:solidFill>
                <a:latin typeface="Aptos"/>
              </a:rPr>
              <a:t> application after reviewing the UI, testing the main business flows and checking the code flow. It is meant to support a client discussion and align on system behavior, pain points and next steps.</a:t>
            </a:r>
          </a:p>
        </p:txBody>
      </p:sp>
      <p:sp>
        <p:nvSpPr>
          <p:cNvPr id="32" name="Rounded Rectangle 31"/>
          <p:cNvSpPr/>
          <p:nvPr/>
        </p:nvSpPr>
        <p:spPr>
          <a:xfrm>
            <a:off x="8206740" y="4270248"/>
            <a:ext cx="3429000" cy="1988821"/>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8138160" y="4490705"/>
            <a:ext cx="73152" cy="1508760"/>
          </a:xfrm>
          <a:prstGeom prst="rect">
            <a:avLst/>
          </a:prstGeom>
          <a:solidFill>
            <a:srgbClr val="1F609A"/>
          </a:solidFill>
          <a:ln>
            <a:solidFill>
              <a:srgbClr val="1F60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366760" y="4347658"/>
            <a:ext cx="2971800" cy="320040"/>
          </a:xfrm>
          <a:prstGeom prst="rect">
            <a:avLst/>
          </a:prstGeom>
          <a:noFill/>
        </p:spPr>
        <p:txBody>
          <a:bodyPr wrap="square" lIns="64008" tIns="64008" rIns="64008" bIns="64008" anchor="t">
            <a:spAutoFit/>
          </a:bodyPr>
          <a:lstStyle/>
          <a:p>
            <a:pPr algn="l"/>
            <a:r>
              <a:rPr sz="1400" b="1" dirty="0">
                <a:solidFill>
                  <a:srgbClr val="21324A"/>
                </a:solidFill>
                <a:latin typeface="Aptos"/>
              </a:rPr>
              <a:t>Output expected</a:t>
            </a:r>
          </a:p>
        </p:txBody>
      </p:sp>
      <p:sp>
        <p:nvSpPr>
          <p:cNvPr id="35" name="TextBox 34"/>
          <p:cNvSpPr txBox="1"/>
          <p:nvPr/>
        </p:nvSpPr>
        <p:spPr>
          <a:xfrm>
            <a:off x="8321040" y="4480559"/>
            <a:ext cx="2971800" cy="914399"/>
          </a:xfrm>
          <a:prstGeom prst="rect">
            <a:avLst/>
          </a:prstGeom>
          <a:noFill/>
        </p:spPr>
        <p:txBody>
          <a:bodyPr wrap="square" lIns="64008" tIns="64008" rIns="64008" bIns="64008" anchor="t">
            <a:spAutoFit/>
          </a:bodyPr>
          <a:lstStyle/>
          <a:p>
            <a:pPr algn="l"/>
            <a:r>
              <a:rPr sz="1400" b="0" dirty="0">
                <a:solidFill>
                  <a:srgbClr val="1E1E1E"/>
                </a:solidFill>
                <a:latin typeface="Aptos"/>
              </a:rPr>
              <a:t>A concise, client-ready view of what the application does today, how the frontend/backend/data layers work together, and where enhancements or stabilization may be required.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420624"/>
          </a:xfrm>
          <a:prstGeom prst="rect">
            <a:avLst/>
          </a:prstGeom>
          <a:solidFill>
            <a:srgbClr val="21324A"/>
          </a:solidFill>
          <a:ln>
            <a:solidFill>
              <a:srgbClr val="21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7594"/>
            <a:ext cx="2377440" cy="437043"/>
          </a:xfrm>
          <a:prstGeom prst="rect">
            <a:avLst/>
          </a:prstGeom>
          <a:noFill/>
        </p:spPr>
        <p:txBody>
          <a:bodyPr wrap="square" lIns="64008" tIns="64008" rIns="64008" bIns="64008" anchor="t">
            <a:spAutoFit/>
          </a:bodyPr>
          <a:lstStyle/>
          <a:p>
            <a:pPr algn="l"/>
            <a:r>
              <a:rPr sz="2000" b="1" dirty="0">
                <a:solidFill>
                  <a:srgbClr val="FFFFFF"/>
                </a:solidFill>
                <a:latin typeface="Aptos"/>
              </a:rPr>
              <a:t>VISION</a:t>
            </a:r>
          </a:p>
        </p:txBody>
      </p:sp>
      <p:sp>
        <p:nvSpPr>
          <p:cNvPr id="4" name="TextBox 3"/>
          <p:cNvSpPr txBox="1"/>
          <p:nvPr/>
        </p:nvSpPr>
        <p:spPr>
          <a:xfrm>
            <a:off x="11155680" y="100584"/>
            <a:ext cx="731520" cy="228600"/>
          </a:xfrm>
          <a:prstGeom prst="rect">
            <a:avLst/>
          </a:prstGeom>
          <a:noFill/>
        </p:spPr>
        <p:txBody>
          <a:bodyPr wrap="square" lIns="64008" tIns="64008" rIns="64008" bIns="64008" anchor="t">
            <a:spAutoFit/>
          </a:bodyPr>
          <a:lstStyle/>
          <a:p>
            <a:pPr algn="r"/>
            <a:r>
              <a:rPr sz="1400" b="1">
                <a:solidFill>
                  <a:srgbClr val="F26419"/>
                </a:solidFill>
                <a:latin typeface="Aptos"/>
              </a:rPr>
              <a:t>EXL</a:t>
            </a:r>
          </a:p>
        </p:txBody>
      </p:sp>
      <p:sp>
        <p:nvSpPr>
          <p:cNvPr id="5" name="TextBox 4"/>
          <p:cNvSpPr txBox="1"/>
          <p:nvPr/>
        </p:nvSpPr>
        <p:spPr>
          <a:xfrm>
            <a:off x="502920" y="621792"/>
            <a:ext cx="9509760" cy="438912"/>
          </a:xfrm>
          <a:prstGeom prst="rect">
            <a:avLst/>
          </a:prstGeom>
          <a:noFill/>
        </p:spPr>
        <p:txBody>
          <a:bodyPr wrap="square" lIns="64008" tIns="64008" rIns="64008" bIns="64008" anchor="t">
            <a:spAutoFit/>
          </a:bodyPr>
          <a:lstStyle/>
          <a:p>
            <a:pPr algn="l"/>
            <a:r>
              <a:rPr sz="2300" b="1">
                <a:solidFill>
                  <a:srgbClr val="F26419"/>
                </a:solidFill>
                <a:latin typeface="Aptos"/>
              </a:rPr>
              <a:t>Our understanding of the vision and priorities</a:t>
            </a:r>
          </a:p>
        </p:txBody>
      </p:sp>
      <p:sp>
        <p:nvSpPr>
          <p:cNvPr id="6" name="TextBox 5"/>
          <p:cNvSpPr txBox="1"/>
          <p:nvPr/>
        </p:nvSpPr>
        <p:spPr>
          <a:xfrm>
            <a:off x="521207" y="1024128"/>
            <a:ext cx="10515600" cy="292608"/>
          </a:xfrm>
          <a:prstGeom prst="rect">
            <a:avLst/>
          </a:prstGeom>
          <a:noFill/>
        </p:spPr>
        <p:txBody>
          <a:bodyPr wrap="square" lIns="64008" tIns="64008" rIns="64008" bIns="64008" anchor="t">
            <a:spAutoFit/>
          </a:bodyPr>
          <a:lstStyle/>
          <a:p>
            <a:pPr algn="l"/>
            <a:r>
              <a:rPr sz="1400" b="0">
                <a:solidFill>
                  <a:srgbClr val="5A5A5A"/>
                </a:solidFill>
                <a:latin typeface="Aptos"/>
              </a:rPr>
              <a:t>Oakbridge is positioned as a collaboration and operating rhythm platform that helps teams manage goals, items and decisions in one controlled workspace.</a:t>
            </a:r>
          </a:p>
        </p:txBody>
      </p:sp>
      <p:sp>
        <p:nvSpPr>
          <p:cNvPr id="7" name="TextBox 6"/>
          <p:cNvSpPr txBox="1"/>
          <p:nvPr/>
        </p:nvSpPr>
        <p:spPr>
          <a:xfrm>
            <a:off x="502920" y="6528816"/>
            <a:ext cx="7772400" cy="201168"/>
          </a:xfrm>
          <a:prstGeom prst="rect">
            <a:avLst/>
          </a:prstGeom>
          <a:noFill/>
        </p:spPr>
        <p:txBody>
          <a:bodyPr wrap="square" lIns="64008" tIns="64008" rIns="64008" bIns="64008" anchor="t">
            <a:spAutoFit/>
          </a:bodyPr>
          <a:lstStyle/>
          <a:p>
            <a:pPr algn="l"/>
            <a:r>
              <a:rPr sz="750" b="0">
                <a:solidFill>
                  <a:srgbClr val="5A5A5A"/>
                </a:solidFill>
                <a:latin typeface="Aptos"/>
              </a:rPr>
              <a:t>EXL – Oakbridge Engagement | Our Understanding of Existing System</a:t>
            </a:r>
          </a:p>
        </p:txBody>
      </p:sp>
      <p:sp>
        <p:nvSpPr>
          <p:cNvPr id="8" name="TextBox 7"/>
          <p:cNvSpPr txBox="1"/>
          <p:nvPr/>
        </p:nvSpPr>
        <p:spPr>
          <a:xfrm>
            <a:off x="11475720" y="6528816"/>
            <a:ext cx="320040" cy="201168"/>
          </a:xfrm>
          <a:prstGeom prst="rect">
            <a:avLst/>
          </a:prstGeom>
          <a:noFill/>
        </p:spPr>
        <p:txBody>
          <a:bodyPr wrap="square" lIns="64008" tIns="64008" rIns="64008" bIns="64008" anchor="t">
            <a:spAutoFit/>
          </a:bodyPr>
          <a:lstStyle/>
          <a:p>
            <a:pPr algn="r"/>
            <a:r>
              <a:rPr sz="750" b="0">
                <a:solidFill>
                  <a:srgbClr val="5A5A5A"/>
                </a:solidFill>
                <a:latin typeface="Aptos"/>
              </a:rPr>
              <a:t>3</a:t>
            </a:r>
          </a:p>
        </p:txBody>
      </p:sp>
      <p:sp>
        <p:nvSpPr>
          <p:cNvPr id="9" name="Rectangle 8"/>
          <p:cNvSpPr/>
          <p:nvPr/>
        </p:nvSpPr>
        <p:spPr>
          <a:xfrm>
            <a:off x="502920" y="1556766"/>
            <a:ext cx="11064240" cy="22860"/>
          </a:xfrm>
          <a:prstGeom prst="rect">
            <a:avLst/>
          </a:prstGeom>
          <a:solidFill>
            <a:srgbClr val="DAE0E6"/>
          </a:solidFill>
          <a:ln>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1691640"/>
            <a:ext cx="2377440" cy="274320"/>
          </a:xfrm>
          <a:prstGeom prst="rect">
            <a:avLst/>
          </a:prstGeom>
          <a:noFill/>
        </p:spPr>
        <p:txBody>
          <a:bodyPr wrap="square" lIns="64008" tIns="64008" rIns="64008" bIns="64008" anchor="t">
            <a:spAutoFit/>
          </a:bodyPr>
          <a:lstStyle/>
          <a:p>
            <a:pPr algn="l"/>
            <a:r>
              <a:rPr sz="1400" b="1">
                <a:solidFill>
                  <a:srgbClr val="21324A"/>
                </a:solidFill>
                <a:latin typeface="Aptos"/>
              </a:rPr>
              <a:t>Background</a:t>
            </a:r>
          </a:p>
        </p:txBody>
      </p:sp>
      <p:sp>
        <p:nvSpPr>
          <p:cNvPr id="11" name="TextBox 10"/>
          <p:cNvSpPr txBox="1"/>
          <p:nvPr/>
        </p:nvSpPr>
        <p:spPr>
          <a:xfrm>
            <a:off x="640080" y="2057400"/>
            <a:ext cx="3657600" cy="2803844"/>
          </a:xfrm>
          <a:prstGeom prst="rect">
            <a:avLst/>
          </a:prstGeom>
          <a:noFill/>
        </p:spPr>
        <p:txBody>
          <a:bodyPr wrap="square" lIns="73152" tIns="36576" rIns="45720" bIns="27432">
            <a:spAutoFit/>
          </a:bodyPr>
          <a:lstStyle/>
          <a:p>
            <a:pPr>
              <a:lnSpc>
                <a:spcPct val="100000"/>
              </a:lnSpc>
              <a:spcAft>
                <a:spcPts val="300"/>
              </a:spcAft>
              <a:defRPr sz="919">
                <a:solidFill>
                  <a:srgbClr val="1E1E1E"/>
                </a:solidFill>
                <a:latin typeface="Aptos"/>
              </a:defRPr>
            </a:pPr>
            <a:r>
              <a:rPr sz="1400" dirty="0"/>
              <a:t>• The application provides a structured environment for teams to capture opportunities, obstacles, goals, movements, comments and accountability.</a:t>
            </a:r>
            <a:endParaRPr lang="en-US" sz="1400" dirty="0"/>
          </a:p>
          <a:p>
            <a:pPr>
              <a:lnSpc>
                <a:spcPct val="100000"/>
              </a:lnSpc>
              <a:spcAft>
                <a:spcPts val="300"/>
              </a:spcAft>
              <a:defRPr sz="919">
                <a:solidFill>
                  <a:srgbClr val="1E1E1E"/>
                </a:solidFill>
                <a:latin typeface="Aptos"/>
              </a:defRPr>
            </a:pPr>
            <a:endParaRPr sz="1400" dirty="0"/>
          </a:p>
          <a:p>
            <a:pPr>
              <a:lnSpc>
                <a:spcPct val="100000"/>
              </a:lnSpc>
              <a:spcAft>
                <a:spcPts val="300"/>
              </a:spcAft>
              <a:defRPr sz="919">
                <a:solidFill>
                  <a:srgbClr val="1E1E1E"/>
                </a:solidFill>
                <a:latin typeface="Aptos"/>
              </a:defRPr>
            </a:pPr>
            <a:r>
              <a:rPr sz="1400" dirty="0"/>
              <a:t>• The system is expected to reduce scattered work tracking by centralizing team-level and organization-level information.</a:t>
            </a:r>
            <a:endParaRPr lang="en-US" sz="1400" dirty="0"/>
          </a:p>
          <a:p>
            <a:pPr>
              <a:lnSpc>
                <a:spcPct val="100000"/>
              </a:lnSpc>
              <a:spcAft>
                <a:spcPts val="300"/>
              </a:spcAft>
              <a:defRPr sz="919">
                <a:solidFill>
                  <a:srgbClr val="1E1E1E"/>
                </a:solidFill>
                <a:latin typeface="Aptos"/>
              </a:defRPr>
            </a:pPr>
            <a:endParaRPr sz="1400" dirty="0"/>
          </a:p>
          <a:p>
            <a:pPr>
              <a:lnSpc>
                <a:spcPct val="100000"/>
              </a:lnSpc>
              <a:spcAft>
                <a:spcPts val="300"/>
              </a:spcAft>
              <a:defRPr sz="919">
                <a:solidFill>
                  <a:srgbClr val="1E1E1E"/>
                </a:solidFill>
                <a:latin typeface="Aptos"/>
              </a:defRPr>
            </a:pPr>
            <a:r>
              <a:rPr sz="1400" dirty="0"/>
              <a:t>• The platform supports collaboration through comments, notifications, RACI assignments, ownership and auditability.</a:t>
            </a:r>
          </a:p>
        </p:txBody>
      </p:sp>
      <p:sp>
        <p:nvSpPr>
          <p:cNvPr id="12" name="TextBox 11"/>
          <p:cNvSpPr txBox="1"/>
          <p:nvPr/>
        </p:nvSpPr>
        <p:spPr>
          <a:xfrm>
            <a:off x="4572000" y="1691640"/>
            <a:ext cx="2743200" cy="274320"/>
          </a:xfrm>
          <a:prstGeom prst="rect">
            <a:avLst/>
          </a:prstGeom>
          <a:noFill/>
        </p:spPr>
        <p:txBody>
          <a:bodyPr wrap="square" lIns="64008" tIns="64008" rIns="64008" bIns="64008" anchor="t">
            <a:spAutoFit/>
          </a:bodyPr>
          <a:lstStyle/>
          <a:p>
            <a:pPr algn="l"/>
            <a:r>
              <a:rPr sz="1400" b="1">
                <a:solidFill>
                  <a:srgbClr val="21324A"/>
                </a:solidFill>
                <a:latin typeface="Aptos"/>
              </a:rPr>
              <a:t>Current objectives</a:t>
            </a:r>
          </a:p>
        </p:txBody>
      </p:sp>
      <p:sp>
        <p:nvSpPr>
          <p:cNvPr id="13" name="Oval 12"/>
          <p:cNvSpPr/>
          <p:nvPr/>
        </p:nvSpPr>
        <p:spPr>
          <a:xfrm>
            <a:off x="4572000" y="2075688"/>
            <a:ext cx="320040" cy="320040"/>
          </a:xfrm>
          <a:prstGeom prst="ellipse">
            <a:avLst/>
          </a:prstGeom>
          <a:solidFill>
            <a:srgbClr val="F26419"/>
          </a:solidFill>
          <a:ln>
            <a:solidFill>
              <a:srgbClr val="F2641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rPr sz="1400"/>
              <a:t>1</a:t>
            </a:r>
          </a:p>
        </p:txBody>
      </p:sp>
      <p:sp>
        <p:nvSpPr>
          <p:cNvPr id="14" name="TextBox 13"/>
          <p:cNvSpPr txBox="1"/>
          <p:nvPr/>
        </p:nvSpPr>
        <p:spPr>
          <a:xfrm>
            <a:off x="4983480" y="2029968"/>
            <a:ext cx="6217920" cy="201168"/>
          </a:xfrm>
          <a:prstGeom prst="rect">
            <a:avLst/>
          </a:prstGeom>
          <a:noFill/>
        </p:spPr>
        <p:txBody>
          <a:bodyPr wrap="square" lIns="64008" tIns="64008" rIns="64008" bIns="64008" anchor="t">
            <a:spAutoFit/>
          </a:bodyPr>
          <a:lstStyle/>
          <a:p>
            <a:pPr algn="l"/>
            <a:r>
              <a:rPr sz="1400" b="1">
                <a:solidFill>
                  <a:srgbClr val="21324A"/>
                </a:solidFill>
                <a:latin typeface="Aptos"/>
              </a:rPr>
              <a:t>Centralize execution</a:t>
            </a:r>
          </a:p>
        </p:txBody>
      </p:sp>
      <p:sp>
        <p:nvSpPr>
          <p:cNvPr id="15" name="TextBox 14"/>
          <p:cNvSpPr txBox="1"/>
          <p:nvPr/>
        </p:nvSpPr>
        <p:spPr>
          <a:xfrm>
            <a:off x="4983480" y="2231136"/>
            <a:ext cx="6217920" cy="512064"/>
          </a:xfrm>
          <a:prstGeom prst="rect">
            <a:avLst/>
          </a:prstGeom>
          <a:noFill/>
        </p:spPr>
        <p:txBody>
          <a:bodyPr wrap="square" lIns="64008" tIns="64008" rIns="64008" bIns="64008" anchor="t">
            <a:spAutoFit/>
          </a:bodyPr>
          <a:lstStyle/>
          <a:p>
            <a:pPr algn="l"/>
            <a:r>
              <a:rPr sz="1400" b="0">
                <a:solidFill>
                  <a:srgbClr val="1E1E1E"/>
                </a:solidFill>
                <a:latin typeface="Aptos"/>
              </a:rPr>
              <a:t>Manage goals, team lists, items and to-dos in a common application.</a:t>
            </a:r>
          </a:p>
        </p:txBody>
      </p:sp>
      <p:sp>
        <p:nvSpPr>
          <p:cNvPr id="16" name="Oval 15"/>
          <p:cNvSpPr/>
          <p:nvPr/>
        </p:nvSpPr>
        <p:spPr>
          <a:xfrm>
            <a:off x="4572000" y="2807208"/>
            <a:ext cx="320040" cy="320040"/>
          </a:xfrm>
          <a:prstGeom prst="ellipse">
            <a:avLst/>
          </a:prstGeom>
          <a:solidFill>
            <a:srgbClr val="F26419"/>
          </a:solidFill>
          <a:ln>
            <a:solidFill>
              <a:srgbClr val="F2641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rPr sz="1400"/>
              <a:t>2</a:t>
            </a:r>
          </a:p>
        </p:txBody>
      </p:sp>
      <p:sp>
        <p:nvSpPr>
          <p:cNvPr id="17" name="TextBox 16"/>
          <p:cNvSpPr txBox="1"/>
          <p:nvPr/>
        </p:nvSpPr>
        <p:spPr>
          <a:xfrm>
            <a:off x="4983480" y="2761488"/>
            <a:ext cx="6217920" cy="201168"/>
          </a:xfrm>
          <a:prstGeom prst="rect">
            <a:avLst/>
          </a:prstGeom>
          <a:noFill/>
        </p:spPr>
        <p:txBody>
          <a:bodyPr wrap="square" lIns="64008" tIns="64008" rIns="64008" bIns="64008" anchor="t">
            <a:spAutoFit/>
          </a:bodyPr>
          <a:lstStyle/>
          <a:p>
            <a:pPr algn="l"/>
            <a:r>
              <a:rPr sz="1400" b="1">
                <a:solidFill>
                  <a:srgbClr val="21324A"/>
                </a:solidFill>
                <a:latin typeface="Aptos"/>
              </a:rPr>
              <a:t>Improve visibility</a:t>
            </a:r>
          </a:p>
        </p:txBody>
      </p:sp>
      <p:sp>
        <p:nvSpPr>
          <p:cNvPr id="18" name="TextBox 17"/>
          <p:cNvSpPr txBox="1"/>
          <p:nvPr/>
        </p:nvSpPr>
        <p:spPr>
          <a:xfrm>
            <a:off x="4983480" y="2962656"/>
            <a:ext cx="6217920" cy="512064"/>
          </a:xfrm>
          <a:prstGeom prst="rect">
            <a:avLst/>
          </a:prstGeom>
          <a:noFill/>
        </p:spPr>
        <p:txBody>
          <a:bodyPr wrap="square" lIns="64008" tIns="64008" rIns="64008" bIns="64008" anchor="t">
            <a:spAutoFit/>
          </a:bodyPr>
          <a:lstStyle/>
          <a:p>
            <a:pPr algn="l"/>
            <a:r>
              <a:rPr sz="1400" b="0">
                <a:solidFill>
                  <a:srgbClr val="1E1E1E"/>
                </a:solidFill>
                <a:latin typeface="Aptos"/>
              </a:rPr>
              <a:t>Provide dashboards, scorecards, team statistics and leaderboards for management review.</a:t>
            </a:r>
          </a:p>
        </p:txBody>
      </p:sp>
      <p:sp>
        <p:nvSpPr>
          <p:cNvPr id="19" name="Oval 18"/>
          <p:cNvSpPr/>
          <p:nvPr/>
        </p:nvSpPr>
        <p:spPr>
          <a:xfrm>
            <a:off x="4572000" y="3538728"/>
            <a:ext cx="320040" cy="320040"/>
          </a:xfrm>
          <a:prstGeom prst="ellipse">
            <a:avLst/>
          </a:prstGeom>
          <a:solidFill>
            <a:srgbClr val="F26419"/>
          </a:solidFill>
          <a:ln>
            <a:solidFill>
              <a:srgbClr val="F2641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rPr sz="1400"/>
              <a:t>3</a:t>
            </a:r>
          </a:p>
        </p:txBody>
      </p:sp>
      <p:sp>
        <p:nvSpPr>
          <p:cNvPr id="20" name="TextBox 19"/>
          <p:cNvSpPr txBox="1"/>
          <p:nvPr/>
        </p:nvSpPr>
        <p:spPr>
          <a:xfrm>
            <a:off x="4983480" y="3493008"/>
            <a:ext cx="6217920" cy="201168"/>
          </a:xfrm>
          <a:prstGeom prst="rect">
            <a:avLst/>
          </a:prstGeom>
          <a:noFill/>
        </p:spPr>
        <p:txBody>
          <a:bodyPr wrap="square" lIns="64008" tIns="64008" rIns="64008" bIns="64008" anchor="t">
            <a:spAutoFit/>
          </a:bodyPr>
          <a:lstStyle/>
          <a:p>
            <a:pPr algn="l"/>
            <a:r>
              <a:rPr sz="1400" b="1">
                <a:solidFill>
                  <a:srgbClr val="21324A"/>
                </a:solidFill>
                <a:latin typeface="Aptos"/>
              </a:rPr>
              <a:t>Strengthen control</a:t>
            </a:r>
          </a:p>
        </p:txBody>
      </p:sp>
      <p:sp>
        <p:nvSpPr>
          <p:cNvPr id="21" name="TextBox 20"/>
          <p:cNvSpPr txBox="1"/>
          <p:nvPr/>
        </p:nvSpPr>
        <p:spPr>
          <a:xfrm>
            <a:off x="4983480" y="3694176"/>
            <a:ext cx="6217920" cy="512064"/>
          </a:xfrm>
          <a:prstGeom prst="rect">
            <a:avLst/>
          </a:prstGeom>
          <a:noFill/>
        </p:spPr>
        <p:txBody>
          <a:bodyPr wrap="square" lIns="64008" tIns="64008" rIns="64008" bIns="64008" anchor="t">
            <a:spAutoFit/>
          </a:bodyPr>
          <a:lstStyle/>
          <a:p>
            <a:pPr algn="l"/>
            <a:r>
              <a:rPr sz="1400" b="0">
                <a:solidFill>
                  <a:srgbClr val="1E1E1E"/>
                </a:solidFill>
                <a:latin typeface="Aptos"/>
              </a:rPr>
              <a:t>Use role-based access, ownership checks and audit history to control sensitive changes.</a:t>
            </a:r>
          </a:p>
        </p:txBody>
      </p:sp>
      <p:sp>
        <p:nvSpPr>
          <p:cNvPr id="22" name="Oval 21"/>
          <p:cNvSpPr/>
          <p:nvPr/>
        </p:nvSpPr>
        <p:spPr>
          <a:xfrm>
            <a:off x="4572000" y="4270248"/>
            <a:ext cx="320040" cy="320040"/>
          </a:xfrm>
          <a:prstGeom prst="ellipse">
            <a:avLst/>
          </a:prstGeom>
          <a:solidFill>
            <a:srgbClr val="F26419"/>
          </a:solidFill>
          <a:ln>
            <a:solidFill>
              <a:srgbClr val="F2641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rPr sz="1400"/>
              <a:t>4</a:t>
            </a:r>
          </a:p>
        </p:txBody>
      </p:sp>
      <p:sp>
        <p:nvSpPr>
          <p:cNvPr id="23" name="TextBox 22"/>
          <p:cNvSpPr txBox="1"/>
          <p:nvPr/>
        </p:nvSpPr>
        <p:spPr>
          <a:xfrm>
            <a:off x="4983480" y="4224528"/>
            <a:ext cx="6217920" cy="201168"/>
          </a:xfrm>
          <a:prstGeom prst="rect">
            <a:avLst/>
          </a:prstGeom>
          <a:noFill/>
        </p:spPr>
        <p:txBody>
          <a:bodyPr wrap="square" lIns="64008" tIns="64008" rIns="64008" bIns="64008" anchor="t">
            <a:spAutoFit/>
          </a:bodyPr>
          <a:lstStyle/>
          <a:p>
            <a:pPr algn="l"/>
            <a:r>
              <a:rPr sz="1400" b="1">
                <a:solidFill>
                  <a:srgbClr val="21324A"/>
                </a:solidFill>
                <a:latin typeface="Aptos"/>
              </a:rPr>
              <a:t>Enable collaboration</a:t>
            </a:r>
          </a:p>
        </p:txBody>
      </p:sp>
      <p:sp>
        <p:nvSpPr>
          <p:cNvPr id="24" name="TextBox 23"/>
          <p:cNvSpPr txBox="1"/>
          <p:nvPr/>
        </p:nvSpPr>
        <p:spPr>
          <a:xfrm>
            <a:off x="4983480" y="4425696"/>
            <a:ext cx="6217920" cy="512064"/>
          </a:xfrm>
          <a:prstGeom prst="rect">
            <a:avLst/>
          </a:prstGeom>
          <a:noFill/>
        </p:spPr>
        <p:txBody>
          <a:bodyPr wrap="square" lIns="64008" tIns="64008" rIns="64008" bIns="64008" anchor="t">
            <a:spAutoFit/>
          </a:bodyPr>
          <a:lstStyle/>
          <a:p>
            <a:pPr algn="l"/>
            <a:r>
              <a:rPr sz="1400" b="0">
                <a:solidFill>
                  <a:srgbClr val="1E1E1E"/>
                </a:solidFill>
                <a:latin typeface="Aptos"/>
              </a:rPr>
              <a:t>Allow comments, notifications and movement history so teams can track progress.</a:t>
            </a:r>
          </a:p>
        </p:txBody>
      </p:sp>
      <p:sp>
        <p:nvSpPr>
          <p:cNvPr id="25" name="Rounded Rectangle 24"/>
          <p:cNvSpPr/>
          <p:nvPr/>
        </p:nvSpPr>
        <p:spPr>
          <a:xfrm>
            <a:off x="640080" y="5046280"/>
            <a:ext cx="10789920" cy="960120"/>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12646" y="5046280"/>
            <a:ext cx="73152" cy="960120"/>
          </a:xfrm>
          <a:prstGeom prst="rect">
            <a:avLst/>
          </a:prstGeom>
          <a:solidFill>
            <a:srgbClr val="F26419"/>
          </a:solidFill>
          <a:ln>
            <a:solidFill>
              <a:srgbClr val="F2641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36676" y="5049774"/>
            <a:ext cx="10469880" cy="320040"/>
          </a:xfrm>
          <a:prstGeom prst="rect">
            <a:avLst/>
          </a:prstGeom>
          <a:noFill/>
        </p:spPr>
        <p:txBody>
          <a:bodyPr wrap="square" lIns="64008" tIns="64008" rIns="64008" bIns="64008" anchor="t">
            <a:spAutoFit/>
          </a:bodyPr>
          <a:lstStyle/>
          <a:p>
            <a:pPr algn="l"/>
            <a:r>
              <a:rPr sz="1400" b="1">
                <a:solidFill>
                  <a:srgbClr val="21324A"/>
                </a:solidFill>
                <a:latin typeface="Aptos"/>
              </a:rPr>
              <a:t>EXL interpretation</a:t>
            </a:r>
          </a:p>
        </p:txBody>
      </p:sp>
      <p:sp>
        <p:nvSpPr>
          <p:cNvPr id="28" name="TextBox 27"/>
          <p:cNvSpPr txBox="1"/>
          <p:nvPr/>
        </p:nvSpPr>
        <p:spPr>
          <a:xfrm>
            <a:off x="822959" y="5349240"/>
            <a:ext cx="10469880" cy="365760"/>
          </a:xfrm>
          <a:prstGeom prst="rect">
            <a:avLst/>
          </a:prstGeom>
          <a:noFill/>
        </p:spPr>
        <p:txBody>
          <a:bodyPr wrap="square" lIns="64008" tIns="64008" rIns="64008" bIns="64008" anchor="t">
            <a:spAutoFit/>
          </a:bodyPr>
          <a:lstStyle/>
          <a:p>
            <a:pPr algn="l"/>
            <a:r>
              <a:rPr sz="1400" b="0">
                <a:solidFill>
                  <a:srgbClr val="1E1E1E"/>
                </a:solidFill>
                <a:latin typeface="Aptos"/>
              </a:rPr>
              <a:t>The application is not only a task tracker. It is an operating model tool that links strategy, execution, accountability and reporting across teams.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
            <a:ext cx="12191695" cy="521209"/>
          </a:xfrm>
          <a:prstGeom prst="rect">
            <a:avLst/>
          </a:prstGeom>
          <a:solidFill>
            <a:srgbClr val="21324A"/>
          </a:solidFill>
          <a:ln>
            <a:solidFill>
              <a:srgbClr val="21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04800" y="47236"/>
            <a:ext cx="2377440" cy="437043"/>
          </a:xfrm>
          <a:prstGeom prst="rect">
            <a:avLst/>
          </a:prstGeom>
          <a:noFill/>
        </p:spPr>
        <p:txBody>
          <a:bodyPr wrap="square" lIns="64008" tIns="64008" rIns="64008" bIns="64008" anchor="t">
            <a:spAutoFit/>
          </a:bodyPr>
          <a:lstStyle/>
          <a:p>
            <a:pPr algn="l"/>
            <a:r>
              <a:rPr sz="2000" b="1" dirty="0">
                <a:solidFill>
                  <a:srgbClr val="FFFFFF"/>
                </a:solidFill>
                <a:latin typeface="Aptos"/>
              </a:rPr>
              <a:t>ARCHITECTURE</a:t>
            </a:r>
          </a:p>
        </p:txBody>
      </p:sp>
      <p:sp>
        <p:nvSpPr>
          <p:cNvPr id="4" name="TextBox 3"/>
          <p:cNvSpPr txBox="1"/>
          <p:nvPr/>
        </p:nvSpPr>
        <p:spPr>
          <a:xfrm>
            <a:off x="11155680" y="100584"/>
            <a:ext cx="731520" cy="228600"/>
          </a:xfrm>
          <a:prstGeom prst="rect">
            <a:avLst/>
          </a:prstGeom>
          <a:noFill/>
        </p:spPr>
        <p:txBody>
          <a:bodyPr wrap="square" lIns="64008" tIns="64008" rIns="64008" bIns="64008" anchor="t">
            <a:spAutoFit/>
          </a:bodyPr>
          <a:lstStyle/>
          <a:p>
            <a:pPr algn="r"/>
            <a:r>
              <a:rPr sz="1400" b="1">
                <a:solidFill>
                  <a:srgbClr val="F26419"/>
                </a:solidFill>
                <a:latin typeface="Aptos"/>
              </a:rPr>
              <a:t>EXL</a:t>
            </a:r>
          </a:p>
        </p:txBody>
      </p:sp>
      <p:sp>
        <p:nvSpPr>
          <p:cNvPr id="5" name="TextBox 4"/>
          <p:cNvSpPr txBox="1"/>
          <p:nvPr/>
        </p:nvSpPr>
        <p:spPr>
          <a:xfrm>
            <a:off x="411479" y="469396"/>
            <a:ext cx="9509760" cy="438912"/>
          </a:xfrm>
          <a:prstGeom prst="rect">
            <a:avLst/>
          </a:prstGeom>
          <a:noFill/>
        </p:spPr>
        <p:txBody>
          <a:bodyPr wrap="square" lIns="64008" tIns="64008" rIns="64008" bIns="64008" anchor="t">
            <a:spAutoFit/>
          </a:bodyPr>
          <a:lstStyle/>
          <a:p>
            <a:pPr algn="l"/>
            <a:r>
              <a:rPr sz="2300" b="1" dirty="0">
                <a:solidFill>
                  <a:srgbClr val="F26419"/>
                </a:solidFill>
                <a:latin typeface="Aptos"/>
              </a:rPr>
              <a:t>Existing application landscape</a:t>
            </a:r>
          </a:p>
        </p:txBody>
      </p:sp>
      <p:sp>
        <p:nvSpPr>
          <p:cNvPr id="6" name="TextBox 5"/>
          <p:cNvSpPr txBox="1"/>
          <p:nvPr/>
        </p:nvSpPr>
        <p:spPr>
          <a:xfrm>
            <a:off x="566928" y="869151"/>
            <a:ext cx="10515600" cy="292608"/>
          </a:xfrm>
          <a:prstGeom prst="rect">
            <a:avLst/>
          </a:prstGeom>
          <a:noFill/>
        </p:spPr>
        <p:txBody>
          <a:bodyPr wrap="square" lIns="64008" tIns="64008" rIns="64008" bIns="64008" anchor="t">
            <a:spAutoFit/>
          </a:bodyPr>
          <a:lstStyle/>
          <a:p>
            <a:pPr algn="l"/>
            <a:r>
              <a:rPr sz="1400" b="0" dirty="0">
                <a:solidFill>
                  <a:srgbClr val="5A5A5A"/>
                </a:solidFill>
                <a:latin typeface="Aptos"/>
              </a:rPr>
              <a:t>The system is built as a Next.js application with UI modules, API routes, reusable services, authentication helpers and </a:t>
            </a:r>
            <a:r>
              <a:rPr sz="1400" b="0" dirty="0" err="1">
                <a:solidFill>
                  <a:srgbClr val="5A5A5A"/>
                </a:solidFill>
                <a:latin typeface="Aptos"/>
              </a:rPr>
              <a:t>Supabase</a:t>
            </a:r>
            <a:r>
              <a:rPr sz="1400" b="0" dirty="0">
                <a:solidFill>
                  <a:srgbClr val="5A5A5A"/>
                </a:solidFill>
                <a:latin typeface="Aptos"/>
              </a:rPr>
              <a:t> as the data platform.</a:t>
            </a:r>
          </a:p>
        </p:txBody>
      </p:sp>
      <p:sp>
        <p:nvSpPr>
          <p:cNvPr id="7" name="TextBox 6"/>
          <p:cNvSpPr txBox="1"/>
          <p:nvPr/>
        </p:nvSpPr>
        <p:spPr>
          <a:xfrm>
            <a:off x="502920" y="6528816"/>
            <a:ext cx="7772400" cy="201168"/>
          </a:xfrm>
          <a:prstGeom prst="rect">
            <a:avLst/>
          </a:prstGeom>
          <a:noFill/>
        </p:spPr>
        <p:txBody>
          <a:bodyPr wrap="square" lIns="64008" tIns="64008" rIns="64008" bIns="64008" anchor="t">
            <a:spAutoFit/>
          </a:bodyPr>
          <a:lstStyle/>
          <a:p>
            <a:pPr algn="l"/>
            <a:r>
              <a:rPr sz="750" b="0">
                <a:solidFill>
                  <a:srgbClr val="5A5A5A"/>
                </a:solidFill>
                <a:latin typeface="Aptos"/>
              </a:rPr>
              <a:t>EXL – Oakbridge Engagement | Our Understanding of Existing System</a:t>
            </a:r>
          </a:p>
        </p:txBody>
      </p:sp>
      <p:sp>
        <p:nvSpPr>
          <p:cNvPr id="8" name="TextBox 7"/>
          <p:cNvSpPr txBox="1"/>
          <p:nvPr/>
        </p:nvSpPr>
        <p:spPr>
          <a:xfrm>
            <a:off x="11475720" y="6528816"/>
            <a:ext cx="320040" cy="201168"/>
          </a:xfrm>
          <a:prstGeom prst="rect">
            <a:avLst/>
          </a:prstGeom>
          <a:noFill/>
        </p:spPr>
        <p:txBody>
          <a:bodyPr wrap="square" lIns="64008" tIns="64008" rIns="64008" bIns="64008" anchor="t">
            <a:spAutoFit/>
          </a:bodyPr>
          <a:lstStyle/>
          <a:p>
            <a:pPr algn="r"/>
            <a:r>
              <a:rPr sz="750" b="0">
                <a:solidFill>
                  <a:srgbClr val="5A5A5A"/>
                </a:solidFill>
                <a:latin typeface="Aptos"/>
              </a:rPr>
              <a:t>4</a:t>
            </a:r>
          </a:p>
        </p:txBody>
      </p:sp>
      <p:sp>
        <p:nvSpPr>
          <p:cNvPr id="9" name="Rectangle 8"/>
          <p:cNvSpPr/>
          <p:nvPr/>
        </p:nvSpPr>
        <p:spPr>
          <a:xfrm>
            <a:off x="502920" y="1344168"/>
            <a:ext cx="11064240" cy="22860"/>
          </a:xfrm>
          <a:prstGeom prst="rect">
            <a:avLst/>
          </a:prstGeom>
          <a:solidFill>
            <a:srgbClr val="DAE0E6"/>
          </a:solidFill>
          <a:ln>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31520" y="1554480"/>
            <a:ext cx="5120640" cy="731520"/>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 y="1554480"/>
            <a:ext cx="73152" cy="566928"/>
          </a:xfrm>
          <a:prstGeom prst="rect">
            <a:avLst/>
          </a:prstGeom>
          <a:solidFill>
            <a:srgbClr val="F26419"/>
          </a:solidFill>
          <a:ln>
            <a:solidFill>
              <a:srgbClr val="F2641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1716434"/>
            <a:ext cx="4800599" cy="320040"/>
          </a:xfrm>
          <a:prstGeom prst="rect">
            <a:avLst/>
          </a:prstGeom>
          <a:noFill/>
        </p:spPr>
        <p:txBody>
          <a:bodyPr wrap="square" lIns="64008" tIns="64008" rIns="64008" bIns="64008" anchor="t">
            <a:spAutoFit/>
          </a:bodyPr>
          <a:lstStyle/>
          <a:p>
            <a:pPr algn="l"/>
            <a:r>
              <a:rPr sz="1400" b="1">
                <a:solidFill>
                  <a:srgbClr val="21324A"/>
                </a:solidFill>
                <a:latin typeface="Aptos"/>
              </a:rPr>
              <a:t>User Experience</a:t>
            </a:r>
          </a:p>
        </p:txBody>
      </p:sp>
      <p:sp>
        <p:nvSpPr>
          <p:cNvPr id="13" name="TextBox 12"/>
          <p:cNvSpPr txBox="1"/>
          <p:nvPr/>
        </p:nvSpPr>
        <p:spPr>
          <a:xfrm>
            <a:off x="914400" y="2057400"/>
            <a:ext cx="4800600" cy="0"/>
          </a:xfrm>
          <a:prstGeom prst="rect">
            <a:avLst/>
          </a:prstGeom>
          <a:noFill/>
        </p:spPr>
        <p:txBody>
          <a:bodyPr wrap="square" lIns="64008" tIns="64008" rIns="64008" bIns="64008" anchor="t">
            <a:spAutoFit/>
          </a:bodyPr>
          <a:lstStyle/>
          <a:p>
            <a:pPr algn="l"/>
            <a:r>
              <a:rPr sz="1400" b="0">
                <a:solidFill>
                  <a:srgbClr val="1E1E1E"/>
                </a:solidFill>
                <a:latin typeface="Aptos"/>
              </a:rPr>
              <a:t>Dashboard, Vision, Goals, My Items, Teams, Shared</a:t>
            </a:r>
          </a:p>
        </p:txBody>
      </p:sp>
      <p:sp>
        <p:nvSpPr>
          <p:cNvPr id="14" name="Rounded Rectangle 13"/>
          <p:cNvSpPr/>
          <p:nvPr/>
        </p:nvSpPr>
        <p:spPr>
          <a:xfrm>
            <a:off x="731520" y="2427733"/>
            <a:ext cx="5093208" cy="749995"/>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31520" y="2441448"/>
            <a:ext cx="73152" cy="566928"/>
          </a:xfrm>
          <a:prstGeom prst="rect">
            <a:avLst/>
          </a:prstGeom>
          <a:solidFill>
            <a:srgbClr val="1F609A"/>
          </a:solidFill>
          <a:ln>
            <a:solidFill>
              <a:srgbClr val="1F60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4400" y="2404872"/>
            <a:ext cx="4800599" cy="320040"/>
          </a:xfrm>
          <a:prstGeom prst="rect">
            <a:avLst/>
          </a:prstGeom>
          <a:noFill/>
        </p:spPr>
        <p:txBody>
          <a:bodyPr wrap="square" lIns="64008" tIns="64008" rIns="64008" bIns="64008" anchor="t">
            <a:spAutoFit/>
          </a:bodyPr>
          <a:lstStyle/>
          <a:p>
            <a:pPr algn="l"/>
            <a:r>
              <a:rPr sz="1400" b="1">
                <a:solidFill>
                  <a:srgbClr val="21324A"/>
                </a:solidFill>
                <a:latin typeface="Aptos"/>
              </a:rPr>
              <a:t>Frontend Modules</a:t>
            </a:r>
          </a:p>
        </p:txBody>
      </p:sp>
      <p:sp>
        <p:nvSpPr>
          <p:cNvPr id="17" name="TextBox 16"/>
          <p:cNvSpPr txBox="1"/>
          <p:nvPr/>
        </p:nvSpPr>
        <p:spPr>
          <a:xfrm>
            <a:off x="914400" y="2788920"/>
            <a:ext cx="4800600" cy="0"/>
          </a:xfrm>
          <a:prstGeom prst="rect">
            <a:avLst/>
          </a:prstGeom>
          <a:noFill/>
        </p:spPr>
        <p:txBody>
          <a:bodyPr wrap="square" lIns="64008" tIns="64008" rIns="64008" bIns="64008" anchor="t">
            <a:spAutoFit/>
          </a:bodyPr>
          <a:lstStyle/>
          <a:p>
            <a:pPr algn="l"/>
            <a:r>
              <a:rPr sz="1400" b="0" dirty="0">
                <a:solidFill>
                  <a:srgbClr val="1E1E1E"/>
                </a:solidFill>
                <a:latin typeface="Aptos"/>
              </a:rPr>
              <a:t>React pages, UI components, context providers and client-side services</a:t>
            </a:r>
          </a:p>
        </p:txBody>
      </p:sp>
      <p:sp>
        <p:nvSpPr>
          <p:cNvPr id="18" name="Rounded Rectangle 17"/>
          <p:cNvSpPr/>
          <p:nvPr/>
        </p:nvSpPr>
        <p:spPr>
          <a:xfrm>
            <a:off x="731520" y="3313244"/>
            <a:ext cx="5120640" cy="731519"/>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89143" y="3354617"/>
            <a:ext cx="73152" cy="566928"/>
          </a:xfrm>
          <a:prstGeom prst="rect">
            <a:avLst/>
          </a:prstGeom>
          <a:solidFill>
            <a:srgbClr val="0097A7"/>
          </a:solidFill>
          <a:ln>
            <a:solidFill>
              <a:srgbClr val="009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4400" y="3249939"/>
            <a:ext cx="4800599" cy="320040"/>
          </a:xfrm>
          <a:prstGeom prst="rect">
            <a:avLst/>
          </a:prstGeom>
          <a:noFill/>
        </p:spPr>
        <p:txBody>
          <a:bodyPr wrap="square" lIns="64008" tIns="64008" rIns="64008" bIns="64008" anchor="t">
            <a:spAutoFit/>
          </a:bodyPr>
          <a:lstStyle/>
          <a:p>
            <a:pPr algn="l"/>
            <a:r>
              <a:rPr sz="1400" b="1" dirty="0">
                <a:solidFill>
                  <a:srgbClr val="21324A"/>
                </a:solidFill>
                <a:latin typeface="Aptos"/>
              </a:rPr>
              <a:t>Service Layer</a:t>
            </a:r>
          </a:p>
        </p:txBody>
      </p:sp>
      <p:sp>
        <p:nvSpPr>
          <p:cNvPr id="21" name="TextBox 20"/>
          <p:cNvSpPr txBox="1"/>
          <p:nvPr/>
        </p:nvSpPr>
        <p:spPr>
          <a:xfrm>
            <a:off x="914400" y="3520439"/>
            <a:ext cx="4800600" cy="0"/>
          </a:xfrm>
          <a:prstGeom prst="rect">
            <a:avLst/>
          </a:prstGeom>
          <a:noFill/>
        </p:spPr>
        <p:txBody>
          <a:bodyPr wrap="square" lIns="64008" tIns="64008" rIns="64008" bIns="64008" anchor="t">
            <a:spAutoFit/>
          </a:bodyPr>
          <a:lstStyle/>
          <a:p>
            <a:pPr algn="l"/>
            <a:r>
              <a:rPr sz="1400" b="0">
                <a:solidFill>
                  <a:srgbClr val="1E1E1E"/>
                </a:solidFill>
                <a:latin typeface="Aptos"/>
              </a:rPr>
              <a:t>DataService, fetchWithAuth, notification and mapping utilities</a:t>
            </a:r>
          </a:p>
        </p:txBody>
      </p:sp>
      <p:sp>
        <p:nvSpPr>
          <p:cNvPr id="22" name="Rounded Rectangle 21"/>
          <p:cNvSpPr/>
          <p:nvPr/>
        </p:nvSpPr>
        <p:spPr>
          <a:xfrm>
            <a:off x="704088" y="4129872"/>
            <a:ext cx="5120640" cy="959118"/>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90491" y="4215382"/>
            <a:ext cx="73152" cy="566928"/>
          </a:xfrm>
          <a:prstGeom prst="rect">
            <a:avLst/>
          </a:prstGeom>
          <a:solidFill>
            <a:srgbClr val="724BA8"/>
          </a:solidFill>
          <a:ln>
            <a:solidFill>
              <a:srgbClr val="724B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91540" y="4190527"/>
            <a:ext cx="4800599" cy="320040"/>
          </a:xfrm>
          <a:prstGeom prst="rect">
            <a:avLst/>
          </a:prstGeom>
          <a:noFill/>
        </p:spPr>
        <p:txBody>
          <a:bodyPr wrap="square" lIns="64008" tIns="64008" rIns="64008" bIns="64008" anchor="t">
            <a:spAutoFit/>
          </a:bodyPr>
          <a:lstStyle/>
          <a:p>
            <a:pPr algn="l"/>
            <a:r>
              <a:rPr sz="1400" b="1" dirty="0">
                <a:solidFill>
                  <a:srgbClr val="21324A"/>
                </a:solidFill>
                <a:latin typeface="Aptos"/>
              </a:rPr>
              <a:t>API Layer</a:t>
            </a:r>
          </a:p>
        </p:txBody>
      </p:sp>
      <p:sp>
        <p:nvSpPr>
          <p:cNvPr id="25" name="TextBox 24"/>
          <p:cNvSpPr txBox="1"/>
          <p:nvPr/>
        </p:nvSpPr>
        <p:spPr>
          <a:xfrm>
            <a:off x="914400" y="4251960"/>
            <a:ext cx="4800600" cy="775597"/>
          </a:xfrm>
          <a:prstGeom prst="rect">
            <a:avLst/>
          </a:prstGeom>
          <a:noFill/>
        </p:spPr>
        <p:txBody>
          <a:bodyPr wrap="square" lIns="64008" tIns="64008" rIns="64008" bIns="64008" anchor="t">
            <a:spAutoFit/>
          </a:bodyPr>
          <a:lstStyle/>
          <a:p>
            <a:pPr algn="l"/>
            <a:endParaRPr lang="en-US" sz="1400" b="0" dirty="0">
              <a:solidFill>
                <a:srgbClr val="1E1E1E"/>
              </a:solidFill>
              <a:latin typeface="Aptos"/>
            </a:endParaRPr>
          </a:p>
          <a:p>
            <a:pPr algn="l"/>
            <a:r>
              <a:rPr sz="1400" b="0" dirty="0">
                <a:solidFill>
                  <a:srgbClr val="1E1E1E"/>
                </a:solidFill>
                <a:latin typeface="Aptos"/>
              </a:rPr>
              <a:t>Next.js </a:t>
            </a:r>
            <a:r>
              <a:rPr sz="1400" b="0" dirty="0" err="1">
                <a:solidFill>
                  <a:srgbClr val="1E1E1E"/>
                </a:solidFill>
                <a:latin typeface="Aptos"/>
              </a:rPr>
              <a:t>route.ts</a:t>
            </a:r>
            <a:r>
              <a:rPr sz="1400" b="0" dirty="0">
                <a:solidFill>
                  <a:srgbClr val="1E1E1E"/>
                </a:solidFill>
                <a:latin typeface="Aptos"/>
              </a:rPr>
              <a:t> handlers for GET, POST, PUT/PATCH and DELETE</a:t>
            </a:r>
          </a:p>
        </p:txBody>
      </p:sp>
      <p:sp>
        <p:nvSpPr>
          <p:cNvPr id="26" name="Rounded Rectangle 25"/>
          <p:cNvSpPr/>
          <p:nvPr/>
        </p:nvSpPr>
        <p:spPr>
          <a:xfrm>
            <a:off x="731520" y="5248654"/>
            <a:ext cx="5059682" cy="1115570"/>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a:p>
            <a:pPr algn="ctr"/>
            <a:endParaRPr lang="en-IN" dirty="0"/>
          </a:p>
          <a:p>
            <a:r>
              <a:rPr lang="en-US" sz="1400" dirty="0" err="1">
                <a:solidFill>
                  <a:srgbClr val="1E1E1E"/>
                </a:solidFill>
                <a:latin typeface="Aptos"/>
              </a:rPr>
              <a:t>Supabase</a:t>
            </a:r>
            <a:r>
              <a:rPr lang="en-US" sz="1400" dirty="0">
                <a:solidFill>
                  <a:srgbClr val="1E1E1E"/>
                </a:solidFill>
                <a:latin typeface="Aptos"/>
              </a:rPr>
              <a:t> tables, RLS/security policies, RPC functions and storage</a:t>
            </a:r>
          </a:p>
          <a:p>
            <a:pPr algn="ctr"/>
            <a:endParaRPr lang="en-IN" dirty="0"/>
          </a:p>
        </p:txBody>
      </p:sp>
      <p:sp>
        <p:nvSpPr>
          <p:cNvPr id="27" name="Rectangle 26"/>
          <p:cNvSpPr/>
          <p:nvPr/>
        </p:nvSpPr>
        <p:spPr>
          <a:xfrm>
            <a:off x="665872" y="5381244"/>
            <a:ext cx="77957" cy="608076"/>
          </a:xfrm>
          <a:prstGeom prst="rect">
            <a:avLst/>
          </a:prstGeom>
          <a:solidFill>
            <a:srgbClr val="21324A"/>
          </a:solidFill>
          <a:ln>
            <a:solidFill>
              <a:srgbClr val="21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00101" y="5318992"/>
            <a:ext cx="4800599" cy="320040"/>
          </a:xfrm>
          <a:prstGeom prst="rect">
            <a:avLst/>
          </a:prstGeom>
          <a:noFill/>
        </p:spPr>
        <p:txBody>
          <a:bodyPr wrap="square" lIns="64008" tIns="64008" rIns="64008" bIns="64008" anchor="t">
            <a:spAutoFit/>
          </a:bodyPr>
          <a:lstStyle/>
          <a:p>
            <a:pPr algn="l"/>
            <a:r>
              <a:rPr sz="1400" b="1" dirty="0">
                <a:solidFill>
                  <a:srgbClr val="21324A"/>
                </a:solidFill>
                <a:latin typeface="Aptos"/>
              </a:rPr>
              <a:t>Data Platform</a:t>
            </a:r>
          </a:p>
        </p:txBody>
      </p:sp>
      <p:sp>
        <p:nvSpPr>
          <p:cNvPr id="30" name="TextBox 29"/>
          <p:cNvSpPr txBox="1"/>
          <p:nvPr/>
        </p:nvSpPr>
        <p:spPr>
          <a:xfrm>
            <a:off x="6400800" y="1508760"/>
            <a:ext cx="3200400" cy="228600"/>
          </a:xfrm>
          <a:prstGeom prst="rect">
            <a:avLst/>
          </a:prstGeom>
          <a:noFill/>
        </p:spPr>
        <p:txBody>
          <a:bodyPr wrap="square" lIns="64008" tIns="64008" rIns="64008" bIns="64008" anchor="t">
            <a:spAutoFit/>
          </a:bodyPr>
          <a:lstStyle/>
          <a:p>
            <a:pPr algn="l"/>
            <a:r>
              <a:rPr sz="1400" b="1">
                <a:solidFill>
                  <a:srgbClr val="21324A"/>
                </a:solidFill>
                <a:latin typeface="Aptos"/>
              </a:rPr>
              <a:t>High-level system flow</a:t>
            </a:r>
          </a:p>
        </p:txBody>
      </p:sp>
      <p:sp>
        <p:nvSpPr>
          <p:cNvPr id="31" name="Rounded Rectangle 30"/>
          <p:cNvSpPr/>
          <p:nvPr/>
        </p:nvSpPr>
        <p:spPr>
          <a:xfrm>
            <a:off x="6400800" y="1965960"/>
            <a:ext cx="716280" cy="548640"/>
          </a:xfrm>
          <a:prstGeom prst="roundRect">
            <a:avLst/>
          </a:prstGeom>
          <a:solidFill>
            <a:srgbClr val="F26419"/>
          </a:solidFill>
          <a:ln>
            <a:solidFill>
              <a:srgbClr val="F26419"/>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750" b="1">
                <a:solidFill>
                  <a:srgbClr val="FFFFFF"/>
                </a:solidFill>
              </a:defRPr>
            </a:pPr>
            <a:r>
              <a:rPr sz="1400"/>
              <a:t>User</a:t>
            </a:r>
          </a:p>
        </p:txBody>
      </p:sp>
      <p:cxnSp>
        <p:nvCxnSpPr>
          <p:cNvPr id="32" name="Connector 31"/>
          <p:cNvCxnSpPr/>
          <p:nvPr/>
        </p:nvCxnSpPr>
        <p:spPr>
          <a:xfrm>
            <a:off x="7117080" y="2240279"/>
            <a:ext cx="109728" cy="0"/>
          </a:xfrm>
          <a:prstGeom prst="line">
            <a:avLst/>
          </a:prstGeom>
          <a:ln w="19050">
            <a:solidFill>
              <a:srgbClr val="F26419"/>
            </a:solidFill>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7226808" y="1965960"/>
            <a:ext cx="716280" cy="548640"/>
          </a:xfrm>
          <a:prstGeom prst="roundRect">
            <a:avLst/>
          </a:prstGeom>
          <a:solidFill>
            <a:srgbClr val="1F609A"/>
          </a:solidFill>
          <a:ln>
            <a:solidFill>
              <a:srgbClr val="1F609A"/>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750" b="1">
                <a:solidFill>
                  <a:srgbClr val="FFFFFF"/>
                </a:solidFill>
              </a:defRPr>
            </a:pPr>
            <a:r>
              <a:rPr sz="1400"/>
              <a:t>Next.js UI</a:t>
            </a:r>
          </a:p>
        </p:txBody>
      </p:sp>
      <p:cxnSp>
        <p:nvCxnSpPr>
          <p:cNvPr id="34" name="Connector 33"/>
          <p:cNvCxnSpPr/>
          <p:nvPr/>
        </p:nvCxnSpPr>
        <p:spPr>
          <a:xfrm>
            <a:off x="7943088" y="2240279"/>
            <a:ext cx="109728" cy="0"/>
          </a:xfrm>
          <a:prstGeom prst="line">
            <a:avLst/>
          </a:prstGeom>
          <a:ln w="19050">
            <a:solidFill>
              <a:srgbClr val="F26419"/>
            </a:solidFill>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8052816" y="1965960"/>
            <a:ext cx="716280" cy="548640"/>
          </a:xfrm>
          <a:prstGeom prst="roundRect">
            <a:avLst/>
          </a:prstGeom>
          <a:solidFill>
            <a:srgbClr val="1F609A"/>
          </a:solidFill>
          <a:ln>
            <a:solidFill>
              <a:srgbClr val="1F609A"/>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750" b="1">
                <a:solidFill>
                  <a:srgbClr val="FFFFFF"/>
                </a:solidFill>
              </a:defRPr>
            </a:pPr>
            <a:r>
              <a:rPr sz="1400"/>
              <a:t>DataService</a:t>
            </a:r>
          </a:p>
        </p:txBody>
      </p:sp>
      <p:cxnSp>
        <p:nvCxnSpPr>
          <p:cNvPr id="36" name="Connector 35"/>
          <p:cNvCxnSpPr/>
          <p:nvPr/>
        </p:nvCxnSpPr>
        <p:spPr>
          <a:xfrm>
            <a:off x="8769096" y="2240279"/>
            <a:ext cx="109728" cy="0"/>
          </a:xfrm>
          <a:prstGeom prst="line">
            <a:avLst/>
          </a:prstGeom>
          <a:ln w="19050">
            <a:solidFill>
              <a:srgbClr val="F26419"/>
            </a:solidFill>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8878824" y="1965960"/>
            <a:ext cx="716280" cy="548640"/>
          </a:xfrm>
          <a:prstGeom prst="roundRect">
            <a:avLst/>
          </a:prstGeom>
          <a:solidFill>
            <a:srgbClr val="724BA8"/>
          </a:solidFill>
          <a:ln>
            <a:solidFill>
              <a:srgbClr val="724BA8"/>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750" b="1">
                <a:solidFill>
                  <a:srgbClr val="FFFFFF"/>
                </a:solidFill>
              </a:defRPr>
            </a:pPr>
            <a:r>
              <a:rPr sz="1400"/>
              <a:t>API Routes</a:t>
            </a:r>
          </a:p>
        </p:txBody>
      </p:sp>
      <p:cxnSp>
        <p:nvCxnSpPr>
          <p:cNvPr id="38" name="Connector 37"/>
          <p:cNvCxnSpPr/>
          <p:nvPr/>
        </p:nvCxnSpPr>
        <p:spPr>
          <a:xfrm>
            <a:off x="9595104" y="2240279"/>
            <a:ext cx="109728" cy="0"/>
          </a:xfrm>
          <a:prstGeom prst="line">
            <a:avLst/>
          </a:prstGeom>
          <a:ln w="19050">
            <a:solidFill>
              <a:srgbClr val="F26419"/>
            </a:solidFill>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9704832" y="1965960"/>
            <a:ext cx="716280" cy="548640"/>
          </a:xfrm>
          <a:prstGeom prst="roundRect">
            <a:avLst/>
          </a:prstGeom>
          <a:solidFill>
            <a:srgbClr val="0097A7"/>
          </a:solidFill>
          <a:ln>
            <a:solidFill>
              <a:srgbClr val="0097A7"/>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750" b="1">
                <a:solidFill>
                  <a:srgbClr val="FFFFFF"/>
                </a:solidFill>
              </a:defRPr>
            </a:pPr>
            <a:r>
              <a:rPr sz="1400"/>
              <a:t>Supabase</a:t>
            </a:r>
          </a:p>
        </p:txBody>
      </p:sp>
      <p:cxnSp>
        <p:nvCxnSpPr>
          <p:cNvPr id="40" name="Connector 39"/>
          <p:cNvCxnSpPr/>
          <p:nvPr/>
        </p:nvCxnSpPr>
        <p:spPr>
          <a:xfrm>
            <a:off x="10421112" y="2240279"/>
            <a:ext cx="109728" cy="0"/>
          </a:xfrm>
          <a:prstGeom prst="line">
            <a:avLst/>
          </a:prstGeom>
          <a:ln w="19050">
            <a:solidFill>
              <a:srgbClr val="F26419"/>
            </a:solidFill>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10530840" y="1965960"/>
            <a:ext cx="716280" cy="548640"/>
          </a:xfrm>
          <a:prstGeom prst="roundRect">
            <a:avLst/>
          </a:prstGeom>
          <a:solidFill>
            <a:srgbClr val="21324A"/>
          </a:solidFill>
          <a:ln>
            <a:solidFill>
              <a:srgbClr val="21324A"/>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750" b="1">
                <a:solidFill>
                  <a:srgbClr val="FFFFFF"/>
                </a:solidFill>
              </a:defRPr>
            </a:pPr>
            <a:r>
              <a:rPr sz="1400"/>
              <a:t>DB</a:t>
            </a:r>
          </a:p>
        </p:txBody>
      </p:sp>
      <p:sp>
        <p:nvSpPr>
          <p:cNvPr id="42" name="Rectangle 41"/>
          <p:cNvSpPr/>
          <p:nvPr/>
        </p:nvSpPr>
        <p:spPr>
          <a:xfrm>
            <a:off x="6437375" y="2664598"/>
            <a:ext cx="5238809" cy="1453895"/>
          </a:xfrm>
          <a:prstGeom prst="rect">
            <a:avLst/>
          </a:prstGeom>
          <a:solidFill>
            <a:srgbClr val="F4F6F8"/>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t"/>
          <a:lstStyle/>
          <a:p>
            <a:pPr algn="l"/>
            <a:r>
              <a:rPr sz="1400" b="0">
                <a:solidFill>
                  <a:srgbClr val="1E1E1E"/>
                </a:solidFill>
                <a:latin typeface="Aptos"/>
              </a:rPr>
              <a:t>Each user action begins in a React page or component. The component calls DataService, which wraps the API request with authentication headers. The API route validates the request, applies business rules and reads/writes data in Supabase. The UI then refreshes using the returned response.</a:t>
            </a:r>
          </a:p>
        </p:txBody>
      </p:sp>
      <p:sp>
        <p:nvSpPr>
          <p:cNvPr id="43" name="TextBox 42"/>
          <p:cNvSpPr txBox="1"/>
          <p:nvPr/>
        </p:nvSpPr>
        <p:spPr>
          <a:xfrm>
            <a:off x="6400800" y="4251960"/>
            <a:ext cx="3200400" cy="228600"/>
          </a:xfrm>
          <a:prstGeom prst="rect">
            <a:avLst/>
          </a:prstGeom>
          <a:noFill/>
        </p:spPr>
        <p:txBody>
          <a:bodyPr wrap="square" lIns="64008" tIns="64008" rIns="64008" bIns="64008" anchor="t">
            <a:spAutoFit/>
          </a:bodyPr>
          <a:lstStyle/>
          <a:p>
            <a:pPr algn="l"/>
            <a:r>
              <a:rPr sz="1400" b="1">
                <a:solidFill>
                  <a:srgbClr val="21324A"/>
                </a:solidFill>
                <a:latin typeface="Aptos"/>
              </a:rPr>
              <a:t>Core technology view</a:t>
            </a:r>
          </a:p>
        </p:txBody>
      </p:sp>
      <p:sp>
        <p:nvSpPr>
          <p:cNvPr id="44" name="Rounded Rectangle 43"/>
          <p:cNvSpPr/>
          <p:nvPr/>
        </p:nvSpPr>
        <p:spPr>
          <a:xfrm>
            <a:off x="6400799" y="4667824"/>
            <a:ext cx="1700783" cy="1993580"/>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6400800" y="4617720"/>
            <a:ext cx="73152" cy="1097280"/>
          </a:xfrm>
          <a:prstGeom prst="rect">
            <a:avLst/>
          </a:prstGeom>
          <a:solidFill>
            <a:srgbClr val="1F609A"/>
          </a:solidFill>
          <a:ln>
            <a:solidFill>
              <a:srgbClr val="1F60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6565392" y="4782312"/>
            <a:ext cx="329184" cy="329184"/>
          </a:xfrm>
          <a:prstGeom prst="ellipse">
            <a:avLst/>
          </a:prstGeom>
          <a:solidFill>
            <a:srgbClr val="1F609A"/>
          </a:solidFill>
          <a:ln>
            <a:solidFill>
              <a:srgbClr val="1F60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565392" y="4841748"/>
            <a:ext cx="329184" cy="109728"/>
          </a:xfrm>
          <a:prstGeom prst="rect">
            <a:avLst/>
          </a:prstGeom>
          <a:noFill/>
        </p:spPr>
        <p:txBody>
          <a:bodyPr wrap="square" lIns="64008" tIns="64008" rIns="64008" bIns="64008" anchor="t">
            <a:spAutoFit/>
          </a:bodyPr>
          <a:lstStyle/>
          <a:p>
            <a:pPr algn="ctr"/>
            <a:r>
              <a:rPr sz="1400" b="1">
                <a:solidFill>
                  <a:srgbClr val="FFFFFF"/>
                </a:solidFill>
                <a:latin typeface="Aptos"/>
              </a:rPr>
              <a:t>N</a:t>
            </a:r>
          </a:p>
        </p:txBody>
      </p:sp>
      <p:sp>
        <p:nvSpPr>
          <p:cNvPr id="48" name="TextBox 47"/>
          <p:cNvSpPr txBox="1"/>
          <p:nvPr/>
        </p:nvSpPr>
        <p:spPr>
          <a:xfrm>
            <a:off x="6967728" y="4736592"/>
            <a:ext cx="850391" cy="320040"/>
          </a:xfrm>
          <a:prstGeom prst="rect">
            <a:avLst/>
          </a:prstGeom>
          <a:noFill/>
        </p:spPr>
        <p:txBody>
          <a:bodyPr wrap="square" lIns="64008" tIns="64008" rIns="64008" bIns="64008" anchor="t">
            <a:spAutoFit/>
          </a:bodyPr>
          <a:lstStyle/>
          <a:p>
            <a:pPr algn="l"/>
            <a:r>
              <a:rPr sz="1400" b="1" dirty="0">
                <a:solidFill>
                  <a:srgbClr val="21324A"/>
                </a:solidFill>
                <a:latin typeface="Aptos"/>
              </a:rPr>
              <a:t>Next.js</a:t>
            </a:r>
          </a:p>
        </p:txBody>
      </p:sp>
      <p:sp>
        <p:nvSpPr>
          <p:cNvPr id="49" name="TextBox 48"/>
          <p:cNvSpPr txBox="1"/>
          <p:nvPr/>
        </p:nvSpPr>
        <p:spPr>
          <a:xfrm>
            <a:off x="6583680" y="5120640"/>
            <a:ext cx="1469136" cy="1606594"/>
          </a:xfrm>
          <a:prstGeom prst="rect">
            <a:avLst/>
          </a:prstGeom>
          <a:noFill/>
        </p:spPr>
        <p:txBody>
          <a:bodyPr wrap="square" lIns="64008" tIns="64008" rIns="64008" bIns="64008" anchor="t">
            <a:spAutoFit/>
          </a:bodyPr>
          <a:lstStyle/>
          <a:p>
            <a:pPr algn="l"/>
            <a:r>
              <a:rPr sz="1200" b="0" dirty="0">
                <a:solidFill>
                  <a:srgbClr val="1E1E1E"/>
                </a:solidFill>
                <a:latin typeface="Aptos"/>
              </a:rPr>
              <a:t>Frontend pages and backend API routes are </a:t>
            </a:r>
            <a:r>
              <a:rPr sz="1200" b="0" dirty="0" err="1">
                <a:solidFill>
                  <a:srgbClr val="1E1E1E"/>
                </a:solidFill>
                <a:latin typeface="Aptos"/>
              </a:rPr>
              <a:t>colocated</a:t>
            </a:r>
            <a:r>
              <a:rPr sz="1200" b="0" dirty="0">
                <a:solidFill>
                  <a:srgbClr val="1E1E1E"/>
                </a:solidFill>
                <a:latin typeface="Aptos"/>
              </a:rPr>
              <a:t> in the app directory, making routing and server-side handlers easy to trace.</a:t>
            </a:r>
          </a:p>
        </p:txBody>
      </p:sp>
      <p:sp>
        <p:nvSpPr>
          <p:cNvPr id="50" name="Rounded Rectangle 49"/>
          <p:cNvSpPr/>
          <p:nvPr/>
        </p:nvSpPr>
        <p:spPr>
          <a:xfrm>
            <a:off x="8183879" y="4617720"/>
            <a:ext cx="1737360" cy="2103120"/>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8183879" y="4617720"/>
            <a:ext cx="73152" cy="1097280"/>
          </a:xfrm>
          <a:prstGeom prst="rect">
            <a:avLst/>
          </a:prstGeom>
          <a:solidFill>
            <a:srgbClr val="0097A7"/>
          </a:solidFill>
          <a:ln>
            <a:solidFill>
              <a:srgbClr val="009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8348471" y="4782312"/>
            <a:ext cx="329184" cy="329184"/>
          </a:xfrm>
          <a:prstGeom prst="ellipse">
            <a:avLst/>
          </a:prstGeom>
          <a:solidFill>
            <a:srgbClr val="0097A7"/>
          </a:solidFill>
          <a:ln>
            <a:solidFill>
              <a:srgbClr val="009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8348471" y="4841748"/>
            <a:ext cx="329184" cy="109728"/>
          </a:xfrm>
          <a:prstGeom prst="rect">
            <a:avLst/>
          </a:prstGeom>
          <a:noFill/>
        </p:spPr>
        <p:txBody>
          <a:bodyPr wrap="square" lIns="64008" tIns="64008" rIns="64008" bIns="64008" anchor="t">
            <a:spAutoFit/>
          </a:bodyPr>
          <a:lstStyle/>
          <a:p>
            <a:pPr algn="ctr"/>
            <a:r>
              <a:rPr sz="1400" b="1">
                <a:solidFill>
                  <a:srgbClr val="FFFFFF"/>
                </a:solidFill>
                <a:latin typeface="Aptos"/>
              </a:rPr>
              <a:t>S</a:t>
            </a:r>
          </a:p>
        </p:txBody>
      </p:sp>
      <p:sp>
        <p:nvSpPr>
          <p:cNvPr id="54" name="TextBox 53"/>
          <p:cNvSpPr txBox="1"/>
          <p:nvPr/>
        </p:nvSpPr>
        <p:spPr>
          <a:xfrm>
            <a:off x="8750806" y="4736592"/>
            <a:ext cx="1255779" cy="344710"/>
          </a:xfrm>
          <a:prstGeom prst="rect">
            <a:avLst/>
          </a:prstGeom>
          <a:noFill/>
        </p:spPr>
        <p:txBody>
          <a:bodyPr wrap="square" lIns="64008" tIns="64008" rIns="64008" bIns="64008" anchor="t">
            <a:spAutoFit/>
          </a:bodyPr>
          <a:lstStyle/>
          <a:p>
            <a:pPr algn="l"/>
            <a:r>
              <a:rPr sz="1400" b="1" dirty="0" err="1">
                <a:solidFill>
                  <a:srgbClr val="21324A"/>
                </a:solidFill>
                <a:latin typeface="Aptos"/>
              </a:rPr>
              <a:t>Supaba</a:t>
            </a:r>
            <a:r>
              <a:rPr lang="en-US" sz="1400" b="1" dirty="0" err="1">
                <a:solidFill>
                  <a:srgbClr val="21324A"/>
                </a:solidFill>
                <a:latin typeface="Aptos"/>
              </a:rPr>
              <a:t>s</a:t>
            </a:r>
            <a:r>
              <a:rPr sz="1400" b="1" dirty="0" err="1">
                <a:solidFill>
                  <a:srgbClr val="21324A"/>
                </a:solidFill>
                <a:latin typeface="Aptos"/>
              </a:rPr>
              <a:t>e</a:t>
            </a:r>
            <a:endParaRPr sz="1400" b="1" dirty="0">
              <a:solidFill>
                <a:srgbClr val="21324A"/>
              </a:solidFill>
              <a:latin typeface="Aptos"/>
            </a:endParaRPr>
          </a:p>
        </p:txBody>
      </p:sp>
      <p:sp>
        <p:nvSpPr>
          <p:cNvPr id="55" name="TextBox 54"/>
          <p:cNvSpPr txBox="1"/>
          <p:nvPr/>
        </p:nvSpPr>
        <p:spPr>
          <a:xfrm>
            <a:off x="8366758" y="5120640"/>
            <a:ext cx="1444753" cy="1606594"/>
          </a:xfrm>
          <a:prstGeom prst="rect">
            <a:avLst/>
          </a:prstGeom>
          <a:noFill/>
        </p:spPr>
        <p:txBody>
          <a:bodyPr wrap="square" lIns="64008" tIns="64008" rIns="64008" bIns="64008" anchor="t">
            <a:spAutoFit/>
          </a:bodyPr>
          <a:lstStyle/>
          <a:p>
            <a:pPr algn="l"/>
            <a:r>
              <a:rPr sz="1200" b="0" dirty="0">
                <a:solidFill>
                  <a:srgbClr val="1E1E1E"/>
                </a:solidFill>
                <a:latin typeface="Aptos"/>
              </a:rPr>
              <a:t>Acts as the database and security-aware data layer. The backend uses </a:t>
            </a:r>
            <a:r>
              <a:rPr sz="1200" b="0" dirty="0" err="1">
                <a:solidFill>
                  <a:srgbClr val="1E1E1E"/>
                </a:solidFill>
                <a:latin typeface="Aptos"/>
              </a:rPr>
              <a:t>Supabase</a:t>
            </a:r>
            <a:r>
              <a:rPr sz="1200" b="0" dirty="0">
                <a:solidFill>
                  <a:srgbClr val="1E1E1E"/>
                </a:solidFill>
                <a:latin typeface="Aptos"/>
              </a:rPr>
              <a:t> clients to query tables and execute RPCs.</a:t>
            </a:r>
          </a:p>
        </p:txBody>
      </p:sp>
      <p:sp>
        <p:nvSpPr>
          <p:cNvPr id="56" name="Rounded Rectangle 55"/>
          <p:cNvSpPr/>
          <p:nvPr/>
        </p:nvSpPr>
        <p:spPr>
          <a:xfrm>
            <a:off x="10040112" y="4480560"/>
            <a:ext cx="1746503" cy="2240280"/>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9966960" y="4617720"/>
            <a:ext cx="73152" cy="1097280"/>
          </a:xfrm>
          <a:prstGeom prst="rect">
            <a:avLst/>
          </a:prstGeom>
          <a:solidFill>
            <a:srgbClr val="F26419"/>
          </a:solidFill>
          <a:ln>
            <a:solidFill>
              <a:srgbClr val="F2641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10131552" y="4782312"/>
            <a:ext cx="329184" cy="329184"/>
          </a:xfrm>
          <a:prstGeom prst="ellipse">
            <a:avLst/>
          </a:prstGeom>
          <a:solidFill>
            <a:srgbClr val="F26419"/>
          </a:solidFill>
          <a:ln>
            <a:solidFill>
              <a:srgbClr val="F2641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10131552" y="4841748"/>
            <a:ext cx="329184" cy="109728"/>
          </a:xfrm>
          <a:prstGeom prst="rect">
            <a:avLst/>
          </a:prstGeom>
          <a:noFill/>
        </p:spPr>
        <p:txBody>
          <a:bodyPr wrap="square" lIns="64008" tIns="64008" rIns="64008" bIns="64008" anchor="t">
            <a:spAutoFit/>
          </a:bodyPr>
          <a:lstStyle/>
          <a:p>
            <a:pPr algn="ctr"/>
            <a:r>
              <a:rPr sz="1400" b="1">
                <a:solidFill>
                  <a:srgbClr val="FFFFFF"/>
                </a:solidFill>
                <a:latin typeface="Aptos"/>
              </a:rPr>
              <a:t>A</a:t>
            </a:r>
          </a:p>
        </p:txBody>
      </p:sp>
      <p:sp>
        <p:nvSpPr>
          <p:cNvPr id="60" name="TextBox 59"/>
          <p:cNvSpPr txBox="1"/>
          <p:nvPr/>
        </p:nvSpPr>
        <p:spPr>
          <a:xfrm>
            <a:off x="10533888" y="4736592"/>
            <a:ext cx="621792" cy="320040"/>
          </a:xfrm>
          <a:prstGeom prst="rect">
            <a:avLst/>
          </a:prstGeom>
          <a:noFill/>
        </p:spPr>
        <p:txBody>
          <a:bodyPr wrap="square" lIns="64008" tIns="64008" rIns="64008" bIns="64008" anchor="t">
            <a:spAutoFit/>
          </a:bodyPr>
          <a:lstStyle/>
          <a:p>
            <a:pPr algn="l"/>
            <a:r>
              <a:rPr sz="1400" b="1">
                <a:solidFill>
                  <a:srgbClr val="21324A"/>
                </a:solidFill>
                <a:latin typeface="Aptos"/>
              </a:rPr>
              <a:t>Auth/RLS</a:t>
            </a:r>
          </a:p>
        </p:txBody>
      </p:sp>
      <p:sp>
        <p:nvSpPr>
          <p:cNvPr id="61" name="TextBox 60"/>
          <p:cNvSpPr txBox="1"/>
          <p:nvPr/>
        </p:nvSpPr>
        <p:spPr>
          <a:xfrm>
            <a:off x="10149840" y="5120640"/>
            <a:ext cx="1554478" cy="1083374"/>
          </a:xfrm>
          <a:prstGeom prst="rect">
            <a:avLst/>
          </a:prstGeom>
          <a:noFill/>
        </p:spPr>
        <p:txBody>
          <a:bodyPr wrap="square" lIns="64008" tIns="64008" rIns="64008" bIns="64008" anchor="t">
            <a:spAutoFit/>
          </a:bodyPr>
          <a:lstStyle/>
          <a:p>
            <a:pPr algn="l"/>
            <a:r>
              <a:rPr sz="1200" b="0" dirty="0">
                <a:solidFill>
                  <a:srgbClr val="1E1E1E"/>
                </a:solidFill>
                <a:latin typeface="Aptos"/>
              </a:rPr>
              <a:t>Authentication, roles, ownership and policies determine what users can view or modify</a:t>
            </a:r>
            <a:r>
              <a:rPr sz="1400" b="0" dirty="0">
                <a:solidFill>
                  <a:srgbClr val="1E1E1E"/>
                </a:solidFill>
                <a:latin typeface="Aptos"/>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420624"/>
          </a:xfrm>
          <a:prstGeom prst="rect">
            <a:avLst/>
          </a:prstGeom>
          <a:solidFill>
            <a:srgbClr val="21324A"/>
          </a:solidFill>
          <a:ln>
            <a:solidFill>
              <a:srgbClr val="21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04800" y="33762"/>
            <a:ext cx="2377440" cy="437043"/>
          </a:xfrm>
          <a:prstGeom prst="rect">
            <a:avLst/>
          </a:prstGeom>
          <a:noFill/>
        </p:spPr>
        <p:txBody>
          <a:bodyPr wrap="square" lIns="64008" tIns="64008" rIns="64008" bIns="64008" anchor="t">
            <a:spAutoFit/>
          </a:bodyPr>
          <a:lstStyle/>
          <a:p>
            <a:pPr algn="l"/>
            <a:r>
              <a:rPr sz="2000" b="1" dirty="0">
                <a:solidFill>
                  <a:srgbClr val="FFFFFF"/>
                </a:solidFill>
                <a:latin typeface="Aptos"/>
              </a:rPr>
              <a:t>MODULES</a:t>
            </a:r>
          </a:p>
        </p:txBody>
      </p:sp>
      <p:sp>
        <p:nvSpPr>
          <p:cNvPr id="4" name="TextBox 3"/>
          <p:cNvSpPr txBox="1"/>
          <p:nvPr/>
        </p:nvSpPr>
        <p:spPr>
          <a:xfrm>
            <a:off x="11155680" y="100584"/>
            <a:ext cx="731520" cy="228600"/>
          </a:xfrm>
          <a:prstGeom prst="rect">
            <a:avLst/>
          </a:prstGeom>
          <a:noFill/>
        </p:spPr>
        <p:txBody>
          <a:bodyPr wrap="square" lIns="64008" tIns="64008" rIns="64008" bIns="64008" anchor="t">
            <a:spAutoFit/>
          </a:bodyPr>
          <a:lstStyle/>
          <a:p>
            <a:pPr algn="r"/>
            <a:r>
              <a:rPr sz="1400" b="1">
                <a:solidFill>
                  <a:srgbClr val="F26419"/>
                </a:solidFill>
                <a:latin typeface="Aptos"/>
              </a:rPr>
              <a:t>EXL</a:t>
            </a:r>
          </a:p>
        </p:txBody>
      </p:sp>
      <p:sp>
        <p:nvSpPr>
          <p:cNvPr id="5" name="TextBox 4"/>
          <p:cNvSpPr txBox="1"/>
          <p:nvPr/>
        </p:nvSpPr>
        <p:spPr>
          <a:xfrm>
            <a:off x="502920" y="425196"/>
            <a:ext cx="9509760" cy="438912"/>
          </a:xfrm>
          <a:prstGeom prst="rect">
            <a:avLst/>
          </a:prstGeom>
          <a:noFill/>
        </p:spPr>
        <p:txBody>
          <a:bodyPr wrap="square" lIns="64008" tIns="64008" rIns="64008" bIns="64008" anchor="t">
            <a:spAutoFit/>
          </a:bodyPr>
          <a:lstStyle/>
          <a:p>
            <a:pPr algn="l"/>
            <a:r>
              <a:rPr sz="2300" b="1" dirty="0">
                <a:solidFill>
                  <a:srgbClr val="F26419"/>
                </a:solidFill>
                <a:latin typeface="Aptos"/>
              </a:rPr>
              <a:t>Major application modules</a:t>
            </a:r>
          </a:p>
        </p:txBody>
      </p:sp>
      <p:sp>
        <p:nvSpPr>
          <p:cNvPr id="6" name="TextBox 5"/>
          <p:cNvSpPr txBox="1"/>
          <p:nvPr/>
        </p:nvSpPr>
        <p:spPr>
          <a:xfrm>
            <a:off x="521207" y="1024128"/>
            <a:ext cx="10515600" cy="292608"/>
          </a:xfrm>
          <a:prstGeom prst="rect">
            <a:avLst/>
          </a:prstGeom>
          <a:noFill/>
        </p:spPr>
        <p:txBody>
          <a:bodyPr wrap="square" lIns="64008" tIns="64008" rIns="64008" bIns="64008" anchor="t">
            <a:spAutoFit/>
          </a:bodyPr>
          <a:lstStyle/>
          <a:p>
            <a:pPr algn="l"/>
            <a:r>
              <a:rPr sz="1400" b="0">
                <a:solidFill>
                  <a:srgbClr val="5A5A5A"/>
                </a:solidFill>
                <a:latin typeface="Aptos"/>
              </a:rPr>
              <a:t>The platform is organized into business modules that collectively support strategy, execution, team collaboration and governance.</a:t>
            </a:r>
          </a:p>
        </p:txBody>
      </p:sp>
      <p:sp>
        <p:nvSpPr>
          <p:cNvPr id="7" name="TextBox 6"/>
          <p:cNvSpPr txBox="1"/>
          <p:nvPr/>
        </p:nvSpPr>
        <p:spPr>
          <a:xfrm>
            <a:off x="502920" y="6528816"/>
            <a:ext cx="7772400" cy="201168"/>
          </a:xfrm>
          <a:prstGeom prst="rect">
            <a:avLst/>
          </a:prstGeom>
          <a:noFill/>
        </p:spPr>
        <p:txBody>
          <a:bodyPr wrap="square" lIns="64008" tIns="64008" rIns="64008" bIns="64008" anchor="t">
            <a:spAutoFit/>
          </a:bodyPr>
          <a:lstStyle/>
          <a:p>
            <a:pPr algn="l"/>
            <a:r>
              <a:rPr sz="750" b="0">
                <a:solidFill>
                  <a:srgbClr val="5A5A5A"/>
                </a:solidFill>
                <a:latin typeface="Aptos"/>
              </a:rPr>
              <a:t>EXL – Oakbridge Engagement | Our Understanding of Existing System</a:t>
            </a:r>
          </a:p>
        </p:txBody>
      </p:sp>
      <p:sp>
        <p:nvSpPr>
          <p:cNvPr id="8" name="TextBox 7"/>
          <p:cNvSpPr txBox="1"/>
          <p:nvPr/>
        </p:nvSpPr>
        <p:spPr>
          <a:xfrm>
            <a:off x="11475720" y="6528816"/>
            <a:ext cx="320040" cy="201168"/>
          </a:xfrm>
          <a:prstGeom prst="rect">
            <a:avLst/>
          </a:prstGeom>
          <a:noFill/>
        </p:spPr>
        <p:txBody>
          <a:bodyPr wrap="square" lIns="64008" tIns="64008" rIns="64008" bIns="64008" anchor="t">
            <a:spAutoFit/>
          </a:bodyPr>
          <a:lstStyle/>
          <a:p>
            <a:pPr algn="r"/>
            <a:r>
              <a:rPr sz="750" b="0">
                <a:solidFill>
                  <a:srgbClr val="5A5A5A"/>
                </a:solidFill>
                <a:latin typeface="Aptos"/>
              </a:rPr>
              <a:t>5</a:t>
            </a:r>
          </a:p>
        </p:txBody>
      </p:sp>
      <p:sp>
        <p:nvSpPr>
          <p:cNvPr id="9" name="Rectangle 8"/>
          <p:cNvSpPr/>
          <p:nvPr/>
        </p:nvSpPr>
        <p:spPr>
          <a:xfrm>
            <a:off x="502920" y="1344168"/>
            <a:ext cx="11064240" cy="22860"/>
          </a:xfrm>
          <a:prstGeom prst="rect">
            <a:avLst/>
          </a:prstGeom>
          <a:solidFill>
            <a:srgbClr val="DAE0E6"/>
          </a:solidFill>
          <a:ln>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594360" y="1508760"/>
            <a:ext cx="5166360" cy="996696"/>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1508760"/>
            <a:ext cx="73152" cy="713232"/>
          </a:xfrm>
          <a:prstGeom prst="rect">
            <a:avLst/>
          </a:prstGeom>
          <a:solidFill>
            <a:srgbClr val="F26419"/>
          </a:solidFill>
          <a:ln>
            <a:solidFill>
              <a:srgbClr val="F2641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758952" y="1673351"/>
            <a:ext cx="329184" cy="329184"/>
          </a:xfrm>
          <a:prstGeom prst="ellipse">
            <a:avLst/>
          </a:prstGeom>
          <a:solidFill>
            <a:srgbClr val="F26419"/>
          </a:solidFill>
          <a:ln>
            <a:solidFill>
              <a:srgbClr val="F2641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58952" y="1732788"/>
            <a:ext cx="329184" cy="109728"/>
          </a:xfrm>
          <a:prstGeom prst="rect">
            <a:avLst/>
          </a:prstGeom>
          <a:noFill/>
        </p:spPr>
        <p:txBody>
          <a:bodyPr wrap="square" lIns="64008" tIns="64008" rIns="64008" bIns="64008" anchor="t">
            <a:spAutoFit/>
          </a:bodyPr>
          <a:lstStyle/>
          <a:p>
            <a:pPr algn="ctr"/>
            <a:r>
              <a:rPr sz="1400" b="1" dirty="0">
                <a:solidFill>
                  <a:srgbClr val="FFFFFF"/>
                </a:solidFill>
                <a:latin typeface="Aptos"/>
              </a:rPr>
              <a:t>D</a:t>
            </a:r>
          </a:p>
        </p:txBody>
      </p:sp>
      <p:sp>
        <p:nvSpPr>
          <p:cNvPr id="14" name="TextBox 13"/>
          <p:cNvSpPr txBox="1"/>
          <p:nvPr/>
        </p:nvSpPr>
        <p:spPr>
          <a:xfrm>
            <a:off x="1161288" y="1627631"/>
            <a:ext cx="4462272" cy="320040"/>
          </a:xfrm>
          <a:prstGeom prst="rect">
            <a:avLst/>
          </a:prstGeom>
          <a:noFill/>
        </p:spPr>
        <p:txBody>
          <a:bodyPr wrap="square" lIns="64008" tIns="64008" rIns="64008" bIns="64008" anchor="t">
            <a:spAutoFit/>
          </a:bodyPr>
          <a:lstStyle/>
          <a:p>
            <a:pPr algn="l"/>
            <a:r>
              <a:rPr sz="1400" b="1">
                <a:solidFill>
                  <a:srgbClr val="21324A"/>
                </a:solidFill>
                <a:latin typeface="Aptos"/>
              </a:rPr>
              <a:t>Dashboard</a:t>
            </a:r>
          </a:p>
        </p:txBody>
      </p:sp>
      <p:sp>
        <p:nvSpPr>
          <p:cNvPr id="15" name="TextBox 14"/>
          <p:cNvSpPr txBox="1"/>
          <p:nvPr/>
        </p:nvSpPr>
        <p:spPr>
          <a:xfrm>
            <a:off x="777240" y="2011680"/>
            <a:ext cx="4846320" cy="118872"/>
          </a:xfrm>
          <a:prstGeom prst="rect">
            <a:avLst/>
          </a:prstGeom>
          <a:noFill/>
        </p:spPr>
        <p:txBody>
          <a:bodyPr wrap="square" lIns="64008" tIns="64008" rIns="64008" bIns="64008" anchor="t">
            <a:spAutoFit/>
          </a:bodyPr>
          <a:lstStyle/>
          <a:p>
            <a:pPr algn="l"/>
            <a:r>
              <a:rPr sz="1400" b="0" dirty="0">
                <a:solidFill>
                  <a:srgbClr val="1E1E1E"/>
                </a:solidFill>
                <a:latin typeface="Aptos"/>
              </a:rPr>
              <a:t>Organization-level summary of open items, goals, movements and recent activity.</a:t>
            </a:r>
          </a:p>
        </p:txBody>
      </p:sp>
      <p:sp>
        <p:nvSpPr>
          <p:cNvPr id="16" name="Rounded Rectangle 15"/>
          <p:cNvSpPr/>
          <p:nvPr/>
        </p:nvSpPr>
        <p:spPr>
          <a:xfrm>
            <a:off x="6126480" y="1508760"/>
            <a:ext cx="5166360" cy="1033272"/>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126480" y="1508760"/>
            <a:ext cx="73152" cy="713232"/>
          </a:xfrm>
          <a:prstGeom prst="rect">
            <a:avLst/>
          </a:prstGeom>
          <a:solidFill>
            <a:srgbClr val="1F609A"/>
          </a:solidFill>
          <a:ln>
            <a:solidFill>
              <a:srgbClr val="1F60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6291072" y="1673351"/>
            <a:ext cx="329184" cy="329184"/>
          </a:xfrm>
          <a:prstGeom prst="ellipse">
            <a:avLst/>
          </a:prstGeom>
          <a:solidFill>
            <a:srgbClr val="1F609A"/>
          </a:solidFill>
          <a:ln>
            <a:solidFill>
              <a:srgbClr val="1F60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291072" y="1732788"/>
            <a:ext cx="329184" cy="109728"/>
          </a:xfrm>
          <a:prstGeom prst="rect">
            <a:avLst/>
          </a:prstGeom>
          <a:noFill/>
        </p:spPr>
        <p:txBody>
          <a:bodyPr wrap="square" lIns="64008" tIns="64008" rIns="64008" bIns="64008" anchor="t">
            <a:spAutoFit/>
          </a:bodyPr>
          <a:lstStyle/>
          <a:p>
            <a:pPr algn="ctr"/>
            <a:r>
              <a:rPr sz="1400" b="1">
                <a:solidFill>
                  <a:srgbClr val="FFFFFF"/>
                </a:solidFill>
                <a:latin typeface="Aptos"/>
              </a:rPr>
              <a:t>V</a:t>
            </a:r>
          </a:p>
        </p:txBody>
      </p:sp>
      <p:sp>
        <p:nvSpPr>
          <p:cNvPr id="20" name="TextBox 19"/>
          <p:cNvSpPr txBox="1"/>
          <p:nvPr/>
        </p:nvSpPr>
        <p:spPr>
          <a:xfrm>
            <a:off x="6693408" y="1627631"/>
            <a:ext cx="4462272" cy="320040"/>
          </a:xfrm>
          <a:prstGeom prst="rect">
            <a:avLst/>
          </a:prstGeom>
          <a:noFill/>
        </p:spPr>
        <p:txBody>
          <a:bodyPr wrap="square" lIns="64008" tIns="64008" rIns="64008" bIns="64008" anchor="t">
            <a:spAutoFit/>
          </a:bodyPr>
          <a:lstStyle/>
          <a:p>
            <a:pPr algn="l"/>
            <a:r>
              <a:rPr sz="1400" b="1">
                <a:solidFill>
                  <a:srgbClr val="21324A"/>
                </a:solidFill>
                <a:latin typeface="Aptos"/>
              </a:rPr>
              <a:t>Vision</a:t>
            </a:r>
          </a:p>
        </p:txBody>
      </p:sp>
      <p:sp>
        <p:nvSpPr>
          <p:cNvPr id="21" name="TextBox 20"/>
          <p:cNvSpPr txBox="1"/>
          <p:nvPr/>
        </p:nvSpPr>
        <p:spPr>
          <a:xfrm>
            <a:off x="6309360" y="2011680"/>
            <a:ext cx="4846320" cy="118872"/>
          </a:xfrm>
          <a:prstGeom prst="rect">
            <a:avLst/>
          </a:prstGeom>
          <a:noFill/>
        </p:spPr>
        <p:txBody>
          <a:bodyPr wrap="square" lIns="64008" tIns="64008" rIns="64008" bIns="64008" anchor="t">
            <a:spAutoFit/>
          </a:bodyPr>
          <a:lstStyle/>
          <a:p>
            <a:pPr algn="l"/>
            <a:r>
              <a:rPr sz="1400" b="0">
                <a:solidFill>
                  <a:srgbClr val="1E1E1E"/>
                </a:solidFill>
                <a:latin typeface="Aptos"/>
              </a:rPr>
              <a:t>Captures company vision, mission, purpose and values to align teams.</a:t>
            </a:r>
          </a:p>
        </p:txBody>
      </p:sp>
      <p:sp>
        <p:nvSpPr>
          <p:cNvPr id="22" name="Rounded Rectangle 21"/>
          <p:cNvSpPr/>
          <p:nvPr/>
        </p:nvSpPr>
        <p:spPr>
          <a:xfrm>
            <a:off x="594360" y="2505455"/>
            <a:ext cx="5166360" cy="969266"/>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94360" y="2441448"/>
            <a:ext cx="73152" cy="713232"/>
          </a:xfrm>
          <a:prstGeom prst="rect">
            <a:avLst/>
          </a:prstGeom>
          <a:solidFill>
            <a:srgbClr val="0097A7"/>
          </a:solidFill>
          <a:ln>
            <a:solidFill>
              <a:srgbClr val="009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758952" y="2606040"/>
            <a:ext cx="329184" cy="329184"/>
          </a:xfrm>
          <a:prstGeom prst="ellipse">
            <a:avLst/>
          </a:prstGeom>
          <a:solidFill>
            <a:srgbClr val="0097A7"/>
          </a:solidFill>
          <a:ln>
            <a:solidFill>
              <a:srgbClr val="009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58952" y="2665476"/>
            <a:ext cx="329184" cy="109728"/>
          </a:xfrm>
          <a:prstGeom prst="rect">
            <a:avLst/>
          </a:prstGeom>
          <a:noFill/>
        </p:spPr>
        <p:txBody>
          <a:bodyPr wrap="square" lIns="64008" tIns="64008" rIns="64008" bIns="64008" anchor="t">
            <a:spAutoFit/>
          </a:bodyPr>
          <a:lstStyle/>
          <a:p>
            <a:pPr algn="ctr"/>
            <a:r>
              <a:rPr sz="1400" b="1">
                <a:solidFill>
                  <a:srgbClr val="FFFFFF"/>
                </a:solidFill>
                <a:latin typeface="Aptos"/>
              </a:rPr>
              <a:t>G</a:t>
            </a:r>
          </a:p>
        </p:txBody>
      </p:sp>
      <p:sp>
        <p:nvSpPr>
          <p:cNvPr id="26" name="TextBox 25"/>
          <p:cNvSpPr txBox="1"/>
          <p:nvPr/>
        </p:nvSpPr>
        <p:spPr>
          <a:xfrm>
            <a:off x="1161288" y="2560320"/>
            <a:ext cx="4462272" cy="320040"/>
          </a:xfrm>
          <a:prstGeom prst="rect">
            <a:avLst/>
          </a:prstGeom>
          <a:noFill/>
        </p:spPr>
        <p:txBody>
          <a:bodyPr wrap="square" lIns="64008" tIns="64008" rIns="64008" bIns="64008" anchor="t">
            <a:spAutoFit/>
          </a:bodyPr>
          <a:lstStyle/>
          <a:p>
            <a:pPr algn="l"/>
            <a:r>
              <a:rPr sz="1400" b="1">
                <a:solidFill>
                  <a:srgbClr val="21324A"/>
                </a:solidFill>
                <a:latin typeface="Aptos"/>
              </a:rPr>
              <a:t>Goals</a:t>
            </a:r>
          </a:p>
        </p:txBody>
      </p:sp>
      <p:sp>
        <p:nvSpPr>
          <p:cNvPr id="27" name="TextBox 26"/>
          <p:cNvSpPr txBox="1"/>
          <p:nvPr/>
        </p:nvSpPr>
        <p:spPr>
          <a:xfrm>
            <a:off x="777240" y="2944368"/>
            <a:ext cx="4846320" cy="118872"/>
          </a:xfrm>
          <a:prstGeom prst="rect">
            <a:avLst/>
          </a:prstGeom>
          <a:noFill/>
        </p:spPr>
        <p:txBody>
          <a:bodyPr wrap="square" lIns="64008" tIns="64008" rIns="64008" bIns="64008" anchor="t">
            <a:spAutoFit/>
          </a:bodyPr>
          <a:lstStyle/>
          <a:p>
            <a:pPr algn="l"/>
            <a:r>
              <a:rPr sz="1400" b="0">
                <a:solidFill>
                  <a:srgbClr val="1E1E1E"/>
                </a:solidFill>
                <a:latin typeface="Aptos"/>
              </a:rPr>
              <a:t>10-year, 3-year, 1-year and quarterly goals with progress, health and ownership.</a:t>
            </a:r>
          </a:p>
        </p:txBody>
      </p:sp>
      <p:sp>
        <p:nvSpPr>
          <p:cNvPr id="28" name="Rounded Rectangle 27"/>
          <p:cNvSpPr/>
          <p:nvPr/>
        </p:nvSpPr>
        <p:spPr>
          <a:xfrm>
            <a:off x="6126480" y="2606040"/>
            <a:ext cx="5166360" cy="886968"/>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126480" y="2441448"/>
            <a:ext cx="73152" cy="713232"/>
          </a:xfrm>
          <a:prstGeom prst="rect">
            <a:avLst/>
          </a:prstGeom>
          <a:solidFill>
            <a:srgbClr val="724BA8"/>
          </a:solidFill>
          <a:ln>
            <a:solidFill>
              <a:srgbClr val="724B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6291072" y="2606040"/>
            <a:ext cx="329184" cy="329184"/>
          </a:xfrm>
          <a:prstGeom prst="ellipse">
            <a:avLst/>
          </a:prstGeom>
          <a:solidFill>
            <a:srgbClr val="724BA8"/>
          </a:solidFill>
          <a:ln>
            <a:solidFill>
              <a:srgbClr val="724B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291072" y="2665476"/>
            <a:ext cx="329184" cy="109728"/>
          </a:xfrm>
          <a:prstGeom prst="rect">
            <a:avLst/>
          </a:prstGeom>
          <a:noFill/>
        </p:spPr>
        <p:txBody>
          <a:bodyPr wrap="square" lIns="64008" tIns="64008" rIns="64008" bIns="64008" anchor="t">
            <a:spAutoFit/>
          </a:bodyPr>
          <a:lstStyle/>
          <a:p>
            <a:pPr algn="ctr"/>
            <a:r>
              <a:rPr sz="1400" b="1">
                <a:solidFill>
                  <a:srgbClr val="FFFFFF"/>
                </a:solidFill>
                <a:latin typeface="Aptos"/>
              </a:rPr>
              <a:t>M</a:t>
            </a:r>
          </a:p>
        </p:txBody>
      </p:sp>
      <p:sp>
        <p:nvSpPr>
          <p:cNvPr id="32" name="TextBox 31"/>
          <p:cNvSpPr txBox="1"/>
          <p:nvPr/>
        </p:nvSpPr>
        <p:spPr>
          <a:xfrm>
            <a:off x="6693408" y="2560320"/>
            <a:ext cx="4462272" cy="320040"/>
          </a:xfrm>
          <a:prstGeom prst="rect">
            <a:avLst/>
          </a:prstGeom>
          <a:noFill/>
        </p:spPr>
        <p:txBody>
          <a:bodyPr wrap="square" lIns="64008" tIns="64008" rIns="64008" bIns="64008" anchor="t">
            <a:spAutoFit/>
          </a:bodyPr>
          <a:lstStyle/>
          <a:p>
            <a:pPr algn="l"/>
            <a:r>
              <a:rPr sz="1400" b="1">
                <a:solidFill>
                  <a:srgbClr val="21324A"/>
                </a:solidFill>
                <a:latin typeface="Aptos"/>
              </a:rPr>
              <a:t>My Items</a:t>
            </a:r>
          </a:p>
        </p:txBody>
      </p:sp>
      <p:sp>
        <p:nvSpPr>
          <p:cNvPr id="33" name="TextBox 32"/>
          <p:cNvSpPr txBox="1"/>
          <p:nvPr/>
        </p:nvSpPr>
        <p:spPr>
          <a:xfrm>
            <a:off x="6309360" y="2944368"/>
            <a:ext cx="4846320" cy="118872"/>
          </a:xfrm>
          <a:prstGeom prst="rect">
            <a:avLst/>
          </a:prstGeom>
          <a:noFill/>
        </p:spPr>
        <p:txBody>
          <a:bodyPr wrap="square" lIns="64008" tIns="64008" rIns="64008" bIns="64008" anchor="t">
            <a:spAutoFit/>
          </a:bodyPr>
          <a:lstStyle/>
          <a:p>
            <a:pPr algn="l"/>
            <a:r>
              <a:rPr sz="1400" b="0">
                <a:solidFill>
                  <a:srgbClr val="1E1E1E"/>
                </a:solidFill>
                <a:latin typeface="Aptos"/>
              </a:rPr>
              <a:t>Personal work queue for items where the user is owner, contributor or RACI member.</a:t>
            </a:r>
          </a:p>
        </p:txBody>
      </p:sp>
      <p:sp>
        <p:nvSpPr>
          <p:cNvPr id="34" name="Rounded Rectangle 33"/>
          <p:cNvSpPr/>
          <p:nvPr/>
        </p:nvSpPr>
        <p:spPr>
          <a:xfrm>
            <a:off x="594360" y="3493008"/>
            <a:ext cx="5166360" cy="914400"/>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594360" y="3374136"/>
            <a:ext cx="73152" cy="713232"/>
          </a:xfrm>
          <a:prstGeom prst="rect">
            <a:avLst/>
          </a:prstGeom>
          <a:solidFill>
            <a:srgbClr val="3A9D58"/>
          </a:solidFill>
          <a:ln>
            <a:solidFill>
              <a:srgbClr val="3A9D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758952" y="3538728"/>
            <a:ext cx="329184" cy="329184"/>
          </a:xfrm>
          <a:prstGeom prst="ellipse">
            <a:avLst/>
          </a:prstGeom>
          <a:solidFill>
            <a:srgbClr val="3A9D58"/>
          </a:solidFill>
          <a:ln>
            <a:solidFill>
              <a:srgbClr val="3A9D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58952" y="3598164"/>
            <a:ext cx="329184" cy="109728"/>
          </a:xfrm>
          <a:prstGeom prst="rect">
            <a:avLst/>
          </a:prstGeom>
          <a:noFill/>
        </p:spPr>
        <p:txBody>
          <a:bodyPr wrap="square" lIns="64008" tIns="64008" rIns="64008" bIns="64008" anchor="t">
            <a:spAutoFit/>
          </a:bodyPr>
          <a:lstStyle/>
          <a:p>
            <a:pPr algn="ctr"/>
            <a:r>
              <a:rPr sz="1400" b="1">
                <a:solidFill>
                  <a:srgbClr val="FFFFFF"/>
                </a:solidFill>
                <a:latin typeface="Aptos"/>
              </a:rPr>
              <a:t>T</a:t>
            </a:r>
          </a:p>
        </p:txBody>
      </p:sp>
      <p:sp>
        <p:nvSpPr>
          <p:cNvPr id="38" name="TextBox 37"/>
          <p:cNvSpPr txBox="1"/>
          <p:nvPr/>
        </p:nvSpPr>
        <p:spPr>
          <a:xfrm>
            <a:off x="1161288" y="3493008"/>
            <a:ext cx="4462272" cy="320040"/>
          </a:xfrm>
          <a:prstGeom prst="rect">
            <a:avLst/>
          </a:prstGeom>
          <a:noFill/>
        </p:spPr>
        <p:txBody>
          <a:bodyPr wrap="square" lIns="64008" tIns="64008" rIns="64008" bIns="64008" anchor="t">
            <a:spAutoFit/>
          </a:bodyPr>
          <a:lstStyle/>
          <a:p>
            <a:pPr algn="l"/>
            <a:r>
              <a:rPr sz="1400" b="1">
                <a:solidFill>
                  <a:srgbClr val="21324A"/>
                </a:solidFill>
                <a:latin typeface="Aptos"/>
              </a:rPr>
              <a:t>Teams</a:t>
            </a:r>
          </a:p>
        </p:txBody>
      </p:sp>
      <p:sp>
        <p:nvSpPr>
          <p:cNvPr id="39" name="TextBox 38"/>
          <p:cNvSpPr txBox="1"/>
          <p:nvPr/>
        </p:nvSpPr>
        <p:spPr>
          <a:xfrm>
            <a:off x="777240" y="3877056"/>
            <a:ext cx="4846320" cy="118872"/>
          </a:xfrm>
          <a:prstGeom prst="rect">
            <a:avLst/>
          </a:prstGeom>
          <a:noFill/>
        </p:spPr>
        <p:txBody>
          <a:bodyPr wrap="square" lIns="64008" tIns="64008" rIns="64008" bIns="64008" anchor="t">
            <a:spAutoFit/>
          </a:bodyPr>
          <a:lstStyle/>
          <a:p>
            <a:pPr algn="l"/>
            <a:r>
              <a:rPr sz="1400" b="0">
                <a:solidFill>
                  <a:srgbClr val="1E1E1E"/>
                </a:solidFill>
                <a:latin typeface="Aptos"/>
              </a:rPr>
              <a:t>Team hierarchy, team lists, team members, team goals and team-level metrics.</a:t>
            </a:r>
          </a:p>
        </p:txBody>
      </p:sp>
      <p:sp>
        <p:nvSpPr>
          <p:cNvPr id="40" name="Rounded Rectangle 39"/>
          <p:cNvSpPr/>
          <p:nvPr/>
        </p:nvSpPr>
        <p:spPr>
          <a:xfrm>
            <a:off x="6126480" y="3584448"/>
            <a:ext cx="5166360" cy="822960"/>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6126480" y="3374136"/>
            <a:ext cx="73152" cy="713232"/>
          </a:xfrm>
          <a:prstGeom prst="rect">
            <a:avLst/>
          </a:prstGeom>
          <a:solidFill>
            <a:srgbClr val="F26419"/>
          </a:solidFill>
          <a:ln>
            <a:solidFill>
              <a:srgbClr val="F2641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6291072" y="3538728"/>
            <a:ext cx="329184" cy="329184"/>
          </a:xfrm>
          <a:prstGeom prst="ellipse">
            <a:avLst/>
          </a:prstGeom>
          <a:solidFill>
            <a:srgbClr val="F26419"/>
          </a:solidFill>
          <a:ln>
            <a:solidFill>
              <a:srgbClr val="F2641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291072" y="3598164"/>
            <a:ext cx="329184" cy="109728"/>
          </a:xfrm>
          <a:prstGeom prst="rect">
            <a:avLst/>
          </a:prstGeom>
          <a:noFill/>
        </p:spPr>
        <p:txBody>
          <a:bodyPr wrap="square" lIns="64008" tIns="64008" rIns="64008" bIns="64008" anchor="t">
            <a:spAutoFit/>
          </a:bodyPr>
          <a:lstStyle/>
          <a:p>
            <a:pPr algn="ctr"/>
            <a:r>
              <a:rPr sz="1400" b="1">
                <a:solidFill>
                  <a:srgbClr val="FFFFFF"/>
                </a:solidFill>
                <a:latin typeface="Aptos"/>
              </a:rPr>
              <a:t>S</a:t>
            </a:r>
          </a:p>
        </p:txBody>
      </p:sp>
      <p:sp>
        <p:nvSpPr>
          <p:cNvPr id="44" name="TextBox 43"/>
          <p:cNvSpPr txBox="1"/>
          <p:nvPr/>
        </p:nvSpPr>
        <p:spPr>
          <a:xfrm>
            <a:off x="6693408" y="3493008"/>
            <a:ext cx="4462272" cy="320040"/>
          </a:xfrm>
          <a:prstGeom prst="rect">
            <a:avLst/>
          </a:prstGeom>
          <a:noFill/>
        </p:spPr>
        <p:txBody>
          <a:bodyPr wrap="square" lIns="64008" tIns="64008" rIns="64008" bIns="64008" anchor="t">
            <a:spAutoFit/>
          </a:bodyPr>
          <a:lstStyle/>
          <a:p>
            <a:pPr algn="l"/>
            <a:r>
              <a:rPr sz="1400" b="1">
                <a:solidFill>
                  <a:srgbClr val="21324A"/>
                </a:solidFill>
                <a:latin typeface="Aptos"/>
              </a:rPr>
              <a:t>Shared</a:t>
            </a:r>
          </a:p>
        </p:txBody>
      </p:sp>
      <p:sp>
        <p:nvSpPr>
          <p:cNvPr id="45" name="TextBox 44"/>
          <p:cNvSpPr txBox="1"/>
          <p:nvPr/>
        </p:nvSpPr>
        <p:spPr>
          <a:xfrm>
            <a:off x="6309360" y="3877056"/>
            <a:ext cx="4846320" cy="118872"/>
          </a:xfrm>
          <a:prstGeom prst="rect">
            <a:avLst/>
          </a:prstGeom>
          <a:noFill/>
        </p:spPr>
        <p:txBody>
          <a:bodyPr wrap="square" lIns="64008" tIns="64008" rIns="64008" bIns="64008" anchor="t">
            <a:spAutoFit/>
          </a:bodyPr>
          <a:lstStyle/>
          <a:p>
            <a:pPr algn="l"/>
            <a:r>
              <a:rPr sz="1400" b="0">
                <a:solidFill>
                  <a:srgbClr val="1E1E1E"/>
                </a:solidFill>
                <a:latin typeface="Aptos"/>
              </a:rPr>
              <a:t>Public/shared lists visible to broader groups depending on permissions.</a:t>
            </a:r>
          </a:p>
        </p:txBody>
      </p:sp>
      <p:sp>
        <p:nvSpPr>
          <p:cNvPr id="46" name="Rounded Rectangle 45"/>
          <p:cNvSpPr/>
          <p:nvPr/>
        </p:nvSpPr>
        <p:spPr>
          <a:xfrm>
            <a:off x="594360" y="4489704"/>
            <a:ext cx="5166360" cy="868680"/>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594360" y="4306824"/>
            <a:ext cx="73152" cy="713232"/>
          </a:xfrm>
          <a:prstGeom prst="rect">
            <a:avLst/>
          </a:prstGeom>
          <a:solidFill>
            <a:srgbClr val="1F609A"/>
          </a:solidFill>
          <a:ln>
            <a:solidFill>
              <a:srgbClr val="1F60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758952" y="4471416"/>
            <a:ext cx="329184" cy="329184"/>
          </a:xfrm>
          <a:prstGeom prst="ellipse">
            <a:avLst/>
          </a:prstGeom>
          <a:solidFill>
            <a:srgbClr val="1F609A"/>
          </a:solidFill>
          <a:ln>
            <a:solidFill>
              <a:srgbClr val="1F60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58952" y="4530852"/>
            <a:ext cx="329184" cy="109728"/>
          </a:xfrm>
          <a:prstGeom prst="rect">
            <a:avLst/>
          </a:prstGeom>
          <a:noFill/>
        </p:spPr>
        <p:txBody>
          <a:bodyPr wrap="square" lIns="64008" tIns="64008" rIns="64008" bIns="64008" anchor="t">
            <a:spAutoFit/>
          </a:bodyPr>
          <a:lstStyle/>
          <a:p>
            <a:pPr algn="ctr"/>
            <a:r>
              <a:rPr sz="1400" b="1">
                <a:solidFill>
                  <a:srgbClr val="FFFFFF"/>
                </a:solidFill>
                <a:latin typeface="Aptos"/>
              </a:rPr>
              <a:t>I</a:t>
            </a:r>
          </a:p>
        </p:txBody>
      </p:sp>
      <p:sp>
        <p:nvSpPr>
          <p:cNvPr id="50" name="TextBox 49"/>
          <p:cNvSpPr txBox="1"/>
          <p:nvPr/>
        </p:nvSpPr>
        <p:spPr>
          <a:xfrm>
            <a:off x="1161288" y="4425696"/>
            <a:ext cx="4462272" cy="320040"/>
          </a:xfrm>
          <a:prstGeom prst="rect">
            <a:avLst/>
          </a:prstGeom>
          <a:noFill/>
        </p:spPr>
        <p:txBody>
          <a:bodyPr wrap="square" lIns="64008" tIns="64008" rIns="64008" bIns="64008" anchor="t">
            <a:spAutoFit/>
          </a:bodyPr>
          <a:lstStyle/>
          <a:p>
            <a:pPr algn="l"/>
            <a:r>
              <a:rPr sz="1400" b="1">
                <a:solidFill>
                  <a:srgbClr val="21324A"/>
                </a:solidFill>
                <a:latin typeface="Aptos"/>
              </a:rPr>
              <a:t>Items</a:t>
            </a:r>
          </a:p>
        </p:txBody>
      </p:sp>
      <p:sp>
        <p:nvSpPr>
          <p:cNvPr id="51" name="TextBox 50"/>
          <p:cNvSpPr txBox="1"/>
          <p:nvPr/>
        </p:nvSpPr>
        <p:spPr>
          <a:xfrm>
            <a:off x="777240" y="4809744"/>
            <a:ext cx="4846320" cy="118872"/>
          </a:xfrm>
          <a:prstGeom prst="rect">
            <a:avLst/>
          </a:prstGeom>
          <a:noFill/>
        </p:spPr>
        <p:txBody>
          <a:bodyPr wrap="square" lIns="64008" tIns="64008" rIns="64008" bIns="64008" anchor="t">
            <a:spAutoFit/>
          </a:bodyPr>
          <a:lstStyle/>
          <a:p>
            <a:pPr algn="l"/>
            <a:r>
              <a:rPr sz="1400" b="0">
                <a:solidFill>
                  <a:srgbClr val="1E1E1E"/>
                </a:solidFill>
                <a:latin typeface="Aptos"/>
              </a:rPr>
              <a:t>Opportunities and obstacles with status, priority, owner, comments and relationships.</a:t>
            </a:r>
          </a:p>
        </p:txBody>
      </p:sp>
      <p:sp>
        <p:nvSpPr>
          <p:cNvPr id="52" name="Rounded Rectangle 51"/>
          <p:cNvSpPr/>
          <p:nvPr/>
        </p:nvSpPr>
        <p:spPr>
          <a:xfrm>
            <a:off x="6126480" y="4526279"/>
            <a:ext cx="5166360" cy="822959"/>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6126480" y="4306824"/>
            <a:ext cx="73152" cy="713232"/>
          </a:xfrm>
          <a:prstGeom prst="rect">
            <a:avLst/>
          </a:prstGeom>
          <a:solidFill>
            <a:srgbClr val="0097A7"/>
          </a:solidFill>
          <a:ln>
            <a:solidFill>
              <a:srgbClr val="009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6291072" y="4471416"/>
            <a:ext cx="329184" cy="329184"/>
          </a:xfrm>
          <a:prstGeom prst="ellipse">
            <a:avLst/>
          </a:prstGeom>
          <a:solidFill>
            <a:srgbClr val="0097A7"/>
          </a:solidFill>
          <a:ln>
            <a:solidFill>
              <a:srgbClr val="009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6291072" y="4530852"/>
            <a:ext cx="329184" cy="109728"/>
          </a:xfrm>
          <a:prstGeom prst="rect">
            <a:avLst/>
          </a:prstGeom>
          <a:noFill/>
        </p:spPr>
        <p:txBody>
          <a:bodyPr wrap="square" lIns="64008" tIns="64008" rIns="64008" bIns="64008" anchor="t">
            <a:spAutoFit/>
          </a:bodyPr>
          <a:lstStyle/>
          <a:p>
            <a:pPr algn="ctr"/>
            <a:r>
              <a:rPr sz="1400" b="1">
                <a:solidFill>
                  <a:srgbClr val="FFFFFF"/>
                </a:solidFill>
                <a:latin typeface="Aptos"/>
              </a:rPr>
              <a:t>N</a:t>
            </a:r>
          </a:p>
        </p:txBody>
      </p:sp>
      <p:sp>
        <p:nvSpPr>
          <p:cNvPr id="56" name="TextBox 55"/>
          <p:cNvSpPr txBox="1"/>
          <p:nvPr/>
        </p:nvSpPr>
        <p:spPr>
          <a:xfrm>
            <a:off x="6693408" y="4425696"/>
            <a:ext cx="4462272" cy="320040"/>
          </a:xfrm>
          <a:prstGeom prst="rect">
            <a:avLst/>
          </a:prstGeom>
          <a:noFill/>
        </p:spPr>
        <p:txBody>
          <a:bodyPr wrap="square" lIns="64008" tIns="64008" rIns="64008" bIns="64008" anchor="t">
            <a:spAutoFit/>
          </a:bodyPr>
          <a:lstStyle/>
          <a:p>
            <a:pPr algn="l"/>
            <a:r>
              <a:rPr sz="1400" b="1">
                <a:solidFill>
                  <a:srgbClr val="21324A"/>
                </a:solidFill>
                <a:latin typeface="Aptos"/>
              </a:rPr>
              <a:t>Notifications</a:t>
            </a:r>
          </a:p>
        </p:txBody>
      </p:sp>
      <p:sp>
        <p:nvSpPr>
          <p:cNvPr id="57" name="TextBox 56"/>
          <p:cNvSpPr txBox="1"/>
          <p:nvPr/>
        </p:nvSpPr>
        <p:spPr>
          <a:xfrm>
            <a:off x="6309360" y="4809744"/>
            <a:ext cx="4846320" cy="118872"/>
          </a:xfrm>
          <a:prstGeom prst="rect">
            <a:avLst/>
          </a:prstGeom>
          <a:noFill/>
        </p:spPr>
        <p:txBody>
          <a:bodyPr wrap="square" lIns="64008" tIns="64008" rIns="64008" bIns="64008" anchor="t">
            <a:spAutoFit/>
          </a:bodyPr>
          <a:lstStyle/>
          <a:p>
            <a:pPr algn="l"/>
            <a:r>
              <a:rPr sz="1400" b="0">
                <a:solidFill>
                  <a:srgbClr val="1E1E1E"/>
                </a:solidFill>
                <a:latin typeface="Aptos"/>
              </a:rPr>
              <a:t>Alerts generated when ownership, roles, comments or membership changes occur.</a:t>
            </a:r>
          </a:p>
        </p:txBody>
      </p:sp>
      <p:sp>
        <p:nvSpPr>
          <p:cNvPr id="58" name="Rounded Rectangle 57"/>
          <p:cNvSpPr/>
          <p:nvPr/>
        </p:nvSpPr>
        <p:spPr>
          <a:xfrm>
            <a:off x="594360" y="5431535"/>
            <a:ext cx="5166360" cy="914399"/>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583087" y="5413874"/>
            <a:ext cx="73152" cy="713232"/>
          </a:xfrm>
          <a:prstGeom prst="rect">
            <a:avLst/>
          </a:prstGeom>
          <a:solidFill>
            <a:srgbClr val="724BA8"/>
          </a:solidFill>
          <a:ln>
            <a:solidFill>
              <a:srgbClr val="724B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p:cNvSpPr/>
          <p:nvPr/>
        </p:nvSpPr>
        <p:spPr>
          <a:xfrm>
            <a:off x="758952" y="5404104"/>
            <a:ext cx="329184" cy="329184"/>
          </a:xfrm>
          <a:prstGeom prst="ellipse">
            <a:avLst/>
          </a:prstGeom>
          <a:solidFill>
            <a:srgbClr val="724BA8"/>
          </a:solidFill>
          <a:ln>
            <a:solidFill>
              <a:srgbClr val="724B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758952" y="5463540"/>
            <a:ext cx="329184" cy="109728"/>
          </a:xfrm>
          <a:prstGeom prst="rect">
            <a:avLst/>
          </a:prstGeom>
          <a:noFill/>
        </p:spPr>
        <p:txBody>
          <a:bodyPr wrap="square" lIns="64008" tIns="64008" rIns="64008" bIns="64008" anchor="t">
            <a:spAutoFit/>
          </a:bodyPr>
          <a:lstStyle/>
          <a:p>
            <a:pPr algn="ctr"/>
            <a:r>
              <a:rPr sz="1400" b="1" dirty="0">
                <a:solidFill>
                  <a:srgbClr val="FFFFFF"/>
                </a:solidFill>
                <a:latin typeface="Aptos"/>
              </a:rPr>
              <a:t>A</a:t>
            </a:r>
          </a:p>
        </p:txBody>
      </p:sp>
      <p:sp>
        <p:nvSpPr>
          <p:cNvPr id="62" name="TextBox 61"/>
          <p:cNvSpPr txBox="1"/>
          <p:nvPr/>
        </p:nvSpPr>
        <p:spPr>
          <a:xfrm>
            <a:off x="1161288" y="5358384"/>
            <a:ext cx="4462272" cy="320040"/>
          </a:xfrm>
          <a:prstGeom prst="rect">
            <a:avLst/>
          </a:prstGeom>
          <a:noFill/>
        </p:spPr>
        <p:txBody>
          <a:bodyPr wrap="square" lIns="64008" tIns="64008" rIns="64008" bIns="64008" anchor="t">
            <a:spAutoFit/>
          </a:bodyPr>
          <a:lstStyle/>
          <a:p>
            <a:pPr algn="l"/>
            <a:r>
              <a:rPr sz="1400" b="1" dirty="0">
                <a:solidFill>
                  <a:srgbClr val="21324A"/>
                </a:solidFill>
                <a:latin typeface="Aptos"/>
              </a:rPr>
              <a:t>Audit Logs</a:t>
            </a:r>
          </a:p>
        </p:txBody>
      </p:sp>
      <p:sp>
        <p:nvSpPr>
          <p:cNvPr id="63" name="TextBox 62"/>
          <p:cNvSpPr txBox="1"/>
          <p:nvPr/>
        </p:nvSpPr>
        <p:spPr>
          <a:xfrm>
            <a:off x="777240" y="5742432"/>
            <a:ext cx="4846320" cy="118872"/>
          </a:xfrm>
          <a:prstGeom prst="rect">
            <a:avLst/>
          </a:prstGeom>
          <a:noFill/>
        </p:spPr>
        <p:txBody>
          <a:bodyPr wrap="square" lIns="64008" tIns="64008" rIns="64008" bIns="64008" anchor="t">
            <a:spAutoFit/>
          </a:bodyPr>
          <a:lstStyle/>
          <a:p>
            <a:pPr algn="l"/>
            <a:r>
              <a:rPr sz="1400" b="0">
                <a:solidFill>
                  <a:srgbClr val="1E1E1E"/>
                </a:solidFill>
                <a:latin typeface="Aptos"/>
              </a:rPr>
              <a:t>History of key changes for traceability, governance and debugging.</a:t>
            </a:r>
          </a:p>
        </p:txBody>
      </p:sp>
      <p:sp>
        <p:nvSpPr>
          <p:cNvPr id="64" name="Rounded Rectangle 63"/>
          <p:cNvSpPr/>
          <p:nvPr/>
        </p:nvSpPr>
        <p:spPr>
          <a:xfrm>
            <a:off x="6126480" y="5490972"/>
            <a:ext cx="5166360" cy="909828"/>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6126480" y="5239512"/>
            <a:ext cx="73152" cy="713232"/>
          </a:xfrm>
          <a:prstGeom prst="rect">
            <a:avLst/>
          </a:prstGeom>
          <a:solidFill>
            <a:srgbClr val="3A9D58"/>
          </a:solidFill>
          <a:ln>
            <a:solidFill>
              <a:srgbClr val="3A9D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Oval 65"/>
          <p:cNvSpPr/>
          <p:nvPr/>
        </p:nvSpPr>
        <p:spPr>
          <a:xfrm>
            <a:off x="6291072" y="5404104"/>
            <a:ext cx="329184" cy="329184"/>
          </a:xfrm>
          <a:prstGeom prst="ellipse">
            <a:avLst/>
          </a:prstGeom>
          <a:solidFill>
            <a:srgbClr val="3A9D58"/>
          </a:solidFill>
          <a:ln>
            <a:solidFill>
              <a:srgbClr val="3A9D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6291072" y="5463540"/>
            <a:ext cx="329184" cy="109728"/>
          </a:xfrm>
          <a:prstGeom prst="rect">
            <a:avLst/>
          </a:prstGeom>
          <a:noFill/>
        </p:spPr>
        <p:txBody>
          <a:bodyPr wrap="square" lIns="64008" tIns="64008" rIns="64008" bIns="64008" anchor="t">
            <a:spAutoFit/>
          </a:bodyPr>
          <a:lstStyle/>
          <a:p>
            <a:pPr algn="ctr"/>
            <a:r>
              <a:rPr sz="1400" b="1">
                <a:solidFill>
                  <a:srgbClr val="FFFFFF"/>
                </a:solidFill>
                <a:latin typeface="Aptos"/>
              </a:rPr>
              <a:t>L</a:t>
            </a:r>
          </a:p>
        </p:txBody>
      </p:sp>
      <p:sp>
        <p:nvSpPr>
          <p:cNvPr id="68" name="TextBox 67"/>
          <p:cNvSpPr txBox="1"/>
          <p:nvPr/>
        </p:nvSpPr>
        <p:spPr>
          <a:xfrm>
            <a:off x="6693408" y="5358384"/>
            <a:ext cx="4462272" cy="320040"/>
          </a:xfrm>
          <a:prstGeom prst="rect">
            <a:avLst/>
          </a:prstGeom>
          <a:noFill/>
        </p:spPr>
        <p:txBody>
          <a:bodyPr wrap="square" lIns="64008" tIns="64008" rIns="64008" bIns="64008" anchor="t">
            <a:spAutoFit/>
          </a:bodyPr>
          <a:lstStyle/>
          <a:p>
            <a:pPr algn="l"/>
            <a:r>
              <a:rPr sz="1400" b="1">
                <a:solidFill>
                  <a:srgbClr val="21324A"/>
                </a:solidFill>
                <a:latin typeface="Aptos"/>
              </a:rPr>
              <a:t>Leaderboard</a:t>
            </a:r>
          </a:p>
        </p:txBody>
      </p:sp>
      <p:sp>
        <p:nvSpPr>
          <p:cNvPr id="69" name="TextBox 68"/>
          <p:cNvSpPr txBox="1"/>
          <p:nvPr/>
        </p:nvSpPr>
        <p:spPr>
          <a:xfrm>
            <a:off x="6309360" y="5742432"/>
            <a:ext cx="4846320" cy="118872"/>
          </a:xfrm>
          <a:prstGeom prst="rect">
            <a:avLst/>
          </a:prstGeom>
          <a:noFill/>
        </p:spPr>
        <p:txBody>
          <a:bodyPr wrap="square" lIns="64008" tIns="64008" rIns="64008" bIns="64008" anchor="t">
            <a:spAutoFit/>
          </a:bodyPr>
          <a:lstStyle/>
          <a:p>
            <a:pPr algn="l"/>
            <a:r>
              <a:rPr sz="1400" b="0">
                <a:solidFill>
                  <a:srgbClr val="1E1E1E"/>
                </a:solidFill>
                <a:latin typeface="Aptos"/>
              </a:rPr>
              <a:t>Metrics showing contribution, ownership, adopted ideas and obstacle resolution.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420624"/>
          </a:xfrm>
          <a:prstGeom prst="rect">
            <a:avLst/>
          </a:prstGeom>
          <a:solidFill>
            <a:srgbClr val="21324A"/>
          </a:solidFill>
          <a:ln>
            <a:solidFill>
              <a:srgbClr val="21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04800" y="20686"/>
            <a:ext cx="2377440" cy="437043"/>
          </a:xfrm>
          <a:prstGeom prst="rect">
            <a:avLst/>
          </a:prstGeom>
          <a:noFill/>
        </p:spPr>
        <p:txBody>
          <a:bodyPr wrap="square" lIns="64008" tIns="64008" rIns="64008" bIns="64008" anchor="t">
            <a:spAutoFit/>
          </a:bodyPr>
          <a:lstStyle/>
          <a:p>
            <a:pPr algn="l"/>
            <a:r>
              <a:rPr sz="2000" b="1" dirty="0">
                <a:solidFill>
                  <a:srgbClr val="FFFFFF"/>
                </a:solidFill>
                <a:latin typeface="Aptos"/>
              </a:rPr>
              <a:t>WORKFLOW</a:t>
            </a:r>
          </a:p>
        </p:txBody>
      </p:sp>
      <p:sp>
        <p:nvSpPr>
          <p:cNvPr id="4" name="TextBox 3"/>
          <p:cNvSpPr txBox="1"/>
          <p:nvPr/>
        </p:nvSpPr>
        <p:spPr>
          <a:xfrm>
            <a:off x="11155680" y="100584"/>
            <a:ext cx="731520" cy="228600"/>
          </a:xfrm>
          <a:prstGeom prst="rect">
            <a:avLst/>
          </a:prstGeom>
          <a:noFill/>
        </p:spPr>
        <p:txBody>
          <a:bodyPr wrap="square" lIns="64008" tIns="64008" rIns="64008" bIns="64008" anchor="t">
            <a:spAutoFit/>
          </a:bodyPr>
          <a:lstStyle/>
          <a:p>
            <a:pPr algn="r"/>
            <a:r>
              <a:rPr sz="1400" b="1">
                <a:solidFill>
                  <a:srgbClr val="F26419"/>
                </a:solidFill>
                <a:latin typeface="Aptos"/>
              </a:rPr>
              <a:t>EXL</a:t>
            </a:r>
          </a:p>
        </p:txBody>
      </p:sp>
      <p:sp>
        <p:nvSpPr>
          <p:cNvPr id="5" name="TextBox 4"/>
          <p:cNvSpPr txBox="1"/>
          <p:nvPr/>
        </p:nvSpPr>
        <p:spPr>
          <a:xfrm>
            <a:off x="454587" y="381763"/>
            <a:ext cx="9509760" cy="438912"/>
          </a:xfrm>
          <a:prstGeom prst="rect">
            <a:avLst/>
          </a:prstGeom>
          <a:noFill/>
        </p:spPr>
        <p:txBody>
          <a:bodyPr wrap="square" lIns="64008" tIns="64008" rIns="64008" bIns="64008" anchor="t">
            <a:spAutoFit/>
          </a:bodyPr>
          <a:lstStyle/>
          <a:p>
            <a:pPr algn="l"/>
            <a:r>
              <a:rPr sz="2300" b="1" dirty="0">
                <a:solidFill>
                  <a:srgbClr val="F26419"/>
                </a:solidFill>
                <a:latin typeface="Aptos"/>
              </a:rPr>
              <a:t>End-to-end business journey</a:t>
            </a:r>
          </a:p>
        </p:txBody>
      </p:sp>
      <p:sp>
        <p:nvSpPr>
          <p:cNvPr id="6" name="TextBox 5"/>
          <p:cNvSpPr txBox="1"/>
          <p:nvPr/>
        </p:nvSpPr>
        <p:spPr>
          <a:xfrm>
            <a:off x="481017" y="736092"/>
            <a:ext cx="10515600" cy="292608"/>
          </a:xfrm>
          <a:prstGeom prst="rect">
            <a:avLst/>
          </a:prstGeom>
          <a:noFill/>
        </p:spPr>
        <p:txBody>
          <a:bodyPr wrap="square" lIns="64008" tIns="64008" rIns="64008" bIns="64008" anchor="t">
            <a:spAutoFit/>
          </a:bodyPr>
          <a:lstStyle/>
          <a:p>
            <a:pPr algn="l"/>
            <a:r>
              <a:rPr sz="1400" b="0" dirty="0">
                <a:solidFill>
                  <a:srgbClr val="5A5A5A"/>
                </a:solidFill>
                <a:latin typeface="Aptos"/>
              </a:rPr>
              <a:t>The user journey starts with authentication and then branches into personal work, team work, goal management and shared collaboration.</a:t>
            </a:r>
          </a:p>
        </p:txBody>
      </p:sp>
      <p:sp>
        <p:nvSpPr>
          <p:cNvPr id="7" name="TextBox 6"/>
          <p:cNvSpPr txBox="1"/>
          <p:nvPr/>
        </p:nvSpPr>
        <p:spPr>
          <a:xfrm>
            <a:off x="502920" y="6528816"/>
            <a:ext cx="7772400" cy="201168"/>
          </a:xfrm>
          <a:prstGeom prst="rect">
            <a:avLst/>
          </a:prstGeom>
          <a:noFill/>
        </p:spPr>
        <p:txBody>
          <a:bodyPr wrap="square" lIns="64008" tIns="64008" rIns="64008" bIns="64008" anchor="t">
            <a:spAutoFit/>
          </a:bodyPr>
          <a:lstStyle/>
          <a:p>
            <a:pPr algn="l"/>
            <a:r>
              <a:rPr sz="750" b="0">
                <a:solidFill>
                  <a:srgbClr val="5A5A5A"/>
                </a:solidFill>
                <a:latin typeface="Aptos"/>
              </a:rPr>
              <a:t>EXL – Oakbridge Engagement | Our Understanding of Existing System</a:t>
            </a:r>
          </a:p>
        </p:txBody>
      </p:sp>
      <p:sp>
        <p:nvSpPr>
          <p:cNvPr id="8" name="TextBox 7"/>
          <p:cNvSpPr txBox="1"/>
          <p:nvPr/>
        </p:nvSpPr>
        <p:spPr>
          <a:xfrm>
            <a:off x="11475720" y="6528816"/>
            <a:ext cx="320040" cy="201168"/>
          </a:xfrm>
          <a:prstGeom prst="rect">
            <a:avLst/>
          </a:prstGeom>
          <a:noFill/>
        </p:spPr>
        <p:txBody>
          <a:bodyPr wrap="square" lIns="64008" tIns="64008" rIns="64008" bIns="64008" anchor="t">
            <a:spAutoFit/>
          </a:bodyPr>
          <a:lstStyle/>
          <a:p>
            <a:pPr algn="r"/>
            <a:r>
              <a:rPr sz="750" b="0">
                <a:solidFill>
                  <a:srgbClr val="5A5A5A"/>
                </a:solidFill>
                <a:latin typeface="Aptos"/>
              </a:rPr>
              <a:t>6</a:t>
            </a:r>
          </a:p>
        </p:txBody>
      </p:sp>
      <p:sp>
        <p:nvSpPr>
          <p:cNvPr id="9" name="Rectangle 8"/>
          <p:cNvSpPr/>
          <p:nvPr/>
        </p:nvSpPr>
        <p:spPr>
          <a:xfrm>
            <a:off x="502920" y="1344168"/>
            <a:ext cx="11064240" cy="22860"/>
          </a:xfrm>
          <a:prstGeom prst="rect">
            <a:avLst/>
          </a:prstGeom>
          <a:solidFill>
            <a:srgbClr val="DAE0E6"/>
          </a:solidFill>
          <a:ln>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31520" y="1600200"/>
            <a:ext cx="1447364" cy="594360"/>
          </a:xfrm>
          <a:prstGeom prst="roundRect">
            <a:avLst/>
          </a:prstGeom>
          <a:solidFill>
            <a:srgbClr val="F26419"/>
          </a:solidFill>
          <a:ln>
            <a:solidFill>
              <a:srgbClr val="F26419"/>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860" b="1">
                <a:solidFill>
                  <a:srgbClr val="FFFFFF"/>
                </a:solidFill>
              </a:defRPr>
            </a:pPr>
            <a:r>
              <a:rPr sz="1400"/>
              <a:t>Sign-in</a:t>
            </a:r>
          </a:p>
        </p:txBody>
      </p:sp>
      <p:cxnSp>
        <p:nvCxnSpPr>
          <p:cNvPr id="11" name="Connector 10"/>
          <p:cNvCxnSpPr/>
          <p:nvPr/>
        </p:nvCxnSpPr>
        <p:spPr>
          <a:xfrm>
            <a:off x="2178884" y="1897380"/>
            <a:ext cx="109728" cy="0"/>
          </a:xfrm>
          <a:prstGeom prst="line">
            <a:avLst/>
          </a:prstGeom>
          <a:ln w="19050">
            <a:solidFill>
              <a:srgbClr val="F26419"/>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288612" y="1600200"/>
            <a:ext cx="1447364" cy="594360"/>
          </a:xfrm>
          <a:prstGeom prst="roundRect">
            <a:avLst/>
          </a:prstGeom>
          <a:solidFill>
            <a:srgbClr val="1F609A"/>
          </a:solidFill>
          <a:ln>
            <a:solidFill>
              <a:srgbClr val="1F609A"/>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860" b="1">
                <a:solidFill>
                  <a:srgbClr val="FFFFFF"/>
                </a:solidFill>
              </a:defRPr>
            </a:pPr>
            <a:r>
              <a:rPr sz="1400"/>
              <a:t>Dashboard</a:t>
            </a:r>
          </a:p>
        </p:txBody>
      </p:sp>
      <p:cxnSp>
        <p:nvCxnSpPr>
          <p:cNvPr id="13" name="Connector 12"/>
          <p:cNvCxnSpPr/>
          <p:nvPr/>
        </p:nvCxnSpPr>
        <p:spPr>
          <a:xfrm>
            <a:off x="3735977" y="1897380"/>
            <a:ext cx="109728" cy="0"/>
          </a:xfrm>
          <a:prstGeom prst="line">
            <a:avLst/>
          </a:prstGeom>
          <a:ln w="19050">
            <a:solidFill>
              <a:srgbClr val="F26419"/>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845705" y="1600200"/>
            <a:ext cx="1447364" cy="594360"/>
          </a:xfrm>
          <a:prstGeom prst="roundRect">
            <a:avLst/>
          </a:prstGeom>
          <a:solidFill>
            <a:srgbClr val="1F609A"/>
          </a:solidFill>
          <a:ln>
            <a:solidFill>
              <a:srgbClr val="1F609A"/>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860" b="1">
                <a:solidFill>
                  <a:srgbClr val="FFFFFF"/>
                </a:solidFill>
              </a:defRPr>
            </a:pPr>
            <a:r>
              <a:rPr sz="1400"/>
              <a:t>Navigate</a:t>
            </a:r>
          </a:p>
        </p:txBody>
      </p:sp>
      <p:cxnSp>
        <p:nvCxnSpPr>
          <p:cNvPr id="15" name="Connector 14"/>
          <p:cNvCxnSpPr/>
          <p:nvPr/>
        </p:nvCxnSpPr>
        <p:spPr>
          <a:xfrm>
            <a:off x="5293069" y="1897380"/>
            <a:ext cx="109728" cy="0"/>
          </a:xfrm>
          <a:prstGeom prst="line">
            <a:avLst/>
          </a:prstGeom>
          <a:ln w="19050">
            <a:solidFill>
              <a:srgbClr val="F26419"/>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402797" y="1600200"/>
            <a:ext cx="1447364" cy="594360"/>
          </a:xfrm>
          <a:prstGeom prst="roundRect">
            <a:avLst/>
          </a:prstGeom>
          <a:solidFill>
            <a:srgbClr val="0097A7"/>
          </a:solidFill>
          <a:ln>
            <a:solidFill>
              <a:srgbClr val="0097A7"/>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860" b="1">
                <a:solidFill>
                  <a:srgbClr val="FFFFFF"/>
                </a:solidFill>
              </a:defRPr>
            </a:pPr>
            <a:r>
              <a:rPr sz="1400"/>
              <a:t>Create/Update</a:t>
            </a:r>
          </a:p>
        </p:txBody>
      </p:sp>
      <p:cxnSp>
        <p:nvCxnSpPr>
          <p:cNvPr id="17" name="Connector 16"/>
          <p:cNvCxnSpPr/>
          <p:nvPr/>
        </p:nvCxnSpPr>
        <p:spPr>
          <a:xfrm>
            <a:off x="6850162" y="1897380"/>
            <a:ext cx="109728" cy="0"/>
          </a:xfrm>
          <a:prstGeom prst="line">
            <a:avLst/>
          </a:prstGeom>
          <a:ln w="19050">
            <a:solidFill>
              <a:srgbClr val="F26419"/>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959890" y="1600200"/>
            <a:ext cx="1447364" cy="594360"/>
          </a:xfrm>
          <a:prstGeom prst="roundRect">
            <a:avLst/>
          </a:prstGeom>
          <a:solidFill>
            <a:srgbClr val="724BA8"/>
          </a:solidFill>
          <a:ln>
            <a:solidFill>
              <a:srgbClr val="724BA8"/>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860" b="1">
                <a:solidFill>
                  <a:srgbClr val="FFFFFF"/>
                </a:solidFill>
              </a:defRPr>
            </a:pPr>
            <a:r>
              <a:rPr sz="1400" dirty="0"/>
              <a:t>Collaborate</a:t>
            </a:r>
          </a:p>
        </p:txBody>
      </p:sp>
      <p:cxnSp>
        <p:nvCxnSpPr>
          <p:cNvPr id="19" name="Connector 18"/>
          <p:cNvCxnSpPr/>
          <p:nvPr/>
        </p:nvCxnSpPr>
        <p:spPr>
          <a:xfrm>
            <a:off x="8407254" y="1897380"/>
            <a:ext cx="109728" cy="0"/>
          </a:xfrm>
          <a:prstGeom prst="line">
            <a:avLst/>
          </a:prstGeom>
          <a:ln w="19050">
            <a:solidFill>
              <a:srgbClr val="F26419"/>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516982" y="1600200"/>
            <a:ext cx="1447364" cy="594360"/>
          </a:xfrm>
          <a:prstGeom prst="roundRect">
            <a:avLst/>
          </a:prstGeom>
          <a:solidFill>
            <a:srgbClr val="3A9D58"/>
          </a:solidFill>
          <a:ln>
            <a:solidFill>
              <a:srgbClr val="3A9D58"/>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860" b="1">
                <a:solidFill>
                  <a:srgbClr val="FFFFFF"/>
                </a:solidFill>
              </a:defRPr>
            </a:pPr>
            <a:r>
              <a:rPr sz="1400"/>
              <a:t>Track</a:t>
            </a:r>
          </a:p>
        </p:txBody>
      </p:sp>
      <p:cxnSp>
        <p:nvCxnSpPr>
          <p:cNvPr id="21" name="Connector 20"/>
          <p:cNvCxnSpPr/>
          <p:nvPr/>
        </p:nvCxnSpPr>
        <p:spPr>
          <a:xfrm>
            <a:off x="9964347" y="1897380"/>
            <a:ext cx="109728" cy="0"/>
          </a:xfrm>
          <a:prstGeom prst="line">
            <a:avLst/>
          </a:prstGeom>
          <a:ln w="19050">
            <a:solidFill>
              <a:srgbClr val="F26419"/>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10074075" y="1600200"/>
            <a:ext cx="1447364" cy="594360"/>
          </a:xfrm>
          <a:prstGeom prst="roundRect">
            <a:avLst/>
          </a:prstGeom>
          <a:solidFill>
            <a:srgbClr val="21324A"/>
          </a:solidFill>
          <a:ln>
            <a:solidFill>
              <a:srgbClr val="21324A"/>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860" b="1">
                <a:solidFill>
                  <a:srgbClr val="FFFFFF"/>
                </a:solidFill>
              </a:defRPr>
            </a:pPr>
            <a:r>
              <a:rPr sz="1400"/>
              <a:t>Report</a:t>
            </a:r>
          </a:p>
        </p:txBody>
      </p:sp>
      <p:sp>
        <p:nvSpPr>
          <p:cNvPr id="23" name="Rounded Rectangle 22"/>
          <p:cNvSpPr/>
          <p:nvPr/>
        </p:nvSpPr>
        <p:spPr>
          <a:xfrm>
            <a:off x="731520" y="2743200"/>
            <a:ext cx="3429000" cy="2240280"/>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731520" y="2743200"/>
            <a:ext cx="73152" cy="2240280"/>
          </a:xfrm>
          <a:prstGeom prst="rect">
            <a:avLst/>
          </a:prstGeom>
          <a:solidFill>
            <a:srgbClr val="F26419"/>
          </a:solidFill>
          <a:ln>
            <a:solidFill>
              <a:srgbClr val="F2641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14400" y="2862072"/>
            <a:ext cx="3108960" cy="320040"/>
          </a:xfrm>
          <a:prstGeom prst="rect">
            <a:avLst/>
          </a:prstGeom>
          <a:noFill/>
        </p:spPr>
        <p:txBody>
          <a:bodyPr wrap="square" lIns="64008" tIns="64008" rIns="64008" bIns="64008" anchor="t">
            <a:spAutoFit/>
          </a:bodyPr>
          <a:lstStyle/>
          <a:p>
            <a:pPr algn="l"/>
            <a:r>
              <a:rPr sz="1400" b="1">
                <a:solidFill>
                  <a:srgbClr val="21324A"/>
                </a:solidFill>
                <a:latin typeface="Aptos"/>
              </a:rPr>
              <a:t>Personal work</a:t>
            </a:r>
          </a:p>
        </p:txBody>
      </p:sp>
      <p:sp>
        <p:nvSpPr>
          <p:cNvPr id="26" name="TextBox 25"/>
          <p:cNvSpPr txBox="1"/>
          <p:nvPr/>
        </p:nvSpPr>
        <p:spPr>
          <a:xfrm>
            <a:off x="914400" y="3246120"/>
            <a:ext cx="3108960" cy="1645920"/>
          </a:xfrm>
          <a:prstGeom prst="rect">
            <a:avLst/>
          </a:prstGeom>
          <a:noFill/>
        </p:spPr>
        <p:txBody>
          <a:bodyPr wrap="square" lIns="64008" tIns="64008" rIns="64008" bIns="64008" anchor="t">
            <a:spAutoFit/>
          </a:bodyPr>
          <a:lstStyle/>
          <a:p>
            <a:pPr algn="l"/>
            <a:r>
              <a:rPr sz="1400" b="0">
                <a:solidFill>
                  <a:srgbClr val="1E1E1E"/>
                </a:solidFill>
                <a:latin typeface="Aptos"/>
              </a:rPr>
              <a:t>• My 30 List shows the personal queue.</a:t>
            </a:r>
          </a:p>
          <a:p>
            <a:pPr algn="l"/>
            <a:r>
              <a:rPr sz="1400" b="0">
                <a:solidFill>
                  <a:srgbClr val="1E1E1E"/>
                </a:solidFill>
                <a:latin typeface="Aptos"/>
              </a:rPr>
              <a:t>• My Goals and My To-Dos summarize user-owned work.</a:t>
            </a:r>
          </a:p>
          <a:p>
            <a:pPr algn="l"/>
            <a:r>
              <a:rPr sz="1400" b="0">
                <a:solidFill>
                  <a:srgbClr val="1E1E1E"/>
                </a:solidFill>
                <a:latin typeface="Aptos"/>
              </a:rPr>
              <a:t>• Movement history tracks approvals and item movement.</a:t>
            </a:r>
          </a:p>
        </p:txBody>
      </p:sp>
      <p:sp>
        <p:nvSpPr>
          <p:cNvPr id="27" name="Rounded Rectangle 26"/>
          <p:cNvSpPr/>
          <p:nvPr/>
        </p:nvSpPr>
        <p:spPr>
          <a:xfrm>
            <a:off x="4480559" y="2743200"/>
            <a:ext cx="3429000" cy="2240280"/>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4480559" y="2743200"/>
            <a:ext cx="73152" cy="2240280"/>
          </a:xfrm>
          <a:prstGeom prst="rect">
            <a:avLst/>
          </a:prstGeom>
          <a:solidFill>
            <a:srgbClr val="1F609A"/>
          </a:solidFill>
          <a:ln>
            <a:solidFill>
              <a:srgbClr val="1F60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663440" y="2862072"/>
            <a:ext cx="3108960" cy="320040"/>
          </a:xfrm>
          <a:prstGeom prst="rect">
            <a:avLst/>
          </a:prstGeom>
          <a:noFill/>
        </p:spPr>
        <p:txBody>
          <a:bodyPr wrap="square" lIns="64008" tIns="64008" rIns="64008" bIns="64008" anchor="t">
            <a:spAutoFit/>
          </a:bodyPr>
          <a:lstStyle/>
          <a:p>
            <a:pPr algn="l"/>
            <a:r>
              <a:rPr sz="1400" b="1">
                <a:solidFill>
                  <a:srgbClr val="21324A"/>
                </a:solidFill>
                <a:latin typeface="Aptos"/>
              </a:rPr>
              <a:t>Team work</a:t>
            </a:r>
          </a:p>
        </p:txBody>
      </p:sp>
      <p:sp>
        <p:nvSpPr>
          <p:cNvPr id="30" name="TextBox 29"/>
          <p:cNvSpPr txBox="1"/>
          <p:nvPr/>
        </p:nvSpPr>
        <p:spPr>
          <a:xfrm>
            <a:off x="4663440" y="3246120"/>
            <a:ext cx="3108960" cy="1645920"/>
          </a:xfrm>
          <a:prstGeom prst="rect">
            <a:avLst/>
          </a:prstGeom>
          <a:noFill/>
        </p:spPr>
        <p:txBody>
          <a:bodyPr wrap="square" lIns="64008" tIns="64008" rIns="64008" bIns="64008" anchor="t">
            <a:spAutoFit/>
          </a:bodyPr>
          <a:lstStyle/>
          <a:p>
            <a:pPr algn="l"/>
            <a:r>
              <a:rPr sz="1400" b="0">
                <a:solidFill>
                  <a:srgbClr val="1E1E1E"/>
                </a:solidFill>
                <a:latin typeface="Aptos"/>
              </a:rPr>
              <a:t>• Team pages provide dashboard, OOO, goals, to-dos, team lists and team members.</a:t>
            </a:r>
          </a:p>
          <a:p>
            <a:pPr algn="l"/>
            <a:r>
              <a:rPr sz="1400" b="0">
                <a:solidFill>
                  <a:srgbClr val="1E1E1E"/>
                </a:solidFill>
                <a:latin typeface="Aptos"/>
              </a:rPr>
              <a:t>• Team lists organize work by department or initiative.</a:t>
            </a:r>
          </a:p>
          <a:p>
            <a:pPr algn="l"/>
            <a:r>
              <a:rPr sz="1400" b="0">
                <a:solidFill>
                  <a:srgbClr val="1E1E1E"/>
                </a:solidFill>
                <a:latin typeface="Aptos"/>
              </a:rPr>
              <a:t>• Team members define who can act and what they can access.</a:t>
            </a:r>
          </a:p>
        </p:txBody>
      </p:sp>
      <p:sp>
        <p:nvSpPr>
          <p:cNvPr id="31" name="Rounded Rectangle 30"/>
          <p:cNvSpPr/>
          <p:nvPr/>
        </p:nvSpPr>
        <p:spPr>
          <a:xfrm>
            <a:off x="8229600" y="2743200"/>
            <a:ext cx="3429000" cy="2240280"/>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8229600" y="2743200"/>
            <a:ext cx="73152" cy="2240280"/>
          </a:xfrm>
          <a:prstGeom prst="rect">
            <a:avLst/>
          </a:prstGeom>
          <a:solidFill>
            <a:srgbClr val="0097A7"/>
          </a:solidFill>
          <a:ln>
            <a:solidFill>
              <a:srgbClr val="009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412480" y="2862072"/>
            <a:ext cx="3108960" cy="320040"/>
          </a:xfrm>
          <a:prstGeom prst="rect">
            <a:avLst/>
          </a:prstGeom>
          <a:noFill/>
        </p:spPr>
        <p:txBody>
          <a:bodyPr wrap="square" lIns="64008" tIns="64008" rIns="64008" bIns="64008" anchor="t">
            <a:spAutoFit/>
          </a:bodyPr>
          <a:lstStyle/>
          <a:p>
            <a:pPr algn="l"/>
            <a:r>
              <a:rPr sz="1400" b="1">
                <a:solidFill>
                  <a:srgbClr val="21324A"/>
                </a:solidFill>
                <a:latin typeface="Aptos"/>
              </a:rPr>
              <a:t>Organization work</a:t>
            </a:r>
          </a:p>
        </p:txBody>
      </p:sp>
      <p:sp>
        <p:nvSpPr>
          <p:cNvPr id="34" name="TextBox 33"/>
          <p:cNvSpPr txBox="1"/>
          <p:nvPr/>
        </p:nvSpPr>
        <p:spPr>
          <a:xfrm>
            <a:off x="8412480" y="3246120"/>
            <a:ext cx="3108960" cy="1645920"/>
          </a:xfrm>
          <a:prstGeom prst="rect">
            <a:avLst/>
          </a:prstGeom>
          <a:noFill/>
        </p:spPr>
        <p:txBody>
          <a:bodyPr wrap="square" lIns="64008" tIns="64008" rIns="64008" bIns="64008" anchor="t">
            <a:spAutoFit/>
          </a:bodyPr>
          <a:lstStyle/>
          <a:p>
            <a:pPr algn="l"/>
            <a:r>
              <a:rPr sz="1400" b="0">
                <a:solidFill>
                  <a:srgbClr val="1E1E1E"/>
                </a:solidFill>
                <a:latin typeface="Aptos"/>
              </a:rPr>
              <a:t>• Organization goals show company-wide priorities and leadership initiatives.</a:t>
            </a:r>
          </a:p>
          <a:p>
            <a:pPr algn="l"/>
            <a:r>
              <a:rPr sz="1400" b="0">
                <a:solidFill>
                  <a:srgbClr val="1E1E1E"/>
                </a:solidFill>
                <a:latin typeface="Aptos"/>
              </a:rPr>
              <a:t>• Shared lists provide broader visibility where allowed.</a:t>
            </a:r>
          </a:p>
          <a:p>
            <a:pPr algn="l"/>
            <a:r>
              <a:rPr sz="1400" b="0">
                <a:solidFill>
                  <a:srgbClr val="1E1E1E"/>
                </a:solidFill>
                <a:latin typeface="Aptos"/>
              </a:rPr>
              <a:t>• Leaderboard and analytics summarize contribution.</a:t>
            </a:r>
          </a:p>
        </p:txBody>
      </p:sp>
      <p:sp>
        <p:nvSpPr>
          <p:cNvPr id="35" name="Rounded Rectangle 34"/>
          <p:cNvSpPr/>
          <p:nvPr/>
        </p:nvSpPr>
        <p:spPr>
          <a:xfrm>
            <a:off x="731520" y="5349240"/>
            <a:ext cx="10789920" cy="1106424"/>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731520" y="5349240"/>
            <a:ext cx="73152" cy="640080"/>
          </a:xfrm>
          <a:prstGeom prst="rect">
            <a:avLst/>
          </a:prstGeom>
          <a:solidFill>
            <a:srgbClr val="F26419"/>
          </a:solidFill>
          <a:ln>
            <a:solidFill>
              <a:srgbClr val="F2641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14400" y="5468112"/>
            <a:ext cx="10469880" cy="320040"/>
          </a:xfrm>
          <a:prstGeom prst="rect">
            <a:avLst/>
          </a:prstGeom>
          <a:noFill/>
        </p:spPr>
        <p:txBody>
          <a:bodyPr wrap="square" lIns="64008" tIns="64008" rIns="64008" bIns="64008" anchor="t">
            <a:spAutoFit/>
          </a:bodyPr>
          <a:lstStyle/>
          <a:p>
            <a:pPr algn="l"/>
            <a:r>
              <a:rPr sz="1400" b="1">
                <a:solidFill>
                  <a:srgbClr val="21324A"/>
                </a:solidFill>
                <a:latin typeface="Aptos"/>
              </a:rPr>
              <a:t>Client-facing interpretation</a:t>
            </a:r>
          </a:p>
        </p:txBody>
      </p:sp>
      <p:sp>
        <p:nvSpPr>
          <p:cNvPr id="38" name="TextBox 37"/>
          <p:cNvSpPr txBox="1"/>
          <p:nvPr/>
        </p:nvSpPr>
        <p:spPr>
          <a:xfrm>
            <a:off x="914400" y="5852159"/>
            <a:ext cx="10469880" cy="45719"/>
          </a:xfrm>
          <a:prstGeom prst="rect">
            <a:avLst/>
          </a:prstGeom>
          <a:noFill/>
        </p:spPr>
        <p:txBody>
          <a:bodyPr wrap="square" lIns="64008" tIns="64008" rIns="64008" bIns="64008" anchor="t">
            <a:spAutoFit/>
          </a:bodyPr>
          <a:lstStyle/>
          <a:p>
            <a:pPr algn="l"/>
            <a:r>
              <a:rPr sz="1400" b="0">
                <a:solidFill>
                  <a:srgbClr val="1E1E1E"/>
                </a:solidFill>
                <a:latin typeface="Aptos"/>
              </a:rPr>
              <a:t>The platform is designed to connect strategy to execution: company vision and goals define direction; teams and items manage day-to-day work; analytics and audit logs provide visibility and control.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420624"/>
          </a:xfrm>
          <a:prstGeom prst="rect">
            <a:avLst/>
          </a:prstGeom>
          <a:solidFill>
            <a:srgbClr val="21324A"/>
          </a:solidFill>
          <a:ln>
            <a:solidFill>
              <a:srgbClr val="21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2385" y="8903"/>
            <a:ext cx="2377440" cy="437043"/>
          </a:xfrm>
          <a:prstGeom prst="rect">
            <a:avLst/>
          </a:prstGeom>
          <a:noFill/>
        </p:spPr>
        <p:txBody>
          <a:bodyPr wrap="square" lIns="64008" tIns="64008" rIns="64008" bIns="64008" anchor="t">
            <a:spAutoFit/>
          </a:bodyPr>
          <a:lstStyle/>
          <a:p>
            <a:pPr algn="l"/>
            <a:r>
              <a:rPr sz="2000" b="1" dirty="0">
                <a:solidFill>
                  <a:srgbClr val="FFFFFF"/>
                </a:solidFill>
                <a:latin typeface="Aptos"/>
              </a:rPr>
              <a:t>WORKFLOW</a:t>
            </a:r>
          </a:p>
        </p:txBody>
      </p:sp>
      <p:sp>
        <p:nvSpPr>
          <p:cNvPr id="4" name="TextBox 3"/>
          <p:cNvSpPr txBox="1"/>
          <p:nvPr/>
        </p:nvSpPr>
        <p:spPr>
          <a:xfrm>
            <a:off x="11155680" y="100584"/>
            <a:ext cx="731520" cy="228600"/>
          </a:xfrm>
          <a:prstGeom prst="rect">
            <a:avLst/>
          </a:prstGeom>
          <a:noFill/>
        </p:spPr>
        <p:txBody>
          <a:bodyPr wrap="square" lIns="64008" tIns="64008" rIns="64008" bIns="64008" anchor="t">
            <a:spAutoFit/>
          </a:bodyPr>
          <a:lstStyle/>
          <a:p>
            <a:pPr algn="r"/>
            <a:r>
              <a:rPr sz="1400" b="1">
                <a:solidFill>
                  <a:srgbClr val="F26419"/>
                </a:solidFill>
                <a:latin typeface="Aptos"/>
              </a:rPr>
              <a:t>EXL</a:t>
            </a:r>
          </a:p>
        </p:txBody>
      </p:sp>
      <p:sp>
        <p:nvSpPr>
          <p:cNvPr id="5" name="TextBox 4"/>
          <p:cNvSpPr txBox="1"/>
          <p:nvPr/>
        </p:nvSpPr>
        <p:spPr>
          <a:xfrm>
            <a:off x="416052" y="466344"/>
            <a:ext cx="9509760" cy="438912"/>
          </a:xfrm>
          <a:prstGeom prst="rect">
            <a:avLst/>
          </a:prstGeom>
          <a:noFill/>
        </p:spPr>
        <p:txBody>
          <a:bodyPr wrap="square" lIns="64008" tIns="64008" rIns="64008" bIns="64008" anchor="t">
            <a:spAutoFit/>
          </a:bodyPr>
          <a:lstStyle/>
          <a:p>
            <a:pPr algn="l"/>
            <a:r>
              <a:rPr sz="2300" b="1" dirty="0">
                <a:solidFill>
                  <a:srgbClr val="F26419"/>
                </a:solidFill>
                <a:latin typeface="Aptos"/>
              </a:rPr>
              <a:t>Enterprise workflow model</a:t>
            </a:r>
          </a:p>
        </p:txBody>
      </p:sp>
      <p:sp>
        <p:nvSpPr>
          <p:cNvPr id="6" name="TextBox 5"/>
          <p:cNvSpPr txBox="1"/>
          <p:nvPr/>
        </p:nvSpPr>
        <p:spPr>
          <a:xfrm>
            <a:off x="502920" y="786384"/>
            <a:ext cx="10515600" cy="292608"/>
          </a:xfrm>
          <a:prstGeom prst="rect">
            <a:avLst/>
          </a:prstGeom>
          <a:noFill/>
        </p:spPr>
        <p:txBody>
          <a:bodyPr wrap="square" lIns="64008" tIns="64008" rIns="64008" bIns="64008" anchor="t">
            <a:spAutoFit/>
          </a:bodyPr>
          <a:lstStyle/>
          <a:p>
            <a:pPr algn="l"/>
            <a:r>
              <a:rPr sz="1400" b="0" dirty="0">
                <a:solidFill>
                  <a:srgbClr val="5A5A5A"/>
                </a:solidFill>
                <a:latin typeface="Aptos"/>
              </a:rPr>
              <a:t>The application follows a repeatable operating model from planning to execution, collaboration, governance and reporting.</a:t>
            </a:r>
          </a:p>
        </p:txBody>
      </p:sp>
      <p:sp>
        <p:nvSpPr>
          <p:cNvPr id="7" name="TextBox 6"/>
          <p:cNvSpPr txBox="1"/>
          <p:nvPr/>
        </p:nvSpPr>
        <p:spPr>
          <a:xfrm>
            <a:off x="502920" y="6528816"/>
            <a:ext cx="7772400" cy="201168"/>
          </a:xfrm>
          <a:prstGeom prst="rect">
            <a:avLst/>
          </a:prstGeom>
          <a:noFill/>
        </p:spPr>
        <p:txBody>
          <a:bodyPr wrap="square" lIns="64008" tIns="64008" rIns="64008" bIns="64008" anchor="t">
            <a:spAutoFit/>
          </a:bodyPr>
          <a:lstStyle/>
          <a:p>
            <a:pPr algn="l"/>
            <a:r>
              <a:rPr sz="750" b="0">
                <a:solidFill>
                  <a:srgbClr val="5A5A5A"/>
                </a:solidFill>
                <a:latin typeface="Aptos"/>
              </a:rPr>
              <a:t>EXL – Oakbridge Engagement | Our Understanding of Existing System</a:t>
            </a:r>
          </a:p>
        </p:txBody>
      </p:sp>
      <p:sp>
        <p:nvSpPr>
          <p:cNvPr id="8" name="TextBox 7"/>
          <p:cNvSpPr txBox="1"/>
          <p:nvPr/>
        </p:nvSpPr>
        <p:spPr>
          <a:xfrm>
            <a:off x="11475720" y="6528816"/>
            <a:ext cx="320040" cy="201168"/>
          </a:xfrm>
          <a:prstGeom prst="rect">
            <a:avLst/>
          </a:prstGeom>
          <a:noFill/>
        </p:spPr>
        <p:txBody>
          <a:bodyPr wrap="square" lIns="64008" tIns="64008" rIns="64008" bIns="64008" anchor="t">
            <a:spAutoFit/>
          </a:bodyPr>
          <a:lstStyle/>
          <a:p>
            <a:pPr algn="r"/>
            <a:r>
              <a:rPr sz="750" b="0">
                <a:solidFill>
                  <a:srgbClr val="5A5A5A"/>
                </a:solidFill>
                <a:latin typeface="Aptos"/>
              </a:rPr>
              <a:t>7</a:t>
            </a:r>
          </a:p>
        </p:txBody>
      </p:sp>
      <p:sp>
        <p:nvSpPr>
          <p:cNvPr id="9" name="Rectangle 8"/>
          <p:cNvSpPr/>
          <p:nvPr/>
        </p:nvSpPr>
        <p:spPr>
          <a:xfrm>
            <a:off x="502920" y="1344168"/>
            <a:ext cx="11064240" cy="22860"/>
          </a:xfrm>
          <a:prstGeom prst="rect">
            <a:avLst/>
          </a:prstGeom>
          <a:solidFill>
            <a:srgbClr val="DAE0E6"/>
          </a:solidFill>
          <a:ln>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 y="1600200"/>
            <a:ext cx="10881360" cy="2880360"/>
          </a:xfrm>
          <a:prstGeom prst="rect">
            <a:avLst/>
          </a:prstGeom>
          <a:solidFill>
            <a:srgbClr val="F4F6F8"/>
          </a:solidFill>
          <a:ln>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Chevron 10"/>
          <p:cNvSpPr/>
          <p:nvPr/>
        </p:nvSpPr>
        <p:spPr>
          <a:xfrm>
            <a:off x="640080" y="1691640"/>
            <a:ext cx="1783080" cy="502920"/>
          </a:xfrm>
          <a:prstGeom prst="chevron">
            <a:avLst/>
          </a:prstGeom>
          <a:solidFill>
            <a:srgbClr val="1F609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94944" y="1810512"/>
            <a:ext cx="1673352" cy="201168"/>
          </a:xfrm>
          <a:prstGeom prst="rect">
            <a:avLst/>
          </a:prstGeom>
          <a:noFill/>
        </p:spPr>
        <p:txBody>
          <a:bodyPr wrap="square" lIns="64008" tIns="64008" rIns="64008" bIns="64008" anchor="t">
            <a:spAutoFit/>
          </a:bodyPr>
          <a:lstStyle/>
          <a:p>
            <a:pPr algn="ctr"/>
            <a:r>
              <a:rPr sz="1400" b="1">
                <a:solidFill>
                  <a:srgbClr val="FFFFFF"/>
                </a:solidFill>
                <a:latin typeface="Aptos"/>
              </a:rPr>
              <a:t>1. Plan</a:t>
            </a:r>
          </a:p>
        </p:txBody>
      </p:sp>
      <p:sp>
        <p:nvSpPr>
          <p:cNvPr id="13" name="TextBox 12"/>
          <p:cNvSpPr txBox="1"/>
          <p:nvPr/>
        </p:nvSpPr>
        <p:spPr>
          <a:xfrm>
            <a:off x="749808" y="2313432"/>
            <a:ext cx="1563624" cy="2075688"/>
          </a:xfrm>
          <a:prstGeom prst="rect">
            <a:avLst/>
          </a:prstGeom>
          <a:noFill/>
        </p:spPr>
        <p:txBody>
          <a:bodyPr wrap="square" lIns="64008" tIns="64008" rIns="64008" bIns="64008" anchor="t">
            <a:spAutoFit/>
          </a:bodyPr>
          <a:lstStyle/>
          <a:p>
            <a:pPr algn="l"/>
            <a:r>
              <a:rPr sz="1400" b="0">
                <a:solidFill>
                  <a:srgbClr val="1E1E1E"/>
                </a:solidFill>
                <a:latin typeface="Aptos"/>
              </a:rPr>
              <a:t>Vision, purpose, values and long-term targets define the strategic direction.</a:t>
            </a:r>
          </a:p>
        </p:txBody>
      </p:sp>
      <p:sp>
        <p:nvSpPr>
          <p:cNvPr id="14" name="Chevron 13"/>
          <p:cNvSpPr/>
          <p:nvPr/>
        </p:nvSpPr>
        <p:spPr>
          <a:xfrm>
            <a:off x="2459736" y="1691640"/>
            <a:ext cx="1783080" cy="502920"/>
          </a:xfrm>
          <a:prstGeom prst="chevron">
            <a:avLst/>
          </a:prstGeom>
          <a:solidFill>
            <a:srgbClr val="2132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514600" y="1810512"/>
            <a:ext cx="1673352" cy="201168"/>
          </a:xfrm>
          <a:prstGeom prst="rect">
            <a:avLst/>
          </a:prstGeom>
          <a:noFill/>
        </p:spPr>
        <p:txBody>
          <a:bodyPr wrap="square" lIns="64008" tIns="64008" rIns="64008" bIns="64008" anchor="t">
            <a:spAutoFit/>
          </a:bodyPr>
          <a:lstStyle/>
          <a:p>
            <a:pPr algn="ctr"/>
            <a:r>
              <a:rPr sz="1400" b="1">
                <a:solidFill>
                  <a:srgbClr val="FFFFFF"/>
                </a:solidFill>
                <a:latin typeface="Aptos"/>
              </a:rPr>
              <a:t>2. Structure</a:t>
            </a:r>
          </a:p>
        </p:txBody>
      </p:sp>
      <p:sp>
        <p:nvSpPr>
          <p:cNvPr id="16" name="TextBox 15"/>
          <p:cNvSpPr txBox="1"/>
          <p:nvPr/>
        </p:nvSpPr>
        <p:spPr>
          <a:xfrm>
            <a:off x="2569464" y="2313432"/>
            <a:ext cx="1563624" cy="2075688"/>
          </a:xfrm>
          <a:prstGeom prst="rect">
            <a:avLst/>
          </a:prstGeom>
          <a:noFill/>
        </p:spPr>
        <p:txBody>
          <a:bodyPr wrap="square" lIns="64008" tIns="64008" rIns="64008" bIns="64008" anchor="t">
            <a:spAutoFit/>
          </a:bodyPr>
          <a:lstStyle/>
          <a:p>
            <a:pPr algn="l"/>
            <a:r>
              <a:rPr sz="1400" b="0">
                <a:solidFill>
                  <a:srgbClr val="1E1E1E"/>
                </a:solidFill>
                <a:latin typeface="Aptos"/>
              </a:rPr>
              <a:t>Teams, lists and hierarchy organize how work is distributed.</a:t>
            </a:r>
          </a:p>
        </p:txBody>
      </p:sp>
      <p:sp>
        <p:nvSpPr>
          <p:cNvPr id="17" name="Chevron 16"/>
          <p:cNvSpPr/>
          <p:nvPr/>
        </p:nvSpPr>
        <p:spPr>
          <a:xfrm>
            <a:off x="4279392" y="1691640"/>
            <a:ext cx="1783080" cy="502920"/>
          </a:xfrm>
          <a:prstGeom prst="chevron">
            <a:avLst/>
          </a:prstGeom>
          <a:solidFill>
            <a:srgbClr val="1F609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334256" y="1810512"/>
            <a:ext cx="1673352" cy="201168"/>
          </a:xfrm>
          <a:prstGeom prst="rect">
            <a:avLst/>
          </a:prstGeom>
          <a:noFill/>
        </p:spPr>
        <p:txBody>
          <a:bodyPr wrap="square" lIns="64008" tIns="64008" rIns="64008" bIns="64008" anchor="t">
            <a:spAutoFit/>
          </a:bodyPr>
          <a:lstStyle/>
          <a:p>
            <a:pPr algn="ctr"/>
            <a:r>
              <a:rPr sz="1400" b="1">
                <a:solidFill>
                  <a:srgbClr val="FFFFFF"/>
                </a:solidFill>
                <a:latin typeface="Aptos"/>
              </a:rPr>
              <a:t>3. Execute</a:t>
            </a:r>
          </a:p>
        </p:txBody>
      </p:sp>
      <p:sp>
        <p:nvSpPr>
          <p:cNvPr id="19" name="TextBox 18"/>
          <p:cNvSpPr txBox="1"/>
          <p:nvPr/>
        </p:nvSpPr>
        <p:spPr>
          <a:xfrm>
            <a:off x="4389120" y="2313432"/>
            <a:ext cx="1563624" cy="2075688"/>
          </a:xfrm>
          <a:prstGeom prst="rect">
            <a:avLst/>
          </a:prstGeom>
          <a:noFill/>
        </p:spPr>
        <p:txBody>
          <a:bodyPr wrap="square" lIns="64008" tIns="64008" rIns="64008" bIns="64008" anchor="t">
            <a:spAutoFit/>
          </a:bodyPr>
          <a:lstStyle/>
          <a:p>
            <a:pPr algn="l"/>
            <a:r>
              <a:rPr sz="1400" b="0">
                <a:solidFill>
                  <a:srgbClr val="1E1E1E"/>
                </a:solidFill>
                <a:latin typeface="Aptos"/>
              </a:rPr>
              <a:t>Goals, opportunities, obstacles and to-dos capture operational activity.</a:t>
            </a:r>
          </a:p>
        </p:txBody>
      </p:sp>
      <p:sp>
        <p:nvSpPr>
          <p:cNvPr id="20" name="Chevron 19"/>
          <p:cNvSpPr/>
          <p:nvPr/>
        </p:nvSpPr>
        <p:spPr>
          <a:xfrm>
            <a:off x="6099048" y="1691640"/>
            <a:ext cx="1783080" cy="502920"/>
          </a:xfrm>
          <a:prstGeom prst="chevron">
            <a:avLst/>
          </a:prstGeom>
          <a:solidFill>
            <a:srgbClr val="2132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153912" y="1810512"/>
            <a:ext cx="1673352" cy="201168"/>
          </a:xfrm>
          <a:prstGeom prst="rect">
            <a:avLst/>
          </a:prstGeom>
          <a:noFill/>
        </p:spPr>
        <p:txBody>
          <a:bodyPr wrap="square" lIns="64008" tIns="64008" rIns="64008" bIns="64008" anchor="t">
            <a:spAutoFit/>
          </a:bodyPr>
          <a:lstStyle/>
          <a:p>
            <a:pPr algn="ctr"/>
            <a:r>
              <a:rPr sz="1400" b="1">
                <a:solidFill>
                  <a:srgbClr val="FFFFFF"/>
                </a:solidFill>
                <a:latin typeface="Aptos"/>
              </a:rPr>
              <a:t>4. Collaborate</a:t>
            </a:r>
          </a:p>
        </p:txBody>
      </p:sp>
      <p:sp>
        <p:nvSpPr>
          <p:cNvPr id="22" name="TextBox 21"/>
          <p:cNvSpPr txBox="1"/>
          <p:nvPr/>
        </p:nvSpPr>
        <p:spPr>
          <a:xfrm>
            <a:off x="6208776" y="2313432"/>
            <a:ext cx="1563624" cy="2075688"/>
          </a:xfrm>
          <a:prstGeom prst="rect">
            <a:avLst/>
          </a:prstGeom>
          <a:noFill/>
        </p:spPr>
        <p:txBody>
          <a:bodyPr wrap="square" lIns="64008" tIns="64008" rIns="64008" bIns="64008" anchor="t">
            <a:spAutoFit/>
          </a:bodyPr>
          <a:lstStyle/>
          <a:p>
            <a:pPr algn="l"/>
            <a:r>
              <a:rPr sz="1400" b="0">
                <a:solidFill>
                  <a:srgbClr val="1E1E1E"/>
                </a:solidFill>
                <a:latin typeface="Aptos"/>
              </a:rPr>
              <a:t>Comments, relationships, RACI and notifications keep users aligned.</a:t>
            </a:r>
          </a:p>
        </p:txBody>
      </p:sp>
      <p:sp>
        <p:nvSpPr>
          <p:cNvPr id="23" name="Chevron 22"/>
          <p:cNvSpPr/>
          <p:nvPr/>
        </p:nvSpPr>
        <p:spPr>
          <a:xfrm>
            <a:off x="7918704" y="1691640"/>
            <a:ext cx="1783080" cy="502920"/>
          </a:xfrm>
          <a:prstGeom prst="chevron">
            <a:avLst/>
          </a:prstGeom>
          <a:solidFill>
            <a:srgbClr val="1F609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973568" y="1810512"/>
            <a:ext cx="1673352" cy="201168"/>
          </a:xfrm>
          <a:prstGeom prst="rect">
            <a:avLst/>
          </a:prstGeom>
          <a:noFill/>
        </p:spPr>
        <p:txBody>
          <a:bodyPr wrap="square" lIns="64008" tIns="64008" rIns="64008" bIns="64008" anchor="t">
            <a:spAutoFit/>
          </a:bodyPr>
          <a:lstStyle/>
          <a:p>
            <a:pPr algn="ctr"/>
            <a:r>
              <a:rPr sz="1400" b="1">
                <a:solidFill>
                  <a:srgbClr val="FFFFFF"/>
                </a:solidFill>
                <a:latin typeface="Aptos"/>
              </a:rPr>
              <a:t>5. Govern</a:t>
            </a:r>
          </a:p>
        </p:txBody>
      </p:sp>
      <p:sp>
        <p:nvSpPr>
          <p:cNvPr id="25" name="TextBox 24"/>
          <p:cNvSpPr txBox="1"/>
          <p:nvPr/>
        </p:nvSpPr>
        <p:spPr>
          <a:xfrm>
            <a:off x="8028431" y="2313432"/>
            <a:ext cx="1563624" cy="2075688"/>
          </a:xfrm>
          <a:prstGeom prst="rect">
            <a:avLst/>
          </a:prstGeom>
          <a:noFill/>
        </p:spPr>
        <p:txBody>
          <a:bodyPr wrap="square" lIns="64008" tIns="64008" rIns="64008" bIns="64008" anchor="t">
            <a:spAutoFit/>
          </a:bodyPr>
          <a:lstStyle/>
          <a:p>
            <a:pPr algn="l"/>
            <a:r>
              <a:rPr sz="1400" b="0">
                <a:solidFill>
                  <a:srgbClr val="1E1E1E"/>
                </a:solidFill>
                <a:latin typeface="Aptos"/>
              </a:rPr>
              <a:t>Access control, ownership checks, status transitions and audit logs protect the process.</a:t>
            </a:r>
          </a:p>
        </p:txBody>
      </p:sp>
      <p:sp>
        <p:nvSpPr>
          <p:cNvPr id="26" name="Chevron 25"/>
          <p:cNvSpPr/>
          <p:nvPr/>
        </p:nvSpPr>
        <p:spPr>
          <a:xfrm>
            <a:off x="9738360" y="1691640"/>
            <a:ext cx="1783080" cy="502920"/>
          </a:xfrm>
          <a:prstGeom prst="chevron">
            <a:avLst/>
          </a:prstGeom>
          <a:solidFill>
            <a:srgbClr val="2132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793224" y="1810512"/>
            <a:ext cx="1673352" cy="201168"/>
          </a:xfrm>
          <a:prstGeom prst="rect">
            <a:avLst/>
          </a:prstGeom>
          <a:noFill/>
        </p:spPr>
        <p:txBody>
          <a:bodyPr wrap="square" lIns="64008" tIns="64008" rIns="64008" bIns="64008" anchor="t">
            <a:spAutoFit/>
          </a:bodyPr>
          <a:lstStyle/>
          <a:p>
            <a:pPr algn="ctr"/>
            <a:r>
              <a:rPr sz="1400" b="1">
                <a:solidFill>
                  <a:srgbClr val="FFFFFF"/>
                </a:solidFill>
                <a:latin typeface="Aptos"/>
              </a:rPr>
              <a:t>6. Report</a:t>
            </a:r>
          </a:p>
        </p:txBody>
      </p:sp>
      <p:sp>
        <p:nvSpPr>
          <p:cNvPr id="28" name="TextBox 27"/>
          <p:cNvSpPr txBox="1"/>
          <p:nvPr/>
        </p:nvSpPr>
        <p:spPr>
          <a:xfrm>
            <a:off x="9848088" y="2313432"/>
            <a:ext cx="1563624" cy="2075688"/>
          </a:xfrm>
          <a:prstGeom prst="rect">
            <a:avLst/>
          </a:prstGeom>
          <a:noFill/>
        </p:spPr>
        <p:txBody>
          <a:bodyPr wrap="square" lIns="64008" tIns="64008" rIns="64008" bIns="64008" anchor="t">
            <a:spAutoFit/>
          </a:bodyPr>
          <a:lstStyle/>
          <a:p>
            <a:pPr algn="l"/>
            <a:r>
              <a:rPr sz="1400" b="0">
                <a:solidFill>
                  <a:srgbClr val="1E1E1E"/>
                </a:solidFill>
                <a:latin typeface="Aptos"/>
              </a:rPr>
              <a:t>Dashboard cards, leaderboards and goal progress provide visibility to leadership.</a:t>
            </a:r>
          </a:p>
        </p:txBody>
      </p:sp>
      <p:sp>
        <p:nvSpPr>
          <p:cNvPr id="29" name="TextBox 28"/>
          <p:cNvSpPr txBox="1"/>
          <p:nvPr/>
        </p:nvSpPr>
        <p:spPr>
          <a:xfrm>
            <a:off x="822960" y="4800600"/>
            <a:ext cx="2743200" cy="228600"/>
          </a:xfrm>
          <a:prstGeom prst="rect">
            <a:avLst/>
          </a:prstGeom>
          <a:noFill/>
        </p:spPr>
        <p:txBody>
          <a:bodyPr wrap="square" lIns="64008" tIns="64008" rIns="64008" bIns="64008" anchor="t">
            <a:spAutoFit/>
          </a:bodyPr>
          <a:lstStyle/>
          <a:p>
            <a:pPr algn="l"/>
            <a:r>
              <a:rPr sz="1400" b="1">
                <a:solidFill>
                  <a:srgbClr val="21324A"/>
                </a:solidFill>
                <a:latin typeface="Aptos"/>
              </a:rPr>
              <a:t>What this means for Oakbridge</a:t>
            </a:r>
          </a:p>
        </p:txBody>
      </p:sp>
      <p:sp>
        <p:nvSpPr>
          <p:cNvPr id="30" name="TextBox 29"/>
          <p:cNvSpPr txBox="1"/>
          <p:nvPr/>
        </p:nvSpPr>
        <p:spPr>
          <a:xfrm>
            <a:off x="822960" y="5120640"/>
            <a:ext cx="10149840" cy="914400"/>
          </a:xfrm>
          <a:prstGeom prst="rect">
            <a:avLst/>
          </a:prstGeom>
          <a:noFill/>
        </p:spPr>
        <p:txBody>
          <a:bodyPr wrap="square" lIns="73152" tIns="36576" rIns="45720" bIns="27432">
            <a:spAutoFit/>
          </a:bodyPr>
          <a:lstStyle/>
          <a:p>
            <a:pPr>
              <a:lnSpc>
                <a:spcPct val="100000"/>
              </a:lnSpc>
              <a:spcAft>
                <a:spcPts val="300"/>
              </a:spcAft>
              <a:defRPr sz="919">
                <a:solidFill>
                  <a:srgbClr val="1E1E1E"/>
                </a:solidFill>
                <a:latin typeface="Aptos"/>
              </a:defRPr>
            </a:pPr>
            <a:r>
              <a:rPr sz="1400"/>
              <a:t>• The system needs consistent data quality across goals, items, teams and users.</a:t>
            </a:r>
          </a:p>
          <a:p>
            <a:pPr>
              <a:lnSpc>
                <a:spcPct val="100000"/>
              </a:lnSpc>
              <a:spcAft>
                <a:spcPts val="300"/>
              </a:spcAft>
              <a:defRPr sz="919">
                <a:solidFill>
                  <a:srgbClr val="1E1E1E"/>
                </a:solidFill>
                <a:latin typeface="Aptos"/>
              </a:defRPr>
            </a:pPr>
            <a:r>
              <a:rPr sz="1400"/>
              <a:t>• The workflow depends heavily on correct relationships between owners, teams, lists and roles.</a:t>
            </a:r>
          </a:p>
          <a:p>
            <a:pPr>
              <a:lnSpc>
                <a:spcPct val="100000"/>
              </a:lnSpc>
              <a:spcAft>
                <a:spcPts val="300"/>
              </a:spcAft>
              <a:defRPr sz="919">
                <a:solidFill>
                  <a:srgbClr val="1E1E1E"/>
                </a:solidFill>
                <a:latin typeface="Aptos"/>
              </a:defRPr>
            </a:pPr>
            <a:r>
              <a:rPr sz="1400"/>
              <a:t>• Any broken navigation or missing relationship can directly impact user adoption and governance.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420624"/>
          </a:xfrm>
          <a:prstGeom prst="rect">
            <a:avLst/>
          </a:prstGeom>
          <a:solidFill>
            <a:srgbClr val="21324A"/>
          </a:solidFill>
          <a:ln>
            <a:solidFill>
              <a:srgbClr val="21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18872"/>
            <a:ext cx="2377440" cy="228600"/>
          </a:xfrm>
          <a:prstGeom prst="rect">
            <a:avLst/>
          </a:prstGeom>
          <a:noFill/>
        </p:spPr>
        <p:txBody>
          <a:bodyPr wrap="square" lIns="64008" tIns="64008" rIns="64008" bIns="64008" anchor="t">
            <a:spAutoFit/>
          </a:bodyPr>
          <a:lstStyle/>
          <a:p>
            <a:pPr algn="l"/>
            <a:r>
              <a:rPr sz="800" b="1">
                <a:solidFill>
                  <a:srgbClr val="FFFFFF"/>
                </a:solidFill>
                <a:latin typeface="Aptos"/>
              </a:rPr>
              <a:t>DATA MANAGEMENT</a:t>
            </a:r>
          </a:p>
        </p:txBody>
      </p:sp>
      <p:sp>
        <p:nvSpPr>
          <p:cNvPr id="4" name="TextBox 3"/>
          <p:cNvSpPr txBox="1"/>
          <p:nvPr/>
        </p:nvSpPr>
        <p:spPr>
          <a:xfrm>
            <a:off x="11155680" y="100584"/>
            <a:ext cx="731520" cy="228600"/>
          </a:xfrm>
          <a:prstGeom prst="rect">
            <a:avLst/>
          </a:prstGeom>
          <a:noFill/>
        </p:spPr>
        <p:txBody>
          <a:bodyPr wrap="square" lIns="64008" tIns="64008" rIns="64008" bIns="64008" anchor="t">
            <a:spAutoFit/>
          </a:bodyPr>
          <a:lstStyle/>
          <a:p>
            <a:pPr algn="r"/>
            <a:r>
              <a:rPr sz="1400" b="1">
                <a:solidFill>
                  <a:srgbClr val="F26419"/>
                </a:solidFill>
                <a:latin typeface="Aptos"/>
              </a:rPr>
              <a:t>EXL</a:t>
            </a:r>
          </a:p>
        </p:txBody>
      </p:sp>
      <p:sp>
        <p:nvSpPr>
          <p:cNvPr id="5" name="TextBox 4"/>
          <p:cNvSpPr txBox="1"/>
          <p:nvPr/>
        </p:nvSpPr>
        <p:spPr>
          <a:xfrm>
            <a:off x="521207" y="356616"/>
            <a:ext cx="9509760" cy="438912"/>
          </a:xfrm>
          <a:prstGeom prst="rect">
            <a:avLst/>
          </a:prstGeom>
          <a:noFill/>
        </p:spPr>
        <p:txBody>
          <a:bodyPr wrap="square" lIns="64008" tIns="64008" rIns="64008" bIns="64008" anchor="t">
            <a:spAutoFit/>
          </a:bodyPr>
          <a:lstStyle/>
          <a:p>
            <a:pPr algn="l"/>
            <a:r>
              <a:rPr sz="2300" b="1" dirty="0">
                <a:solidFill>
                  <a:srgbClr val="F26419"/>
                </a:solidFill>
                <a:latin typeface="Aptos"/>
              </a:rPr>
              <a:t>Data integration and management understanding</a:t>
            </a:r>
          </a:p>
        </p:txBody>
      </p:sp>
      <p:sp>
        <p:nvSpPr>
          <p:cNvPr id="6" name="TextBox 5"/>
          <p:cNvSpPr txBox="1"/>
          <p:nvPr/>
        </p:nvSpPr>
        <p:spPr>
          <a:xfrm>
            <a:off x="502920" y="672085"/>
            <a:ext cx="10515600" cy="292608"/>
          </a:xfrm>
          <a:prstGeom prst="rect">
            <a:avLst/>
          </a:prstGeom>
          <a:noFill/>
        </p:spPr>
        <p:txBody>
          <a:bodyPr wrap="square" lIns="64008" tIns="64008" rIns="64008" bIns="64008" anchor="t">
            <a:spAutoFit/>
          </a:bodyPr>
          <a:lstStyle/>
          <a:p>
            <a:pPr algn="l"/>
            <a:r>
              <a:rPr sz="1400" b="0" dirty="0">
                <a:solidFill>
                  <a:srgbClr val="5A5A5A"/>
                </a:solidFill>
                <a:latin typeface="Aptos"/>
              </a:rPr>
              <a:t>Data moves from user actions into backend APIs and </a:t>
            </a:r>
            <a:r>
              <a:rPr sz="1400" b="0" dirty="0" err="1">
                <a:solidFill>
                  <a:srgbClr val="5A5A5A"/>
                </a:solidFill>
                <a:latin typeface="Aptos"/>
              </a:rPr>
              <a:t>Supabase</a:t>
            </a:r>
            <a:r>
              <a:rPr sz="1400" b="0" dirty="0">
                <a:solidFill>
                  <a:srgbClr val="5A5A5A"/>
                </a:solidFill>
                <a:latin typeface="Aptos"/>
              </a:rPr>
              <a:t> tables, where it is validated, transformed and returned to the UI in a structured format.</a:t>
            </a:r>
          </a:p>
        </p:txBody>
      </p:sp>
      <p:sp>
        <p:nvSpPr>
          <p:cNvPr id="7" name="TextBox 6"/>
          <p:cNvSpPr txBox="1"/>
          <p:nvPr/>
        </p:nvSpPr>
        <p:spPr>
          <a:xfrm>
            <a:off x="502920" y="6528816"/>
            <a:ext cx="7772400" cy="201168"/>
          </a:xfrm>
          <a:prstGeom prst="rect">
            <a:avLst/>
          </a:prstGeom>
          <a:noFill/>
        </p:spPr>
        <p:txBody>
          <a:bodyPr wrap="square" lIns="64008" tIns="64008" rIns="64008" bIns="64008" anchor="t">
            <a:spAutoFit/>
          </a:bodyPr>
          <a:lstStyle/>
          <a:p>
            <a:pPr algn="l"/>
            <a:r>
              <a:rPr sz="750" b="0">
                <a:solidFill>
                  <a:srgbClr val="5A5A5A"/>
                </a:solidFill>
                <a:latin typeface="Aptos"/>
              </a:rPr>
              <a:t>EXL – Oakbridge Engagement | Our Understanding of Existing System</a:t>
            </a:r>
          </a:p>
        </p:txBody>
      </p:sp>
      <p:sp>
        <p:nvSpPr>
          <p:cNvPr id="8" name="TextBox 7"/>
          <p:cNvSpPr txBox="1"/>
          <p:nvPr/>
        </p:nvSpPr>
        <p:spPr>
          <a:xfrm>
            <a:off x="11475720" y="6528816"/>
            <a:ext cx="320040" cy="201168"/>
          </a:xfrm>
          <a:prstGeom prst="rect">
            <a:avLst/>
          </a:prstGeom>
          <a:noFill/>
        </p:spPr>
        <p:txBody>
          <a:bodyPr wrap="square" lIns="64008" tIns="64008" rIns="64008" bIns="64008" anchor="t">
            <a:spAutoFit/>
          </a:bodyPr>
          <a:lstStyle/>
          <a:p>
            <a:pPr algn="r"/>
            <a:r>
              <a:rPr sz="750" b="0">
                <a:solidFill>
                  <a:srgbClr val="5A5A5A"/>
                </a:solidFill>
                <a:latin typeface="Aptos"/>
              </a:rPr>
              <a:t>8</a:t>
            </a:r>
          </a:p>
        </p:txBody>
      </p:sp>
      <p:sp>
        <p:nvSpPr>
          <p:cNvPr id="9" name="Rectangle 8"/>
          <p:cNvSpPr/>
          <p:nvPr/>
        </p:nvSpPr>
        <p:spPr>
          <a:xfrm>
            <a:off x="502920" y="1344168"/>
            <a:ext cx="11064240" cy="22860"/>
          </a:xfrm>
          <a:prstGeom prst="rect">
            <a:avLst/>
          </a:prstGeom>
          <a:solidFill>
            <a:srgbClr val="DAE0E6"/>
          </a:solidFill>
          <a:ln>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1572768"/>
            <a:ext cx="3200400" cy="228600"/>
          </a:xfrm>
          <a:prstGeom prst="rect">
            <a:avLst/>
          </a:prstGeom>
          <a:noFill/>
        </p:spPr>
        <p:txBody>
          <a:bodyPr wrap="square" lIns="64008" tIns="64008" rIns="64008" bIns="64008" anchor="t">
            <a:spAutoFit/>
          </a:bodyPr>
          <a:lstStyle/>
          <a:p>
            <a:pPr algn="l"/>
            <a:r>
              <a:rPr sz="1400" b="1">
                <a:solidFill>
                  <a:srgbClr val="21324A"/>
                </a:solidFill>
                <a:latin typeface="Aptos"/>
              </a:rPr>
              <a:t>Data processing pipeline</a:t>
            </a:r>
          </a:p>
        </p:txBody>
      </p:sp>
      <p:sp>
        <p:nvSpPr>
          <p:cNvPr id="11" name="Rounded Rectangle 10"/>
          <p:cNvSpPr/>
          <p:nvPr/>
        </p:nvSpPr>
        <p:spPr>
          <a:xfrm>
            <a:off x="731520" y="1965960"/>
            <a:ext cx="1021080" cy="502920"/>
          </a:xfrm>
          <a:prstGeom prst="roundRect">
            <a:avLst/>
          </a:prstGeom>
          <a:solidFill>
            <a:srgbClr val="F26419"/>
          </a:solidFill>
          <a:ln>
            <a:solidFill>
              <a:srgbClr val="F26419"/>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800" b="1">
                <a:solidFill>
                  <a:srgbClr val="FFFFFF"/>
                </a:solidFill>
              </a:defRPr>
            </a:pPr>
            <a:r>
              <a:rPr sz="1400"/>
              <a:t>Input</a:t>
            </a:r>
          </a:p>
        </p:txBody>
      </p:sp>
      <p:cxnSp>
        <p:nvCxnSpPr>
          <p:cNvPr id="12" name="Connector 11"/>
          <p:cNvCxnSpPr/>
          <p:nvPr/>
        </p:nvCxnSpPr>
        <p:spPr>
          <a:xfrm>
            <a:off x="1752600" y="2217420"/>
            <a:ext cx="109728" cy="0"/>
          </a:xfrm>
          <a:prstGeom prst="line">
            <a:avLst/>
          </a:prstGeom>
          <a:ln w="19050">
            <a:solidFill>
              <a:srgbClr val="F26419"/>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1862328" y="1965960"/>
            <a:ext cx="1021080" cy="502920"/>
          </a:xfrm>
          <a:prstGeom prst="roundRect">
            <a:avLst/>
          </a:prstGeom>
          <a:solidFill>
            <a:srgbClr val="1F609A"/>
          </a:solidFill>
          <a:ln>
            <a:solidFill>
              <a:srgbClr val="1F609A"/>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800" b="1">
                <a:solidFill>
                  <a:srgbClr val="FFFFFF"/>
                </a:solidFill>
              </a:defRPr>
            </a:pPr>
            <a:r>
              <a:rPr sz="1400"/>
              <a:t>Validate</a:t>
            </a:r>
          </a:p>
        </p:txBody>
      </p:sp>
      <p:cxnSp>
        <p:nvCxnSpPr>
          <p:cNvPr id="14" name="Connector 13"/>
          <p:cNvCxnSpPr/>
          <p:nvPr/>
        </p:nvCxnSpPr>
        <p:spPr>
          <a:xfrm>
            <a:off x="2883408" y="2217420"/>
            <a:ext cx="109728" cy="0"/>
          </a:xfrm>
          <a:prstGeom prst="line">
            <a:avLst/>
          </a:prstGeom>
          <a:ln w="19050">
            <a:solidFill>
              <a:srgbClr val="F26419"/>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993136" y="1965960"/>
            <a:ext cx="1021080" cy="502920"/>
          </a:xfrm>
          <a:prstGeom prst="roundRect">
            <a:avLst/>
          </a:prstGeom>
          <a:solidFill>
            <a:srgbClr val="1F609A"/>
          </a:solidFill>
          <a:ln>
            <a:solidFill>
              <a:srgbClr val="1F609A"/>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800" b="1">
                <a:solidFill>
                  <a:srgbClr val="FFFFFF"/>
                </a:solidFill>
              </a:defRPr>
            </a:pPr>
            <a:r>
              <a:rPr sz="1400"/>
              <a:t>Transform</a:t>
            </a:r>
          </a:p>
        </p:txBody>
      </p:sp>
      <p:cxnSp>
        <p:nvCxnSpPr>
          <p:cNvPr id="16" name="Connector 15"/>
          <p:cNvCxnSpPr/>
          <p:nvPr/>
        </p:nvCxnSpPr>
        <p:spPr>
          <a:xfrm>
            <a:off x="4014216" y="2217420"/>
            <a:ext cx="109728" cy="0"/>
          </a:xfrm>
          <a:prstGeom prst="line">
            <a:avLst/>
          </a:prstGeom>
          <a:ln w="19050">
            <a:solidFill>
              <a:srgbClr val="F26419"/>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123944" y="1965960"/>
            <a:ext cx="1021080" cy="502920"/>
          </a:xfrm>
          <a:prstGeom prst="roundRect">
            <a:avLst/>
          </a:prstGeom>
          <a:solidFill>
            <a:srgbClr val="0097A7"/>
          </a:solidFill>
          <a:ln>
            <a:solidFill>
              <a:srgbClr val="0097A7"/>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800" b="1">
                <a:solidFill>
                  <a:srgbClr val="FFFFFF"/>
                </a:solidFill>
              </a:defRPr>
            </a:pPr>
            <a:r>
              <a:rPr sz="1400"/>
              <a:t>Persist</a:t>
            </a:r>
          </a:p>
        </p:txBody>
      </p:sp>
      <p:cxnSp>
        <p:nvCxnSpPr>
          <p:cNvPr id="18" name="Connector 17"/>
          <p:cNvCxnSpPr/>
          <p:nvPr/>
        </p:nvCxnSpPr>
        <p:spPr>
          <a:xfrm>
            <a:off x="5145024" y="2217420"/>
            <a:ext cx="109728" cy="0"/>
          </a:xfrm>
          <a:prstGeom prst="line">
            <a:avLst/>
          </a:prstGeom>
          <a:ln w="19050">
            <a:solidFill>
              <a:srgbClr val="F26419"/>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254752" y="1965960"/>
            <a:ext cx="1021080" cy="502920"/>
          </a:xfrm>
          <a:prstGeom prst="roundRect">
            <a:avLst/>
          </a:prstGeom>
          <a:solidFill>
            <a:srgbClr val="3A9D58"/>
          </a:solidFill>
          <a:ln>
            <a:solidFill>
              <a:srgbClr val="3A9D58"/>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800" b="1">
                <a:solidFill>
                  <a:srgbClr val="FFFFFF"/>
                </a:solidFill>
              </a:defRPr>
            </a:pPr>
            <a:r>
              <a:rPr sz="1400"/>
              <a:t>Respond</a:t>
            </a:r>
          </a:p>
        </p:txBody>
      </p:sp>
      <p:cxnSp>
        <p:nvCxnSpPr>
          <p:cNvPr id="20" name="Connector 19"/>
          <p:cNvCxnSpPr/>
          <p:nvPr/>
        </p:nvCxnSpPr>
        <p:spPr>
          <a:xfrm>
            <a:off x="6275832" y="2217420"/>
            <a:ext cx="109728" cy="0"/>
          </a:xfrm>
          <a:prstGeom prst="line">
            <a:avLst/>
          </a:prstGeom>
          <a:ln w="19050">
            <a:solidFill>
              <a:srgbClr val="F26419"/>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385560" y="1965960"/>
            <a:ext cx="1021080" cy="502920"/>
          </a:xfrm>
          <a:prstGeom prst="roundRect">
            <a:avLst/>
          </a:prstGeom>
          <a:solidFill>
            <a:srgbClr val="21324A"/>
          </a:solidFill>
          <a:ln>
            <a:solidFill>
              <a:srgbClr val="21324A"/>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800" b="1">
                <a:solidFill>
                  <a:srgbClr val="FFFFFF"/>
                </a:solidFill>
              </a:defRPr>
            </a:pPr>
            <a:r>
              <a:rPr sz="1400"/>
              <a:t>Display</a:t>
            </a:r>
          </a:p>
        </p:txBody>
      </p:sp>
      <p:sp>
        <p:nvSpPr>
          <p:cNvPr id="22" name="Rounded Rectangle 21"/>
          <p:cNvSpPr/>
          <p:nvPr/>
        </p:nvSpPr>
        <p:spPr>
          <a:xfrm>
            <a:off x="1308534" y="2679191"/>
            <a:ext cx="2221992" cy="2926082"/>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sz="1400" dirty="0">
                <a:solidFill>
                  <a:srgbClr val="1E1E1E"/>
                </a:solidFill>
                <a:latin typeface="Aptos"/>
              </a:rPr>
              <a:t>User actions such as create item, update goal, add member, comment, move item or change status trigger API calls.</a:t>
            </a:r>
          </a:p>
        </p:txBody>
      </p:sp>
      <p:sp>
        <p:nvSpPr>
          <p:cNvPr id="23" name="Rectangle 22"/>
          <p:cNvSpPr/>
          <p:nvPr/>
        </p:nvSpPr>
        <p:spPr>
          <a:xfrm>
            <a:off x="1266452" y="2743200"/>
            <a:ext cx="73152" cy="1143000"/>
          </a:xfrm>
          <a:prstGeom prst="rect">
            <a:avLst/>
          </a:prstGeom>
          <a:solidFill>
            <a:srgbClr val="F26419"/>
          </a:solidFill>
          <a:ln>
            <a:solidFill>
              <a:srgbClr val="F2641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559060" y="2964766"/>
            <a:ext cx="329184" cy="329184"/>
          </a:xfrm>
          <a:prstGeom prst="ellipse">
            <a:avLst/>
          </a:prstGeom>
          <a:solidFill>
            <a:srgbClr val="F26419"/>
          </a:solidFill>
          <a:ln>
            <a:solidFill>
              <a:srgbClr val="F2641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516856" y="3038270"/>
            <a:ext cx="329184" cy="109728"/>
          </a:xfrm>
          <a:prstGeom prst="rect">
            <a:avLst/>
          </a:prstGeom>
          <a:noFill/>
        </p:spPr>
        <p:txBody>
          <a:bodyPr wrap="square" lIns="64008" tIns="64008" rIns="64008" bIns="64008" anchor="t">
            <a:spAutoFit/>
          </a:bodyPr>
          <a:lstStyle/>
          <a:p>
            <a:pPr algn="ctr"/>
            <a:r>
              <a:rPr sz="1400" b="1">
                <a:solidFill>
                  <a:srgbClr val="FFFFFF"/>
                </a:solidFill>
                <a:latin typeface="Aptos"/>
              </a:rPr>
              <a:t>1</a:t>
            </a:r>
          </a:p>
        </p:txBody>
      </p:sp>
      <p:sp>
        <p:nvSpPr>
          <p:cNvPr id="26" name="TextBox 25"/>
          <p:cNvSpPr txBox="1"/>
          <p:nvPr/>
        </p:nvSpPr>
        <p:spPr>
          <a:xfrm>
            <a:off x="2028920" y="2946654"/>
            <a:ext cx="1444752" cy="320040"/>
          </a:xfrm>
          <a:prstGeom prst="rect">
            <a:avLst/>
          </a:prstGeom>
          <a:noFill/>
        </p:spPr>
        <p:txBody>
          <a:bodyPr wrap="square" lIns="64008" tIns="64008" rIns="64008" bIns="64008" anchor="t">
            <a:spAutoFit/>
          </a:bodyPr>
          <a:lstStyle/>
          <a:p>
            <a:pPr algn="l"/>
            <a:r>
              <a:rPr sz="1400" b="1" dirty="0">
                <a:solidFill>
                  <a:srgbClr val="21324A"/>
                </a:solidFill>
                <a:latin typeface="Aptos"/>
              </a:rPr>
              <a:t>Input sources</a:t>
            </a:r>
          </a:p>
        </p:txBody>
      </p:sp>
      <p:sp>
        <p:nvSpPr>
          <p:cNvPr id="28" name="Rounded Rectangle 27"/>
          <p:cNvSpPr/>
          <p:nvPr/>
        </p:nvSpPr>
        <p:spPr>
          <a:xfrm>
            <a:off x="4172831" y="2633472"/>
            <a:ext cx="2240280" cy="3017520"/>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sz="1400" dirty="0">
                <a:solidFill>
                  <a:srgbClr val="1E1E1E"/>
                </a:solidFill>
                <a:latin typeface="Aptos"/>
              </a:rPr>
              <a:t>API routes check authentication, required fields, role permissions and business preconditions before processing data.</a:t>
            </a:r>
          </a:p>
        </p:txBody>
      </p:sp>
      <p:sp>
        <p:nvSpPr>
          <p:cNvPr id="29" name="Rectangle 28"/>
          <p:cNvSpPr/>
          <p:nvPr/>
        </p:nvSpPr>
        <p:spPr>
          <a:xfrm>
            <a:off x="4090535" y="2724912"/>
            <a:ext cx="73152" cy="1143000"/>
          </a:xfrm>
          <a:prstGeom prst="rect">
            <a:avLst/>
          </a:prstGeom>
          <a:solidFill>
            <a:srgbClr val="1F609A"/>
          </a:solidFill>
          <a:ln>
            <a:solidFill>
              <a:srgbClr val="1F60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4468958" y="2992198"/>
            <a:ext cx="329184" cy="329184"/>
          </a:xfrm>
          <a:prstGeom prst="ellipse">
            <a:avLst/>
          </a:prstGeom>
          <a:solidFill>
            <a:srgbClr val="1F609A"/>
          </a:solidFill>
          <a:ln>
            <a:solidFill>
              <a:srgbClr val="1F60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487246" y="3038270"/>
            <a:ext cx="329184" cy="109728"/>
          </a:xfrm>
          <a:prstGeom prst="rect">
            <a:avLst/>
          </a:prstGeom>
          <a:noFill/>
        </p:spPr>
        <p:txBody>
          <a:bodyPr wrap="square" lIns="64008" tIns="64008" rIns="64008" bIns="64008" anchor="t">
            <a:spAutoFit/>
          </a:bodyPr>
          <a:lstStyle/>
          <a:p>
            <a:pPr algn="ctr"/>
            <a:r>
              <a:rPr sz="1400" b="1">
                <a:solidFill>
                  <a:srgbClr val="FFFFFF"/>
                </a:solidFill>
                <a:latin typeface="Aptos"/>
              </a:rPr>
              <a:t>2</a:t>
            </a:r>
          </a:p>
        </p:txBody>
      </p:sp>
      <p:sp>
        <p:nvSpPr>
          <p:cNvPr id="32" name="TextBox 31"/>
          <p:cNvSpPr txBox="1"/>
          <p:nvPr/>
        </p:nvSpPr>
        <p:spPr>
          <a:xfrm>
            <a:off x="5097782" y="2973910"/>
            <a:ext cx="1444752" cy="320040"/>
          </a:xfrm>
          <a:prstGeom prst="rect">
            <a:avLst/>
          </a:prstGeom>
          <a:noFill/>
        </p:spPr>
        <p:txBody>
          <a:bodyPr wrap="square" lIns="64008" tIns="64008" rIns="64008" bIns="64008" anchor="t">
            <a:spAutoFit/>
          </a:bodyPr>
          <a:lstStyle/>
          <a:p>
            <a:pPr algn="l"/>
            <a:r>
              <a:rPr sz="1400" b="1">
                <a:solidFill>
                  <a:srgbClr val="21324A"/>
                </a:solidFill>
                <a:latin typeface="Aptos"/>
              </a:rPr>
              <a:t>Validation</a:t>
            </a:r>
          </a:p>
        </p:txBody>
      </p:sp>
      <p:sp>
        <p:nvSpPr>
          <p:cNvPr id="34" name="Rounded Rectangle 33"/>
          <p:cNvSpPr/>
          <p:nvPr/>
        </p:nvSpPr>
        <p:spPr>
          <a:xfrm>
            <a:off x="7065497" y="2674620"/>
            <a:ext cx="2148840" cy="3017517"/>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sz="1400" dirty="0" err="1">
                <a:solidFill>
                  <a:srgbClr val="1E1E1E"/>
                </a:solidFill>
                <a:latin typeface="Aptos"/>
              </a:rPr>
              <a:t>DataService</a:t>
            </a:r>
            <a:r>
              <a:rPr lang="en-US" sz="1400" dirty="0">
                <a:solidFill>
                  <a:srgbClr val="1E1E1E"/>
                </a:solidFill>
                <a:latin typeface="Aptos"/>
              </a:rPr>
              <a:t> and API routes convert UI objects into database-ready payloads and map responses back for the frontend.</a:t>
            </a:r>
          </a:p>
        </p:txBody>
      </p:sp>
      <p:sp>
        <p:nvSpPr>
          <p:cNvPr id="35" name="Rectangle 34"/>
          <p:cNvSpPr/>
          <p:nvPr/>
        </p:nvSpPr>
        <p:spPr>
          <a:xfrm>
            <a:off x="7000786" y="2674620"/>
            <a:ext cx="73152" cy="1143000"/>
          </a:xfrm>
          <a:prstGeom prst="rect">
            <a:avLst/>
          </a:prstGeom>
          <a:solidFill>
            <a:srgbClr val="0097A7"/>
          </a:solidFill>
          <a:ln>
            <a:solidFill>
              <a:srgbClr val="009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7149203" y="2967228"/>
            <a:ext cx="329184" cy="329184"/>
          </a:xfrm>
          <a:prstGeom prst="ellipse">
            <a:avLst/>
          </a:prstGeom>
          <a:solidFill>
            <a:srgbClr val="0097A7"/>
          </a:solidFill>
          <a:ln>
            <a:solidFill>
              <a:srgbClr val="009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149203" y="2996946"/>
            <a:ext cx="329184" cy="109728"/>
          </a:xfrm>
          <a:prstGeom prst="rect">
            <a:avLst/>
          </a:prstGeom>
          <a:noFill/>
        </p:spPr>
        <p:txBody>
          <a:bodyPr wrap="square" lIns="64008" tIns="64008" rIns="64008" bIns="64008" anchor="t">
            <a:spAutoFit/>
          </a:bodyPr>
          <a:lstStyle/>
          <a:p>
            <a:pPr algn="ctr"/>
            <a:r>
              <a:rPr sz="1400" b="1">
                <a:solidFill>
                  <a:srgbClr val="FFFFFF"/>
                </a:solidFill>
                <a:latin typeface="Aptos"/>
              </a:rPr>
              <a:t>3</a:t>
            </a:r>
          </a:p>
        </p:txBody>
      </p:sp>
      <p:sp>
        <p:nvSpPr>
          <p:cNvPr id="38" name="TextBox 37"/>
          <p:cNvSpPr txBox="1"/>
          <p:nvPr/>
        </p:nvSpPr>
        <p:spPr>
          <a:xfrm>
            <a:off x="7469945" y="2992198"/>
            <a:ext cx="1444752" cy="320040"/>
          </a:xfrm>
          <a:prstGeom prst="rect">
            <a:avLst/>
          </a:prstGeom>
          <a:noFill/>
        </p:spPr>
        <p:txBody>
          <a:bodyPr wrap="square" lIns="64008" tIns="64008" rIns="64008" bIns="64008" anchor="t">
            <a:spAutoFit/>
          </a:bodyPr>
          <a:lstStyle/>
          <a:p>
            <a:pPr algn="l"/>
            <a:r>
              <a:rPr sz="1400" b="1" dirty="0">
                <a:solidFill>
                  <a:srgbClr val="21324A"/>
                </a:solidFill>
                <a:latin typeface="Aptos"/>
              </a:rPr>
              <a:t>Transformation</a:t>
            </a:r>
          </a:p>
        </p:txBody>
      </p:sp>
      <p:sp>
        <p:nvSpPr>
          <p:cNvPr id="40" name="Rounded Rectangle 39"/>
          <p:cNvSpPr/>
          <p:nvPr/>
        </p:nvSpPr>
        <p:spPr>
          <a:xfrm>
            <a:off x="9646920" y="2546605"/>
            <a:ext cx="2148840" cy="3122676"/>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sz="1400" dirty="0" err="1">
                <a:solidFill>
                  <a:srgbClr val="1E1E1E"/>
                </a:solidFill>
                <a:latin typeface="Aptos"/>
              </a:rPr>
              <a:t>Supabase</a:t>
            </a:r>
            <a:r>
              <a:rPr lang="en-US" sz="1400" dirty="0">
                <a:solidFill>
                  <a:srgbClr val="1E1E1E"/>
                </a:solidFill>
                <a:latin typeface="Aptos"/>
              </a:rPr>
              <a:t> tables store users, teams, members, goals, items, lists, comments, audit logs and notifications.</a:t>
            </a:r>
          </a:p>
        </p:txBody>
      </p:sp>
      <p:sp>
        <p:nvSpPr>
          <p:cNvPr id="41" name="Rectangle 40"/>
          <p:cNvSpPr/>
          <p:nvPr/>
        </p:nvSpPr>
        <p:spPr>
          <a:xfrm>
            <a:off x="9580097" y="2674620"/>
            <a:ext cx="73152" cy="1143000"/>
          </a:xfrm>
          <a:prstGeom prst="rect">
            <a:avLst/>
          </a:prstGeom>
          <a:solidFill>
            <a:srgbClr val="3A9D58"/>
          </a:solidFill>
          <a:ln>
            <a:solidFill>
              <a:srgbClr val="3A9D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9762977" y="2894076"/>
            <a:ext cx="329184" cy="329184"/>
          </a:xfrm>
          <a:prstGeom prst="ellipse">
            <a:avLst/>
          </a:prstGeom>
          <a:solidFill>
            <a:srgbClr val="3A9D58"/>
          </a:solidFill>
          <a:ln>
            <a:solidFill>
              <a:srgbClr val="3A9D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762977" y="2945951"/>
            <a:ext cx="329184" cy="109728"/>
          </a:xfrm>
          <a:prstGeom prst="rect">
            <a:avLst/>
          </a:prstGeom>
          <a:noFill/>
        </p:spPr>
        <p:txBody>
          <a:bodyPr wrap="square" lIns="64008" tIns="64008" rIns="64008" bIns="64008" anchor="t">
            <a:spAutoFit/>
          </a:bodyPr>
          <a:lstStyle/>
          <a:p>
            <a:pPr algn="ctr"/>
            <a:r>
              <a:rPr sz="1400" b="1" dirty="0">
                <a:solidFill>
                  <a:srgbClr val="FFFFFF"/>
                </a:solidFill>
                <a:latin typeface="Aptos"/>
              </a:rPr>
              <a:t>4</a:t>
            </a:r>
          </a:p>
        </p:txBody>
      </p:sp>
      <p:sp>
        <p:nvSpPr>
          <p:cNvPr id="44" name="TextBox 43"/>
          <p:cNvSpPr txBox="1"/>
          <p:nvPr/>
        </p:nvSpPr>
        <p:spPr>
          <a:xfrm>
            <a:off x="10211033" y="2905330"/>
            <a:ext cx="1444752" cy="320040"/>
          </a:xfrm>
          <a:prstGeom prst="rect">
            <a:avLst/>
          </a:prstGeom>
          <a:noFill/>
        </p:spPr>
        <p:txBody>
          <a:bodyPr wrap="square" lIns="64008" tIns="64008" rIns="64008" bIns="64008" anchor="t">
            <a:spAutoFit/>
          </a:bodyPr>
          <a:lstStyle/>
          <a:p>
            <a:pPr algn="l"/>
            <a:r>
              <a:rPr sz="1400" b="1" dirty="0">
                <a:solidFill>
                  <a:srgbClr val="21324A"/>
                </a:solidFill>
                <a:latin typeface="Aptos"/>
              </a:rPr>
              <a:t>Persistence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420624"/>
          </a:xfrm>
          <a:prstGeom prst="rect">
            <a:avLst/>
          </a:prstGeom>
          <a:solidFill>
            <a:srgbClr val="21324A"/>
          </a:solidFill>
          <a:ln>
            <a:solidFill>
              <a:srgbClr val="21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92608" y="-17594"/>
            <a:ext cx="4261104" cy="437043"/>
          </a:xfrm>
          <a:prstGeom prst="rect">
            <a:avLst/>
          </a:prstGeom>
          <a:noFill/>
        </p:spPr>
        <p:txBody>
          <a:bodyPr wrap="square" lIns="64008" tIns="64008" rIns="64008" bIns="64008" anchor="t">
            <a:spAutoFit/>
          </a:bodyPr>
          <a:lstStyle/>
          <a:p>
            <a:pPr algn="l"/>
            <a:r>
              <a:rPr sz="2000" b="1" dirty="0">
                <a:solidFill>
                  <a:srgbClr val="FFFFFF"/>
                </a:solidFill>
                <a:latin typeface="Aptos"/>
              </a:rPr>
              <a:t>TECHNICAL DISCOVERY</a:t>
            </a:r>
          </a:p>
        </p:txBody>
      </p:sp>
      <p:sp>
        <p:nvSpPr>
          <p:cNvPr id="4" name="TextBox 3"/>
          <p:cNvSpPr txBox="1"/>
          <p:nvPr/>
        </p:nvSpPr>
        <p:spPr>
          <a:xfrm>
            <a:off x="11155680" y="100584"/>
            <a:ext cx="731520" cy="228600"/>
          </a:xfrm>
          <a:prstGeom prst="rect">
            <a:avLst/>
          </a:prstGeom>
          <a:noFill/>
        </p:spPr>
        <p:txBody>
          <a:bodyPr wrap="square" lIns="64008" tIns="64008" rIns="64008" bIns="64008" anchor="t">
            <a:spAutoFit/>
          </a:bodyPr>
          <a:lstStyle/>
          <a:p>
            <a:pPr algn="r"/>
            <a:r>
              <a:rPr sz="1400" b="1">
                <a:solidFill>
                  <a:srgbClr val="F26419"/>
                </a:solidFill>
                <a:latin typeface="Aptos"/>
              </a:rPr>
              <a:t>EXL</a:t>
            </a:r>
          </a:p>
        </p:txBody>
      </p:sp>
      <p:sp>
        <p:nvSpPr>
          <p:cNvPr id="5" name="TextBox 4"/>
          <p:cNvSpPr txBox="1"/>
          <p:nvPr/>
        </p:nvSpPr>
        <p:spPr>
          <a:xfrm>
            <a:off x="502920" y="345186"/>
            <a:ext cx="9509760" cy="438912"/>
          </a:xfrm>
          <a:prstGeom prst="rect">
            <a:avLst/>
          </a:prstGeom>
          <a:noFill/>
        </p:spPr>
        <p:txBody>
          <a:bodyPr wrap="square" lIns="64008" tIns="64008" rIns="64008" bIns="64008" anchor="t">
            <a:spAutoFit/>
          </a:bodyPr>
          <a:lstStyle/>
          <a:p>
            <a:pPr algn="l"/>
            <a:r>
              <a:rPr sz="2300" b="1" dirty="0">
                <a:solidFill>
                  <a:srgbClr val="F26419"/>
                </a:solidFill>
                <a:latin typeface="Aptos"/>
              </a:rPr>
              <a:t>Application package and run-time understanding</a:t>
            </a:r>
          </a:p>
        </p:txBody>
      </p:sp>
      <p:sp>
        <p:nvSpPr>
          <p:cNvPr id="6" name="TextBox 5"/>
          <p:cNvSpPr txBox="1"/>
          <p:nvPr/>
        </p:nvSpPr>
        <p:spPr>
          <a:xfrm>
            <a:off x="521207" y="754963"/>
            <a:ext cx="10515600" cy="292608"/>
          </a:xfrm>
          <a:prstGeom prst="rect">
            <a:avLst/>
          </a:prstGeom>
          <a:noFill/>
        </p:spPr>
        <p:txBody>
          <a:bodyPr wrap="square" lIns="64008" tIns="64008" rIns="64008" bIns="64008" anchor="t">
            <a:spAutoFit/>
          </a:bodyPr>
          <a:lstStyle/>
          <a:p>
            <a:pPr algn="l"/>
            <a:r>
              <a:rPr sz="1400" b="0" dirty="0">
                <a:solidFill>
                  <a:srgbClr val="5A5A5A"/>
                </a:solidFill>
                <a:latin typeface="Aptos"/>
              </a:rPr>
              <a:t>The codebase follows a </a:t>
            </a:r>
            <a:r>
              <a:rPr sz="1400" b="0" dirty="0" err="1">
                <a:solidFill>
                  <a:srgbClr val="5A5A5A"/>
                </a:solidFill>
                <a:latin typeface="Aptos"/>
              </a:rPr>
              <a:t>monorepo</a:t>
            </a:r>
            <a:r>
              <a:rPr sz="1400" b="0" dirty="0">
                <a:solidFill>
                  <a:srgbClr val="5A5A5A"/>
                </a:solidFill>
                <a:latin typeface="Aptos"/>
              </a:rPr>
              <a:t>-style structure where the OOO application has its own frontend, backend API routes, libraries, styles and configuration.</a:t>
            </a:r>
          </a:p>
        </p:txBody>
      </p:sp>
      <p:sp>
        <p:nvSpPr>
          <p:cNvPr id="7" name="TextBox 6"/>
          <p:cNvSpPr txBox="1"/>
          <p:nvPr/>
        </p:nvSpPr>
        <p:spPr>
          <a:xfrm>
            <a:off x="502920" y="6528816"/>
            <a:ext cx="7772400" cy="201168"/>
          </a:xfrm>
          <a:prstGeom prst="rect">
            <a:avLst/>
          </a:prstGeom>
          <a:noFill/>
        </p:spPr>
        <p:txBody>
          <a:bodyPr wrap="square" lIns="64008" tIns="64008" rIns="64008" bIns="64008" anchor="t">
            <a:spAutoFit/>
          </a:bodyPr>
          <a:lstStyle/>
          <a:p>
            <a:pPr algn="l"/>
            <a:r>
              <a:rPr sz="750" b="0">
                <a:solidFill>
                  <a:srgbClr val="5A5A5A"/>
                </a:solidFill>
                <a:latin typeface="Aptos"/>
              </a:rPr>
              <a:t>EXL – Oakbridge Engagement | Our Understanding of Existing System</a:t>
            </a:r>
          </a:p>
        </p:txBody>
      </p:sp>
      <p:sp>
        <p:nvSpPr>
          <p:cNvPr id="8" name="TextBox 7"/>
          <p:cNvSpPr txBox="1"/>
          <p:nvPr/>
        </p:nvSpPr>
        <p:spPr>
          <a:xfrm>
            <a:off x="11475720" y="6528816"/>
            <a:ext cx="320040" cy="201168"/>
          </a:xfrm>
          <a:prstGeom prst="rect">
            <a:avLst/>
          </a:prstGeom>
          <a:noFill/>
        </p:spPr>
        <p:txBody>
          <a:bodyPr wrap="square" lIns="64008" tIns="64008" rIns="64008" bIns="64008" anchor="t">
            <a:spAutoFit/>
          </a:bodyPr>
          <a:lstStyle/>
          <a:p>
            <a:pPr algn="r"/>
            <a:r>
              <a:rPr sz="750" b="0">
                <a:solidFill>
                  <a:srgbClr val="5A5A5A"/>
                </a:solidFill>
                <a:latin typeface="Aptos"/>
              </a:rPr>
              <a:t>9</a:t>
            </a:r>
          </a:p>
        </p:txBody>
      </p:sp>
      <p:sp>
        <p:nvSpPr>
          <p:cNvPr id="9" name="Rectangle 8"/>
          <p:cNvSpPr/>
          <p:nvPr/>
        </p:nvSpPr>
        <p:spPr>
          <a:xfrm>
            <a:off x="502920" y="1344168"/>
            <a:ext cx="11064240" cy="22860"/>
          </a:xfrm>
          <a:prstGeom prst="rect">
            <a:avLst/>
          </a:prstGeom>
          <a:solidFill>
            <a:srgbClr val="DAE0E6"/>
          </a:solidFill>
          <a:ln>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1432147"/>
            <a:ext cx="2743200" cy="228600"/>
          </a:xfrm>
          <a:prstGeom prst="rect">
            <a:avLst/>
          </a:prstGeom>
          <a:noFill/>
        </p:spPr>
        <p:txBody>
          <a:bodyPr wrap="square" lIns="64008" tIns="64008" rIns="64008" bIns="64008" anchor="t">
            <a:spAutoFit/>
          </a:bodyPr>
          <a:lstStyle/>
          <a:p>
            <a:pPr algn="l"/>
            <a:r>
              <a:rPr sz="1400" b="1" dirty="0">
                <a:solidFill>
                  <a:srgbClr val="21324A"/>
                </a:solidFill>
                <a:latin typeface="Aptos"/>
              </a:rPr>
              <a:t>Observed folder structure</a:t>
            </a:r>
          </a:p>
        </p:txBody>
      </p:sp>
      <p:sp>
        <p:nvSpPr>
          <p:cNvPr id="11" name="Rectangle 10"/>
          <p:cNvSpPr/>
          <p:nvPr/>
        </p:nvSpPr>
        <p:spPr>
          <a:xfrm>
            <a:off x="685800" y="1965960"/>
            <a:ext cx="3474720" cy="3154680"/>
          </a:xfrm>
          <a:prstGeom prst="rect">
            <a:avLst/>
          </a:prstGeom>
          <a:solidFill>
            <a:srgbClr val="F4F6F8"/>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wrap="square" lIns="137160" tIns="137160" rIns="137160" bIns="137160" rtlCol="0" anchor="t"/>
          <a:lstStyle/>
          <a:p>
            <a:pPr algn="l"/>
            <a:r>
              <a:rPr sz="1400" b="0" dirty="0">
                <a:solidFill>
                  <a:srgbClr val="1E1E1E"/>
                </a:solidFill>
                <a:latin typeface="Aptos"/>
              </a:rPr>
              <a:t>the-</a:t>
            </a:r>
            <a:r>
              <a:rPr sz="1400" b="0" dirty="0" err="1">
                <a:solidFill>
                  <a:srgbClr val="1E1E1E"/>
                </a:solidFill>
                <a:latin typeface="Aptos"/>
              </a:rPr>
              <a:t>oakbridge</a:t>
            </a:r>
            <a:r>
              <a:rPr sz="1400" b="0" dirty="0">
                <a:solidFill>
                  <a:srgbClr val="1E1E1E"/>
                </a:solidFill>
                <a:latin typeface="Aptos"/>
              </a:rPr>
              <a:t>-way</a:t>
            </a:r>
          </a:p>
          <a:p>
            <a:pPr algn="l"/>
            <a:r>
              <a:rPr sz="1400" b="0" dirty="0">
                <a:solidFill>
                  <a:srgbClr val="1E1E1E"/>
                </a:solidFill>
                <a:latin typeface="Aptos"/>
              </a:rPr>
              <a:t> └─ apps</a:t>
            </a:r>
          </a:p>
          <a:p>
            <a:pPr algn="l"/>
            <a:r>
              <a:rPr sz="1400" b="0" dirty="0">
                <a:solidFill>
                  <a:srgbClr val="1E1E1E"/>
                </a:solidFill>
                <a:latin typeface="Aptos"/>
              </a:rPr>
              <a:t>    └─ </a:t>
            </a:r>
            <a:r>
              <a:rPr sz="1400" b="0" dirty="0" err="1">
                <a:solidFill>
                  <a:srgbClr val="1E1E1E"/>
                </a:solidFill>
                <a:latin typeface="Aptos"/>
              </a:rPr>
              <a:t>ooo</a:t>
            </a:r>
            <a:endParaRPr sz="1400" b="0" dirty="0">
              <a:solidFill>
                <a:srgbClr val="1E1E1E"/>
              </a:solidFill>
              <a:latin typeface="Aptos"/>
            </a:endParaRPr>
          </a:p>
          <a:p>
            <a:pPr algn="l"/>
            <a:r>
              <a:rPr lang="en-IN" sz="1400" b="0" dirty="0">
                <a:solidFill>
                  <a:srgbClr val="1E1E1E"/>
                </a:solidFill>
                <a:latin typeface="Aptos"/>
              </a:rPr>
              <a:t>       ├─ </a:t>
            </a:r>
            <a:r>
              <a:rPr sz="1400" b="0" dirty="0">
                <a:solidFill>
                  <a:srgbClr val="1E1E1E"/>
                </a:solidFill>
                <a:latin typeface="Aptos"/>
              </a:rPr>
              <a:t>app</a:t>
            </a:r>
          </a:p>
          <a:p>
            <a:pPr algn="l"/>
            <a:r>
              <a:rPr sz="1400" b="0" dirty="0">
                <a:solidFill>
                  <a:srgbClr val="1E1E1E"/>
                </a:solidFill>
                <a:latin typeface="Aptos"/>
              </a:rPr>
              <a:t>       │  ├─ (authenticated)</a:t>
            </a:r>
          </a:p>
          <a:p>
            <a:pPr algn="l"/>
            <a:r>
              <a:rPr sz="1400" b="0" dirty="0">
                <a:solidFill>
                  <a:srgbClr val="1E1E1E"/>
                </a:solidFill>
                <a:latin typeface="Aptos"/>
              </a:rPr>
              <a:t>       │  └─ </a:t>
            </a:r>
            <a:r>
              <a:rPr sz="1400" b="0" dirty="0" err="1">
                <a:solidFill>
                  <a:srgbClr val="1E1E1E"/>
                </a:solidFill>
                <a:latin typeface="Aptos"/>
              </a:rPr>
              <a:t>api</a:t>
            </a:r>
            <a:endParaRPr sz="1400" b="0" dirty="0">
              <a:solidFill>
                <a:srgbClr val="1E1E1E"/>
              </a:solidFill>
              <a:latin typeface="Aptos"/>
            </a:endParaRPr>
          </a:p>
          <a:p>
            <a:pPr algn="l"/>
            <a:r>
              <a:rPr sz="1400" b="0" dirty="0">
                <a:solidFill>
                  <a:srgbClr val="1E1E1E"/>
                </a:solidFill>
                <a:latin typeface="Aptos"/>
              </a:rPr>
              <a:t>       ├─ components</a:t>
            </a:r>
          </a:p>
          <a:p>
            <a:pPr algn="l"/>
            <a:r>
              <a:rPr sz="1400" b="0" dirty="0">
                <a:solidFill>
                  <a:srgbClr val="1E1E1E"/>
                </a:solidFill>
                <a:latin typeface="Aptos"/>
              </a:rPr>
              <a:t>       ├─ hooks</a:t>
            </a:r>
          </a:p>
          <a:p>
            <a:pPr algn="l"/>
            <a:r>
              <a:rPr sz="1400" b="0" dirty="0">
                <a:solidFill>
                  <a:srgbClr val="1E1E1E"/>
                </a:solidFill>
                <a:latin typeface="Aptos"/>
              </a:rPr>
              <a:t>       ├─ lib</a:t>
            </a:r>
          </a:p>
          <a:p>
            <a:pPr algn="l"/>
            <a:r>
              <a:rPr sz="1400" b="0" dirty="0">
                <a:solidFill>
                  <a:srgbClr val="1E1E1E"/>
                </a:solidFill>
                <a:latin typeface="Aptos"/>
              </a:rPr>
              <a:t>       ├─ public</a:t>
            </a:r>
          </a:p>
          <a:p>
            <a:pPr algn="l"/>
            <a:r>
              <a:rPr sz="1400" b="0" dirty="0">
                <a:solidFill>
                  <a:srgbClr val="1E1E1E"/>
                </a:solidFill>
                <a:latin typeface="Aptos"/>
              </a:rPr>
              <a:t>       ├─ styles</a:t>
            </a:r>
          </a:p>
          <a:p>
            <a:pPr algn="l"/>
            <a:r>
              <a:rPr sz="1400" b="0" dirty="0">
                <a:solidFill>
                  <a:srgbClr val="1E1E1E"/>
                </a:solidFill>
                <a:latin typeface="Aptos"/>
              </a:rPr>
              <a:t>       └─ </a:t>
            </a:r>
            <a:r>
              <a:rPr sz="1400" b="0" dirty="0" err="1">
                <a:solidFill>
                  <a:srgbClr val="1E1E1E"/>
                </a:solidFill>
                <a:latin typeface="Aptos"/>
              </a:rPr>
              <a:t>package.json</a:t>
            </a:r>
            <a:endParaRPr sz="1400" b="0" dirty="0">
              <a:solidFill>
                <a:srgbClr val="1E1E1E"/>
              </a:solidFill>
              <a:latin typeface="Aptos"/>
            </a:endParaRPr>
          </a:p>
        </p:txBody>
      </p:sp>
      <p:sp>
        <p:nvSpPr>
          <p:cNvPr id="12" name="TextBox 11"/>
          <p:cNvSpPr txBox="1"/>
          <p:nvPr/>
        </p:nvSpPr>
        <p:spPr>
          <a:xfrm>
            <a:off x="4572000" y="1417496"/>
            <a:ext cx="3200400" cy="228600"/>
          </a:xfrm>
          <a:prstGeom prst="rect">
            <a:avLst/>
          </a:prstGeom>
          <a:noFill/>
        </p:spPr>
        <p:txBody>
          <a:bodyPr wrap="square" lIns="64008" tIns="64008" rIns="64008" bIns="64008" anchor="t">
            <a:spAutoFit/>
          </a:bodyPr>
          <a:lstStyle/>
          <a:p>
            <a:pPr algn="l"/>
            <a:r>
              <a:rPr sz="1400" b="1" dirty="0">
                <a:solidFill>
                  <a:srgbClr val="21324A"/>
                </a:solidFill>
                <a:latin typeface="Aptos"/>
              </a:rPr>
              <a:t>What each area means</a:t>
            </a:r>
          </a:p>
        </p:txBody>
      </p:sp>
      <p:sp>
        <p:nvSpPr>
          <p:cNvPr id="13" name="Rounded Rectangle 12"/>
          <p:cNvSpPr/>
          <p:nvPr/>
        </p:nvSpPr>
        <p:spPr>
          <a:xfrm>
            <a:off x="4572000" y="1838527"/>
            <a:ext cx="6329408" cy="886385"/>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572000" y="1938528"/>
            <a:ext cx="73152" cy="621792"/>
          </a:xfrm>
          <a:prstGeom prst="rect">
            <a:avLst/>
          </a:prstGeom>
          <a:solidFill>
            <a:srgbClr val="1F609A"/>
          </a:solidFill>
          <a:ln>
            <a:solidFill>
              <a:srgbClr val="1F60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687706" y="1818310"/>
            <a:ext cx="6080759" cy="320040"/>
          </a:xfrm>
          <a:prstGeom prst="rect">
            <a:avLst/>
          </a:prstGeom>
          <a:noFill/>
        </p:spPr>
        <p:txBody>
          <a:bodyPr wrap="square" lIns="64008" tIns="64008" rIns="64008" bIns="64008" anchor="t">
            <a:spAutoFit/>
          </a:bodyPr>
          <a:lstStyle/>
          <a:p>
            <a:pPr algn="l"/>
            <a:r>
              <a:rPr sz="1400" b="1" dirty="0">
                <a:solidFill>
                  <a:srgbClr val="21324A"/>
                </a:solidFill>
                <a:latin typeface="Aptos"/>
              </a:rPr>
              <a:t>app/(authenticated)</a:t>
            </a:r>
          </a:p>
        </p:txBody>
      </p:sp>
      <p:sp>
        <p:nvSpPr>
          <p:cNvPr id="16" name="TextBox 15"/>
          <p:cNvSpPr txBox="1"/>
          <p:nvPr/>
        </p:nvSpPr>
        <p:spPr>
          <a:xfrm>
            <a:off x="4695093" y="2216074"/>
            <a:ext cx="6080760" cy="27432"/>
          </a:xfrm>
          <a:prstGeom prst="rect">
            <a:avLst/>
          </a:prstGeom>
          <a:noFill/>
        </p:spPr>
        <p:txBody>
          <a:bodyPr wrap="square" lIns="64008" tIns="64008" rIns="64008" bIns="64008" anchor="t">
            <a:spAutoFit/>
          </a:bodyPr>
          <a:lstStyle/>
          <a:p>
            <a:pPr algn="l"/>
            <a:r>
              <a:rPr sz="1400" b="0" dirty="0">
                <a:solidFill>
                  <a:srgbClr val="1E1E1E"/>
                </a:solidFill>
                <a:latin typeface="Aptos"/>
              </a:rPr>
              <a:t>Frontend pages available after login, including dashboard, teams, goals, lists and item screens.</a:t>
            </a:r>
          </a:p>
        </p:txBody>
      </p:sp>
      <p:sp>
        <p:nvSpPr>
          <p:cNvPr id="17" name="Rounded Rectangle 16"/>
          <p:cNvSpPr/>
          <p:nvPr/>
        </p:nvSpPr>
        <p:spPr>
          <a:xfrm>
            <a:off x="4643392" y="2933878"/>
            <a:ext cx="6329408" cy="768096"/>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604705" y="2945484"/>
            <a:ext cx="73152" cy="621792"/>
          </a:xfrm>
          <a:prstGeom prst="rect">
            <a:avLst/>
          </a:prstGeom>
          <a:solidFill>
            <a:srgbClr val="1F609A"/>
          </a:solidFill>
          <a:ln>
            <a:solidFill>
              <a:srgbClr val="1F60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754880" y="2910837"/>
            <a:ext cx="6080759" cy="320040"/>
          </a:xfrm>
          <a:prstGeom prst="rect">
            <a:avLst/>
          </a:prstGeom>
          <a:noFill/>
        </p:spPr>
        <p:txBody>
          <a:bodyPr wrap="square" lIns="64008" tIns="64008" rIns="64008" bIns="64008" anchor="t">
            <a:spAutoFit/>
          </a:bodyPr>
          <a:lstStyle/>
          <a:p>
            <a:pPr algn="l"/>
            <a:r>
              <a:rPr sz="1400" b="1" dirty="0">
                <a:solidFill>
                  <a:srgbClr val="21324A"/>
                </a:solidFill>
                <a:latin typeface="Aptos"/>
              </a:rPr>
              <a:t>app/</a:t>
            </a:r>
            <a:r>
              <a:rPr sz="1400" b="1" dirty="0" err="1">
                <a:solidFill>
                  <a:srgbClr val="21324A"/>
                </a:solidFill>
                <a:latin typeface="Aptos"/>
              </a:rPr>
              <a:t>api</a:t>
            </a:r>
            <a:endParaRPr sz="1400" b="1" dirty="0">
              <a:solidFill>
                <a:srgbClr val="21324A"/>
              </a:solidFill>
              <a:latin typeface="Aptos"/>
            </a:endParaRPr>
          </a:p>
        </p:txBody>
      </p:sp>
      <p:sp>
        <p:nvSpPr>
          <p:cNvPr id="20" name="TextBox 19"/>
          <p:cNvSpPr txBox="1"/>
          <p:nvPr/>
        </p:nvSpPr>
        <p:spPr>
          <a:xfrm>
            <a:off x="4732020" y="3351523"/>
            <a:ext cx="6080760" cy="344710"/>
          </a:xfrm>
          <a:prstGeom prst="rect">
            <a:avLst/>
          </a:prstGeom>
          <a:noFill/>
        </p:spPr>
        <p:txBody>
          <a:bodyPr wrap="square" lIns="64008" tIns="64008" rIns="64008" bIns="64008" anchor="t">
            <a:spAutoFit/>
          </a:bodyPr>
          <a:lstStyle/>
          <a:p>
            <a:pPr algn="l"/>
            <a:r>
              <a:rPr sz="1400" b="0" dirty="0">
                <a:solidFill>
                  <a:srgbClr val="1E1E1E"/>
                </a:solidFill>
                <a:latin typeface="Aptos"/>
              </a:rPr>
              <a:t>Backend </a:t>
            </a:r>
            <a:r>
              <a:rPr sz="1400" b="0" dirty="0" err="1">
                <a:solidFill>
                  <a:srgbClr val="1E1E1E"/>
                </a:solidFill>
                <a:latin typeface="Aptos"/>
              </a:rPr>
              <a:t>route.ts</a:t>
            </a:r>
            <a:r>
              <a:rPr sz="1400" b="0" dirty="0">
                <a:solidFill>
                  <a:srgbClr val="1E1E1E"/>
                </a:solidFill>
                <a:latin typeface="Aptos"/>
              </a:rPr>
              <a:t> files that process client requests and connect to </a:t>
            </a:r>
            <a:r>
              <a:rPr lang="en-US" sz="1400" b="0" dirty="0" err="1">
                <a:solidFill>
                  <a:srgbClr val="1E1E1E"/>
                </a:solidFill>
                <a:latin typeface="Aptos"/>
              </a:rPr>
              <a:t>S</a:t>
            </a:r>
            <a:r>
              <a:rPr sz="1400" b="0" dirty="0" err="1">
                <a:solidFill>
                  <a:srgbClr val="1E1E1E"/>
                </a:solidFill>
                <a:latin typeface="Aptos"/>
              </a:rPr>
              <a:t>upabase</a:t>
            </a:r>
            <a:r>
              <a:rPr sz="1400" b="0" dirty="0">
                <a:solidFill>
                  <a:srgbClr val="1E1E1E"/>
                </a:solidFill>
                <a:latin typeface="Aptos"/>
              </a:rPr>
              <a:t>.</a:t>
            </a:r>
          </a:p>
        </p:txBody>
      </p:sp>
      <p:sp>
        <p:nvSpPr>
          <p:cNvPr id="21" name="Rounded Rectangle 20"/>
          <p:cNvSpPr/>
          <p:nvPr/>
        </p:nvSpPr>
        <p:spPr>
          <a:xfrm>
            <a:off x="4687706" y="3857944"/>
            <a:ext cx="6285094" cy="754139"/>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614554" y="3887899"/>
            <a:ext cx="73152" cy="621792"/>
          </a:xfrm>
          <a:prstGeom prst="rect">
            <a:avLst/>
          </a:prstGeom>
          <a:solidFill>
            <a:srgbClr val="1F609A"/>
          </a:solidFill>
          <a:ln>
            <a:solidFill>
              <a:srgbClr val="1F60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695093" y="3818912"/>
            <a:ext cx="6080759" cy="320040"/>
          </a:xfrm>
          <a:prstGeom prst="rect">
            <a:avLst/>
          </a:prstGeom>
          <a:noFill/>
        </p:spPr>
        <p:txBody>
          <a:bodyPr wrap="square" lIns="64008" tIns="64008" rIns="64008" bIns="64008" anchor="t">
            <a:spAutoFit/>
          </a:bodyPr>
          <a:lstStyle/>
          <a:p>
            <a:pPr algn="l"/>
            <a:r>
              <a:rPr sz="1400" b="1">
                <a:solidFill>
                  <a:srgbClr val="21324A"/>
                </a:solidFill>
                <a:latin typeface="Aptos"/>
              </a:rPr>
              <a:t>components</a:t>
            </a:r>
          </a:p>
        </p:txBody>
      </p:sp>
      <p:sp>
        <p:nvSpPr>
          <p:cNvPr id="24" name="TextBox 23"/>
          <p:cNvSpPr txBox="1"/>
          <p:nvPr/>
        </p:nvSpPr>
        <p:spPr>
          <a:xfrm>
            <a:off x="4732020" y="4155245"/>
            <a:ext cx="6080760" cy="27432"/>
          </a:xfrm>
          <a:prstGeom prst="rect">
            <a:avLst/>
          </a:prstGeom>
          <a:noFill/>
        </p:spPr>
        <p:txBody>
          <a:bodyPr wrap="square" lIns="64008" tIns="64008" rIns="64008" bIns="64008" anchor="t">
            <a:spAutoFit/>
          </a:bodyPr>
          <a:lstStyle/>
          <a:p>
            <a:pPr algn="l"/>
            <a:r>
              <a:rPr sz="1400" b="0" dirty="0">
                <a:solidFill>
                  <a:srgbClr val="1E1E1E"/>
                </a:solidFill>
                <a:latin typeface="Aptos"/>
              </a:rPr>
              <a:t>Reusable UI blocks such as sidebar, cards, forms, tables and organization views.</a:t>
            </a:r>
          </a:p>
        </p:txBody>
      </p:sp>
      <p:sp>
        <p:nvSpPr>
          <p:cNvPr id="25" name="Rounded Rectangle 24"/>
          <p:cNvSpPr/>
          <p:nvPr/>
        </p:nvSpPr>
        <p:spPr>
          <a:xfrm>
            <a:off x="4643392" y="4781488"/>
            <a:ext cx="6327648" cy="758952"/>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614554" y="4791456"/>
            <a:ext cx="73152" cy="621792"/>
          </a:xfrm>
          <a:prstGeom prst="rect">
            <a:avLst/>
          </a:prstGeom>
          <a:solidFill>
            <a:srgbClr val="0097A7"/>
          </a:solidFill>
          <a:ln>
            <a:solidFill>
              <a:srgbClr val="009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766836" y="4733663"/>
            <a:ext cx="6080759" cy="320040"/>
          </a:xfrm>
          <a:prstGeom prst="rect">
            <a:avLst/>
          </a:prstGeom>
          <a:noFill/>
        </p:spPr>
        <p:txBody>
          <a:bodyPr wrap="square" lIns="64008" tIns="64008" rIns="64008" bIns="64008" anchor="t">
            <a:spAutoFit/>
          </a:bodyPr>
          <a:lstStyle/>
          <a:p>
            <a:pPr algn="l"/>
            <a:r>
              <a:rPr sz="1400" b="1" dirty="0">
                <a:solidFill>
                  <a:srgbClr val="21324A"/>
                </a:solidFill>
                <a:latin typeface="Aptos"/>
              </a:rPr>
              <a:t>lib</a:t>
            </a:r>
          </a:p>
        </p:txBody>
      </p:sp>
      <p:sp>
        <p:nvSpPr>
          <p:cNvPr id="28" name="TextBox 27"/>
          <p:cNvSpPr txBox="1"/>
          <p:nvPr/>
        </p:nvSpPr>
        <p:spPr>
          <a:xfrm>
            <a:off x="4732020" y="5069996"/>
            <a:ext cx="6080760" cy="27432"/>
          </a:xfrm>
          <a:prstGeom prst="rect">
            <a:avLst/>
          </a:prstGeom>
          <a:noFill/>
        </p:spPr>
        <p:txBody>
          <a:bodyPr wrap="square" lIns="64008" tIns="64008" rIns="64008" bIns="64008" anchor="t">
            <a:spAutoFit/>
          </a:bodyPr>
          <a:lstStyle/>
          <a:p>
            <a:pPr algn="l"/>
            <a:r>
              <a:rPr sz="1400" b="0" dirty="0">
                <a:solidFill>
                  <a:srgbClr val="1E1E1E"/>
                </a:solidFill>
                <a:latin typeface="Aptos"/>
              </a:rPr>
              <a:t>Shared logic such as </a:t>
            </a:r>
            <a:r>
              <a:rPr sz="1400" b="0" dirty="0" err="1">
                <a:solidFill>
                  <a:srgbClr val="1E1E1E"/>
                </a:solidFill>
                <a:latin typeface="Aptos"/>
              </a:rPr>
              <a:t>DataService</a:t>
            </a:r>
            <a:r>
              <a:rPr sz="1400" b="0" dirty="0">
                <a:solidFill>
                  <a:srgbClr val="1E1E1E"/>
                </a:solidFill>
                <a:latin typeface="Aptos"/>
              </a:rPr>
              <a:t>, auth helpers, </a:t>
            </a:r>
            <a:r>
              <a:rPr sz="1400" b="0" dirty="0" err="1">
                <a:solidFill>
                  <a:srgbClr val="1E1E1E"/>
                </a:solidFill>
                <a:latin typeface="Aptos"/>
              </a:rPr>
              <a:t>Supabase</a:t>
            </a:r>
            <a:r>
              <a:rPr sz="1400" b="0" dirty="0">
                <a:solidFill>
                  <a:srgbClr val="1E1E1E"/>
                </a:solidFill>
                <a:latin typeface="Aptos"/>
              </a:rPr>
              <a:t> clients, services and utilities.</a:t>
            </a:r>
          </a:p>
        </p:txBody>
      </p:sp>
      <p:sp>
        <p:nvSpPr>
          <p:cNvPr id="29" name="Rounded Rectangle 28"/>
          <p:cNvSpPr/>
          <p:nvPr/>
        </p:nvSpPr>
        <p:spPr>
          <a:xfrm>
            <a:off x="4631435" y="5709845"/>
            <a:ext cx="6327648" cy="786384"/>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4617367" y="5721099"/>
            <a:ext cx="73152" cy="621792"/>
          </a:xfrm>
          <a:prstGeom prst="rect">
            <a:avLst/>
          </a:prstGeom>
          <a:solidFill>
            <a:srgbClr val="0097A7"/>
          </a:solidFill>
          <a:ln>
            <a:solidFill>
              <a:srgbClr val="009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754880" y="5703866"/>
            <a:ext cx="6080759" cy="320040"/>
          </a:xfrm>
          <a:prstGeom prst="rect">
            <a:avLst/>
          </a:prstGeom>
          <a:noFill/>
        </p:spPr>
        <p:txBody>
          <a:bodyPr wrap="square" lIns="64008" tIns="64008" rIns="64008" bIns="64008" anchor="t">
            <a:spAutoFit/>
          </a:bodyPr>
          <a:lstStyle/>
          <a:p>
            <a:pPr algn="l"/>
            <a:r>
              <a:rPr sz="1400" b="1" dirty="0" err="1">
                <a:solidFill>
                  <a:srgbClr val="21324A"/>
                </a:solidFill>
                <a:latin typeface="Aptos"/>
              </a:rPr>
              <a:t>package.json</a:t>
            </a:r>
            <a:endParaRPr sz="1400" b="1" dirty="0">
              <a:solidFill>
                <a:srgbClr val="21324A"/>
              </a:solidFill>
              <a:latin typeface="Aptos"/>
            </a:endParaRPr>
          </a:p>
        </p:txBody>
      </p:sp>
      <p:sp>
        <p:nvSpPr>
          <p:cNvPr id="32" name="TextBox 31"/>
          <p:cNvSpPr txBox="1"/>
          <p:nvPr/>
        </p:nvSpPr>
        <p:spPr>
          <a:xfrm>
            <a:off x="4754880" y="6181344"/>
            <a:ext cx="6080760" cy="27432"/>
          </a:xfrm>
          <a:prstGeom prst="rect">
            <a:avLst/>
          </a:prstGeom>
          <a:noFill/>
        </p:spPr>
        <p:txBody>
          <a:bodyPr wrap="square" lIns="64008" tIns="64008" rIns="64008" bIns="64008" anchor="t">
            <a:spAutoFit/>
          </a:bodyPr>
          <a:lstStyle/>
          <a:p>
            <a:pPr algn="l"/>
            <a:r>
              <a:rPr sz="1400" b="0" dirty="0">
                <a:solidFill>
                  <a:srgbClr val="1E1E1E"/>
                </a:solidFill>
                <a:latin typeface="Aptos"/>
              </a:rPr>
              <a:t>Defines how the app is installed, built and run locally for testing.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420624"/>
          </a:xfrm>
          <a:prstGeom prst="rect">
            <a:avLst/>
          </a:prstGeom>
          <a:solidFill>
            <a:srgbClr val="21324A"/>
          </a:solidFill>
          <a:ln>
            <a:solidFill>
              <a:srgbClr val="21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59227" y="-91440"/>
            <a:ext cx="2587752" cy="437043"/>
          </a:xfrm>
          <a:prstGeom prst="rect">
            <a:avLst/>
          </a:prstGeom>
          <a:noFill/>
        </p:spPr>
        <p:txBody>
          <a:bodyPr wrap="square" lIns="64008" tIns="64008" rIns="64008" bIns="64008" anchor="t">
            <a:spAutoFit/>
          </a:bodyPr>
          <a:lstStyle/>
          <a:p>
            <a:pPr algn="l"/>
            <a:r>
              <a:rPr sz="2000" b="1" dirty="0">
                <a:solidFill>
                  <a:srgbClr val="FFFFFF"/>
                </a:solidFill>
                <a:latin typeface="Aptos"/>
              </a:rPr>
              <a:t>API FLOW</a:t>
            </a:r>
          </a:p>
        </p:txBody>
      </p:sp>
      <p:sp>
        <p:nvSpPr>
          <p:cNvPr id="4" name="TextBox 3"/>
          <p:cNvSpPr txBox="1"/>
          <p:nvPr/>
        </p:nvSpPr>
        <p:spPr>
          <a:xfrm>
            <a:off x="11155680" y="100584"/>
            <a:ext cx="731520" cy="228600"/>
          </a:xfrm>
          <a:prstGeom prst="rect">
            <a:avLst/>
          </a:prstGeom>
          <a:noFill/>
        </p:spPr>
        <p:txBody>
          <a:bodyPr wrap="square" lIns="64008" tIns="64008" rIns="64008" bIns="64008" anchor="t">
            <a:spAutoFit/>
          </a:bodyPr>
          <a:lstStyle/>
          <a:p>
            <a:pPr algn="r"/>
            <a:r>
              <a:rPr sz="1400" b="1">
                <a:solidFill>
                  <a:srgbClr val="F26419"/>
                </a:solidFill>
                <a:latin typeface="Aptos"/>
              </a:rPr>
              <a:t>EXL</a:t>
            </a:r>
          </a:p>
        </p:txBody>
      </p:sp>
      <p:sp>
        <p:nvSpPr>
          <p:cNvPr id="5" name="TextBox 4"/>
          <p:cNvSpPr txBox="1"/>
          <p:nvPr/>
        </p:nvSpPr>
        <p:spPr>
          <a:xfrm>
            <a:off x="502920" y="397765"/>
            <a:ext cx="9509760" cy="438912"/>
          </a:xfrm>
          <a:prstGeom prst="rect">
            <a:avLst/>
          </a:prstGeom>
          <a:noFill/>
        </p:spPr>
        <p:txBody>
          <a:bodyPr wrap="square" lIns="64008" tIns="64008" rIns="64008" bIns="64008" anchor="t">
            <a:spAutoFit/>
          </a:bodyPr>
          <a:lstStyle/>
          <a:p>
            <a:pPr algn="l"/>
            <a:r>
              <a:rPr sz="2300" b="1" dirty="0">
                <a:solidFill>
                  <a:srgbClr val="F26419"/>
                </a:solidFill>
                <a:latin typeface="Aptos"/>
              </a:rPr>
              <a:t>Frontend to backend communication flow</a:t>
            </a:r>
          </a:p>
        </p:txBody>
      </p:sp>
      <p:sp>
        <p:nvSpPr>
          <p:cNvPr id="6" name="TextBox 5"/>
          <p:cNvSpPr txBox="1"/>
          <p:nvPr/>
        </p:nvSpPr>
        <p:spPr>
          <a:xfrm>
            <a:off x="502920" y="729651"/>
            <a:ext cx="10515600" cy="292608"/>
          </a:xfrm>
          <a:prstGeom prst="rect">
            <a:avLst/>
          </a:prstGeom>
          <a:noFill/>
        </p:spPr>
        <p:txBody>
          <a:bodyPr wrap="square" lIns="64008" tIns="64008" rIns="64008" bIns="64008" anchor="t">
            <a:spAutoFit/>
          </a:bodyPr>
          <a:lstStyle/>
          <a:p>
            <a:pPr algn="l"/>
            <a:r>
              <a:rPr sz="1400" b="0" dirty="0">
                <a:solidFill>
                  <a:srgbClr val="5A5A5A"/>
                </a:solidFill>
                <a:latin typeface="Aptos"/>
              </a:rPr>
              <a:t>The </a:t>
            </a:r>
            <a:r>
              <a:rPr sz="1400" b="0" dirty="0" err="1">
                <a:solidFill>
                  <a:srgbClr val="5A5A5A"/>
                </a:solidFill>
                <a:latin typeface="Aptos"/>
              </a:rPr>
              <a:t>DataService</a:t>
            </a:r>
            <a:r>
              <a:rPr sz="1400" b="0" dirty="0">
                <a:solidFill>
                  <a:srgbClr val="5A5A5A"/>
                </a:solidFill>
                <a:latin typeface="Aptos"/>
              </a:rPr>
              <a:t> acts as the main bridge between UI components and backend APIs, making the code easier to understand and test.</a:t>
            </a:r>
          </a:p>
        </p:txBody>
      </p:sp>
      <p:sp>
        <p:nvSpPr>
          <p:cNvPr id="7" name="TextBox 6"/>
          <p:cNvSpPr txBox="1"/>
          <p:nvPr/>
        </p:nvSpPr>
        <p:spPr>
          <a:xfrm>
            <a:off x="502920" y="6528816"/>
            <a:ext cx="7772400" cy="201168"/>
          </a:xfrm>
          <a:prstGeom prst="rect">
            <a:avLst/>
          </a:prstGeom>
          <a:noFill/>
        </p:spPr>
        <p:txBody>
          <a:bodyPr wrap="square" lIns="64008" tIns="64008" rIns="64008" bIns="64008" anchor="t">
            <a:spAutoFit/>
          </a:bodyPr>
          <a:lstStyle/>
          <a:p>
            <a:pPr algn="l"/>
            <a:r>
              <a:rPr sz="750" b="0">
                <a:solidFill>
                  <a:srgbClr val="5A5A5A"/>
                </a:solidFill>
                <a:latin typeface="Aptos"/>
              </a:rPr>
              <a:t>EXL – Oakbridge Engagement | Our Understanding of Existing System</a:t>
            </a:r>
          </a:p>
        </p:txBody>
      </p:sp>
      <p:sp>
        <p:nvSpPr>
          <p:cNvPr id="8" name="TextBox 7"/>
          <p:cNvSpPr txBox="1"/>
          <p:nvPr/>
        </p:nvSpPr>
        <p:spPr>
          <a:xfrm>
            <a:off x="11475720" y="6528816"/>
            <a:ext cx="320040" cy="201168"/>
          </a:xfrm>
          <a:prstGeom prst="rect">
            <a:avLst/>
          </a:prstGeom>
          <a:noFill/>
        </p:spPr>
        <p:txBody>
          <a:bodyPr wrap="square" lIns="64008" tIns="64008" rIns="64008" bIns="64008" anchor="t">
            <a:spAutoFit/>
          </a:bodyPr>
          <a:lstStyle/>
          <a:p>
            <a:pPr algn="r"/>
            <a:r>
              <a:rPr sz="750" b="0">
                <a:solidFill>
                  <a:srgbClr val="5A5A5A"/>
                </a:solidFill>
                <a:latin typeface="Aptos"/>
              </a:rPr>
              <a:t>10</a:t>
            </a:r>
          </a:p>
        </p:txBody>
      </p:sp>
      <p:sp>
        <p:nvSpPr>
          <p:cNvPr id="9" name="Rectangle 8"/>
          <p:cNvSpPr/>
          <p:nvPr/>
        </p:nvSpPr>
        <p:spPr>
          <a:xfrm>
            <a:off x="502919" y="1091357"/>
            <a:ext cx="11064240" cy="22860"/>
          </a:xfrm>
          <a:prstGeom prst="rect">
            <a:avLst/>
          </a:prstGeom>
          <a:solidFill>
            <a:srgbClr val="DAE0E6"/>
          </a:solidFill>
          <a:ln>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85800" y="1600200"/>
            <a:ext cx="1434301" cy="566928"/>
          </a:xfrm>
          <a:prstGeom prst="roundRect">
            <a:avLst/>
          </a:prstGeom>
          <a:solidFill>
            <a:srgbClr val="F26419"/>
          </a:solidFill>
          <a:ln>
            <a:solidFill>
              <a:srgbClr val="F26419"/>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819" b="1">
                <a:solidFill>
                  <a:srgbClr val="FFFFFF"/>
                </a:solidFill>
              </a:defRPr>
            </a:pPr>
            <a:r>
              <a:rPr sz="1400"/>
              <a:t>React Page</a:t>
            </a:r>
          </a:p>
        </p:txBody>
      </p:sp>
      <p:cxnSp>
        <p:nvCxnSpPr>
          <p:cNvPr id="11" name="Connector 10"/>
          <p:cNvCxnSpPr/>
          <p:nvPr/>
        </p:nvCxnSpPr>
        <p:spPr>
          <a:xfrm>
            <a:off x="2120101" y="1883664"/>
            <a:ext cx="109728" cy="0"/>
          </a:xfrm>
          <a:prstGeom prst="line">
            <a:avLst/>
          </a:prstGeom>
          <a:ln w="19050">
            <a:solidFill>
              <a:srgbClr val="F26419"/>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229829" y="1600200"/>
            <a:ext cx="1434301" cy="566928"/>
          </a:xfrm>
          <a:prstGeom prst="roundRect">
            <a:avLst/>
          </a:prstGeom>
          <a:solidFill>
            <a:srgbClr val="1F609A"/>
          </a:solidFill>
          <a:ln>
            <a:solidFill>
              <a:srgbClr val="1F609A"/>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819" b="1">
                <a:solidFill>
                  <a:srgbClr val="FFFFFF"/>
                </a:solidFill>
              </a:defRPr>
            </a:pPr>
            <a:r>
              <a:rPr sz="1400"/>
              <a:t>Component</a:t>
            </a:r>
          </a:p>
        </p:txBody>
      </p:sp>
      <p:cxnSp>
        <p:nvCxnSpPr>
          <p:cNvPr id="13" name="Connector 12"/>
          <p:cNvCxnSpPr/>
          <p:nvPr/>
        </p:nvCxnSpPr>
        <p:spPr>
          <a:xfrm>
            <a:off x="3664131" y="1883664"/>
            <a:ext cx="109728" cy="0"/>
          </a:xfrm>
          <a:prstGeom prst="line">
            <a:avLst/>
          </a:prstGeom>
          <a:ln w="19050">
            <a:solidFill>
              <a:srgbClr val="F26419"/>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773859" y="1600200"/>
            <a:ext cx="1434301" cy="566928"/>
          </a:xfrm>
          <a:prstGeom prst="roundRect">
            <a:avLst/>
          </a:prstGeom>
          <a:solidFill>
            <a:srgbClr val="1F609A"/>
          </a:solidFill>
          <a:ln>
            <a:solidFill>
              <a:srgbClr val="1F609A"/>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819" b="1">
                <a:solidFill>
                  <a:srgbClr val="FFFFFF"/>
                </a:solidFill>
              </a:defRPr>
            </a:pPr>
            <a:r>
              <a:rPr sz="1400"/>
              <a:t>DataService</a:t>
            </a:r>
          </a:p>
        </p:txBody>
      </p:sp>
      <p:cxnSp>
        <p:nvCxnSpPr>
          <p:cNvPr id="15" name="Connector 14"/>
          <p:cNvCxnSpPr/>
          <p:nvPr/>
        </p:nvCxnSpPr>
        <p:spPr>
          <a:xfrm>
            <a:off x="5208161" y="1883664"/>
            <a:ext cx="109728" cy="0"/>
          </a:xfrm>
          <a:prstGeom prst="line">
            <a:avLst/>
          </a:prstGeom>
          <a:ln w="19050">
            <a:solidFill>
              <a:srgbClr val="F26419"/>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317889" y="1600200"/>
            <a:ext cx="1434301" cy="566928"/>
          </a:xfrm>
          <a:prstGeom prst="roundRect">
            <a:avLst/>
          </a:prstGeom>
          <a:solidFill>
            <a:srgbClr val="724BA8"/>
          </a:solidFill>
          <a:ln>
            <a:solidFill>
              <a:srgbClr val="724BA8"/>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819" b="1">
                <a:solidFill>
                  <a:srgbClr val="FFFFFF"/>
                </a:solidFill>
              </a:defRPr>
            </a:pPr>
            <a:r>
              <a:rPr sz="1400"/>
              <a:t>fetchWithAuth</a:t>
            </a:r>
          </a:p>
        </p:txBody>
      </p:sp>
      <p:cxnSp>
        <p:nvCxnSpPr>
          <p:cNvPr id="17" name="Connector 16"/>
          <p:cNvCxnSpPr/>
          <p:nvPr/>
        </p:nvCxnSpPr>
        <p:spPr>
          <a:xfrm>
            <a:off x="6752190" y="1883664"/>
            <a:ext cx="109728" cy="0"/>
          </a:xfrm>
          <a:prstGeom prst="line">
            <a:avLst/>
          </a:prstGeom>
          <a:ln w="19050">
            <a:solidFill>
              <a:srgbClr val="F26419"/>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861918" y="1600200"/>
            <a:ext cx="1434301" cy="566928"/>
          </a:xfrm>
          <a:prstGeom prst="roundRect">
            <a:avLst/>
          </a:prstGeom>
          <a:solidFill>
            <a:srgbClr val="21324A"/>
          </a:solidFill>
          <a:ln>
            <a:solidFill>
              <a:srgbClr val="21324A"/>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819" b="1">
                <a:solidFill>
                  <a:srgbClr val="FFFFFF"/>
                </a:solidFill>
              </a:defRPr>
            </a:pPr>
            <a:r>
              <a:rPr sz="1400"/>
              <a:t>API route.ts</a:t>
            </a:r>
          </a:p>
        </p:txBody>
      </p:sp>
      <p:cxnSp>
        <p:nvCxnSpPr>
          <p:cNvPr id="19" name="Connector 18"/>
          <p:cNvCxnSpPr/>
          <p:nvPr/>
        </p:nvCxnSpPr>
        <p:spPr>
          <a:xfrm>
            <a:off x="8296220" y="1883664"/>
            <a:ext cx="109728" cy="0"/>
          </a:xfrm>
          <a:prstGeom prst="line">
            <a:avLst/>
          </a:prstGeom>
          <a:ln w="19050">
            <a:solidFill>
              <a:srgbClr val="F26419"/>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405948" y="1600200"/>
            <a:ext cx="1434301" cy="566928"/>
          </a:xfrm>
          <a:prstGeom prst="roundRect">
            <a:avLst/>
          </a:prstGeom>
          <a:solidFill>
            <a:srgbClr val="0097A7"/>
          </a:solidFill>
          <a:ln>
            <a:solidFill>
              <a:srgbClr val="0097A7"/>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819" b="1">
                <a:solidFill>
                  <a:srgbClr val="FFFFFF"/>
                </a:solidFill>
              </a:defRPr>
            </a:pPr>
            <a:r>
              <a:rPr sz="1400"/>
              <a:t>Supabase</a:t>
            </a:r>
          </a:p>
        </p:txBody>
      </p:sp>
      <p:cxnSp>
        <p:nvCxnSpPr>
          <p:cNvPr id="21" name="Connector 20"/>
          <p:cNvCxnSpPr/>
          <p:nvPr/>
        </p:nvCxnSpPr>
        <p:spPr>
          <a:xfrm>
            <a:off x="9840250" y="1883664"/>
            <a:ext cx="109728" cy="0"/>
          </a:xfrm>
          <a:prstGeom prst="line">
            <a:avLst/>
          </a:prstGeom>
          <a:ln w="19050">
            <a:solidFill>
              <a:srgbClr val="F26419"/>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949978" y="1600200"/>
            <a:ext cx="1434301" cy="566928"/>
          </a:xfrm>
          <a:prstGeom prst="roundRect">
            <a:avLst/>
          </a:prstGeom>
          <a:solidFill>
            <a:srgbClr val="3A9D58"/>
          </a:solidFill>
          <a:ln>
            <a:solidFill>
              <a:srgbClr val="3A9D58"/>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819" b="1">
                <a:solidFill>
                  <a:srgbClr val="FFFFFF"/>
                </a:solidFill>
              </a:defRPr>
            </a:pPr>
            <a:r>
              <a:rPr sz="1400"/>
              <a:t>UI update</a:t>
            </a:r>
          </a:p>
        </p:txBody>
      </p:sp>
      <p:sp>
        <p:nvSpPr>
          <p:cNvPr id="23" name="Rounded Rectangle 22"/>
          <p:cNvSpPr/>
          <p:nvPr/>
        </p:nvSpPr>
        <p:spPr>
          <a:xfrm>
            <a:off x="685799" y="2697479"/>
            <a:ext cx="3566159" cy="2208275"/>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85800" y="2697480"/>
            <a:ext cx="73152" cy="1828800"/>
          </a:xfrm>
          <a:prstGeom prst="rect">
            <a:avLst/>
          </a:prstGeom>
          <a:solidFill>
            <a:srgbClr val="1F609A"/>
          </a:solidFill>
          <a:ln>
            <a:solidFill>
              <a:srgbClr val="1F60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68680" y="2816352"/>
            <a:ext cx="3108960" cy="320040"/>
          </a:xfrm>
          <a:prstGeom prst="rect">
            <a:avLst/>
          </a:prstGeom>
          <a:noFill/>
        </p:spPr>
        <p:txBody>
          <a:bodyPr wrap="square" lIns="64008" tIns="64008" rIns="64008" bIns="64008" anchor="t">
            <a:spAutoFit/>
          </a:bodyPr>
          <a:lstStyle/>
          <a:p>
            <a:pPr algn="l"/>
            <a:r>
              <a:rPr sz="1400" b="1">
                <a:solidFill>
                  <a:srgbClr val="21324A"/>
                </a:solidFill>
                <a:latin typeface="Aptos"/>
              </a:rPr>
              <a:t>Example: teams page</a:t>
            </a:r>
          </a:p>
        </p:txBody>
      </p:sp>
      <p:sp>
        <p:nvSpPr>
          <p:cNvPr id="26" name="TextBox 25"/>
          <p:cNvSpPr txBox="1"/>
          <p:nvPr/>
        </p:nvSpPr>
        <p:spPr>
          <a:xfrm>
            <a:off x="868680" y="3200400"/>
            <a:ext cx="3108960" cy="1234440"/>
          </a:xfrm>
          <a:prstGeom prst="rect">
            <a:avLst/>
          </a:prstGeom>
          <a:noFill/>
        </p:spPr>
        <p:txBody>
          <a:bodyPr wrap="square" lIns="64008" tIns="64008" rIns="64008" bIns="64008" anchor="t">
            <a:spAutoFit/>
          </a:bodyPr>
          <a:lstStyle/>
          <a:p>
            <a:pPr algn="l"/>
            <a:r>
              <a:rPr sz="1400" b="0">
                <a:solidFill>
                  <a:srgbClr val="1E1E1E"/>
                </a:solidFill>
                <a:latin typeface="Aptos"/>
              </a:rPr>
              <a:t>The Teams screen reads items and team context, then calls DataService.getDashboardStats(), getDashboardLeaderboard() and getDashboardLeaders() to populate statistics and leaderboard cards.</a:t>
            </a:r>
          </a:p>
        </p:txBody>
      </p:sp>
      <p:sp>
        <p:nvSpPr>
          <p:cNvPr id="27" name="Rounded Rectangle 26"/>
          <p:cNvSpPr/>
          <p:nvPr/>
        </p:nvSpPr>
        <p:spPr>
          <a:xfrm>
            <a:off x="4389120" y="2697480"/>
            <a:ext cx="3429000" cy="2208276"/>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4389120" y="2697480"/>
            <a:ext cx="73152" cy="1828800"/>
          </a:xfrm>
          <a:prstGeom prst="rect">
            <a:avLst/>
          </a:prstGeom>
          <a:solidFill>
            <a:srgbClr val="0097A7"/>
          </a:solidFill>
          <a:ln>
            <a:solidFill>
              <a:srgbClr val="009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572000" y="2816352"/>
            <a:ext cx="3108960" cy="320040"/>
          </a:xfrm>
          <a:prstGeom prst="rect">
            <a:avLst/>
          </a:prstGeom>
          <a:noFill/>
        </p:spPr>
        <p:txBody>
          <a:bodyPr wrap="square" lIns="64008" tIns="64008" rIns="64008" bIns="64008" anchor="t">
            <a:spAutoFit/>
          </a:bodyPr>
          <a:lstStyle/>
          <a:p>
            <a:pPr algn="l"/>
            <a:r>
              <a:rPr sz="1400" b="1">
                <a:solidFill>
                  <a:srgbClr val="21324A"/>
                </a:solidFill>
                <a:latin typeface="Aptos"/>
              </a:rPr>
              <a:t>Example: data service</a:t>
            </a:r>
          </a:p>
        </p:txBody>
      </p:sp>
      <p:sp>
        <p:nvSpPr>
          <p:cNvPr id="30" name="TextBox 29"/>
          <p:cNvSpPr txBox="1"/>
          <p:nvPr/>
        </p:nvSpPr>
        <p:spPr>
          <a:xfrm>
            <a:off x="4572000" y="3200400"/>
            <a:ext cx="3108960" cy="1234440"/>
          </a:xfrm>
          <a:prstGeom prst="rect">
            <a:avLst/>
          </a:prstGeom>
          <a:noFill/>
        </p:spPr>
        <p:txBody>
          <a:bodyPr wrap="square" lIns="64008" tIns="64008" rIns="64008" bIns="64008" anchor="t">
            <a:spAutoFit/>
          </a:bodyPr>
          <a:lstStyle/>
          <a:p>
            <a:pPr algn="l"/>
            <a:r>
              <a:rPr sz="1400" b="0">
                <a:solidFill>
                  <a:srgbClr val="1E1E1E"/>
                </a:solidFill>
                <a:latin typeface="Aptos"/>
              </a:rPr>
              <a:t>DataService centralizes API endpoints such as /api/items, /api/goals, /api/teams, /api/team-members, /api/dashboard/stats and handles error parsing consistently.</a:t>
            </a:r>
          </a:p>
        </p:txBody>
      </p:sp>
      <p:sp>
        <p:nvSpPr>
          <p:cNvPr id="31" name="Rounded Rectangle 30"/>
          <p:cNvSpPr/>
          <p:nvPr/>
        </p:nvSpPr>
        <p:spPr>
          <a:xfrm>
            <a:off x="8092440" y="2697480"/>
            <a:ext cx="3429000" cy="2208276"/>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8092440" y="2697480"/>
            <a:ext cx="73152" cy="1828800"/>
          </a:xfrm>
          <a:prstGeom prst="rect">
            <a:avLst/>
          </a:prstGeom>
          <a:solidFill>
            <a:srgbClr val="F26419"/>
          </a:solidFill>
          <a:ln>
            <a:solidFill>
              <a:srgbClr val="F2641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275319" y="2816352"/>
            <a:ext cx="3108960" cy="320040"/>
          </a:xfrm>
          <a:prstGeom prst="rect">
            <a:avLst/>
          </a:prstGeom>
          <a:noFill/>
        </p:spPr>
        <p:txBody>
          <a:bodyPr wrap="square" lIns="64008" tIns="64008" rIns="64008" bIns="64008" anchor="t">
            <a:spAutoFit/>
          </a:bodyPr>
          <a:lstStyle/>
          <a:p>
            <a:pPr algn="l"/>
            <a:r>
              <a:rPr sz="1400" b="1">
                <a:solidFill>
                  <a:srgbClr val="21324A"/>
                </a:solidFill>
                <a:latin typeface="Aptos"/>
              </a:rPr>
              <a:t>Example: error handling</a:t>
            </a:r>
          </a:p>
        </p:txBody>
      </p:sp>
      <p:sp>
        <p:nvSpPr>
          <p:cNvPr id="34" name="TextBox 33"/>
          <p:cNvSpPr txBox="1"/>
          <p:nvPr/>
        </p:nvSpPr>
        <p:spPr>
          <a:xfrm>
            <a:off x="8275319" y="3200400"/>
            <a:ext cx="3108960" cy="1234440"/>
          </a:xfrm>
          <a:prstGeom prst="rect">
            <a:avLst/>
          </a:prstGeom>
          <a:noFill/>
        </p:spPr>
        <p:txBody>
          <a:bodyPr wrap="square" lIns="64008" tIns="64008" rIns="64008" bIns="64008" anchor="t">
            <a:spAutoFit/>
          </a:bodyPr>
          <a:lstStyle/>
          <a:p>
            <a:pPr algn="l"/>
            <a:r>
              <a:rPr sz="1400" b="0">
                <a:solidFill>
                  <a:srgbClr val="1E1E1E"/>
                </a:solidFill>
                <a:latin typeface="Aptos"/>
              </a:rPr>
              <a:t>When an API call fails, DataService reads JSON/text error details, logs diagnostics, handles 401/403/431/500 conditions and throws a readable error for debugging.</a:t>
            </a:r>
          </a:p>
        </p:txBody>
      </p:sp>
      <p:sp>
        <p:nvSpPr>
          <p:cNvPr id="35" name="TextBox 34"/>
          <p:cNvSpPr txBox="1"/>
          <p:nvPr/>
        </p:nvSpPr>
        <p:spPr>
          <a:xfrm>
            <a:off x="685800" y="4983480"/>
            <a:ext cx="2286000" cy="228600"/>
          </a:xfrm>
          <a:prstGeom prst="rect">
            <a:avLst/>
          </a:prstGeom>
          <a:noFill/>
        </p:spPr>
        <p:txBody>
          <a:bodyPr wrap="square" lIns="64008" tIns="64008" rIns="64008" bIns="64008" anchor="t">
            <a:spAutoFit/>
          </a:bodyPr>
          <a:lstStyle/>
          <a:p>
            <a:pPr algn="l"/>
            <a:r>
              <a:rPr sz="1400" b="1">
                <a:solidFill>
                  <a:srgbClr val="21324A"/>
                </a:solidFill>
                <a:latin typeface="Aptos"/>
              </a:rPr>
              <a:t>Why this matters</a:t>
            </a:r>
          </a:p>
        </p:txBody>
      </p:sp>
      <p:sp>
        <p:nvSpPr>
          <p:cNvPr id="36" name="TextBox 35"/>
          <p:cNvSpPr txBox="1"/>
          <p:nvPr/>
        </p:nvSpPr>
        <p:spPr>
          <a:xfrm>
            <a:off x="685800" y="5257800"/>
            <a:ext cx="10515600" cy="731520"/>
          </a:xfrm>
          <a:prstGeom prst="rect">
            <a:avLst/>
          </a:prstGeom>
          <a:noFill/>
        </p:spPr>
        <p:txBody>
          <a:bodyPr wrap="square" lIns="73152" tIns="36576" rIns="45720" bIns="27432">
            <a:spAutoFit/>
          </a:bodyPr>
          <a:lstStyle/>
          <a:p>
            <a:pPr>
              <a:lnSpc>
                <a:spcPct val="100000"/>
              </a:lnSpc>
              <a:spcAft>
                <a:spcPts val="300"/>
              </a:spcAft>
              <a:defRPr sz="880">
                <a:solidFill>
                  <a:srgbClr val="1E1E1E"/>
                </a:solidFill>
                <a:latin typeface="Aptos"/>
              </a:defRPr>
            </a:pPr>
            <a:r>
              <a:rPr sz="1400"/>
              <a:t>• Most UI issues can be traced by checking the component, then DataService, then the corresponding API route.</a:t>
            </a:r>
          </a:p>
          <a:p>
            <a:pPr>
              <a:lnSpc>
                <a:spcPct val="100000"/>
              </a:lnSpc>
              <a:spcAft>
                <a:spcPts val="300"/>
              </a:spcAft>
              <a:defRPr sz="880">
                <a:solidFill>
                  <a:srgbClr val="1E1E1E"/>
                </a:solidFill>
                <a:latin typeface="Aptos"/>
              </a:defRPr>
            </a:pPr>
            <a:r>
              <a:rPr sz="1400"/>
              <a:t>• This structure helps testers isolate whether an issue is UI-only, API-related, permission-related or data-related.</a:t>
            </a:r>
          </a:p>
          <a:p>
            <a:pPr>
              <a:lnSpc>
                <a:spcPct val="100000"/>
              </a:lnSpc>
              <a:spcAft>
                <a:spcPts val="300"/>
              </a:spcAft>
              <a:defRPr sz="880">
                <a:solidFill>
                  <a:srgbClr val="1E1E1E"/>
                </a:solidFill>
                <a:latin typeface="Aptos"/>
              </a:defRPr>
            </a:pPr>
            <a:r>
              <a:rPr sz="1400"/>
              <a:t>• It also gives the team a clear way to explain the system flow to Sachin/Nishant and the client.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420624"/>
          </a:xfrm>
          <a:prstGeom prst="rect">
            <a:avLst/>
          </a:prstGeom>
          <a:solidFill>
            <a:srgbClr val="21324A"/>
          </a:solidFill>
          <a:ln>
            <a:solidFill>
              <a:srgbClr val="21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8210"/>
            <a:ext cx="2377440" cy="437043"/>
          </a:xfrm>
          <a:prstGeom prst="rect">
            <a:avLst/>
          </a:prstGeom>
          <a:noFill/>
        </p:spPr>
        <p:txBody>
          <a:bodyPr wrap="square" lIns="64008" tIns="64008" rIns="64008" bIns="64008" anchor="t">
            <a:spAutoFit/>
          </a:bodyPr>
          <a:lstStyle/>
          <a:p>
            <a:pPr algn="l"/>
            <a:r>
              <a:rPr sz="2000" b="1" dirty="0">
                <a:solidFill>
                  <a:srgbClr val="FFFFFF"/>
                </a:solidFill>
                <a:latin typeface="Aptos"/>
              </a:rPr>
              <a:t>BACKEND</a:t>
            </a:r>
          </a:p>
        </p:txBody>
      </p:sp>
      <p:sp>
        <p:nvSpPr>
          <p:cNvPr id="4" name="TextBox 3"/>
          <p:cNvSpPr txBox="1"/>
          <p:nvPr/>
        </p:nvSpPr>
        <p:spPr>
          <a:xfrm>
            <a:off x="11155680" y="100584"/>
            <a:ext cx="731520" cy="228600"/>
          </a:xfrm>
          <a:prstGeom prst="rect">
            <a:avLst/>
          </a:prstGeom>
          <a:noFill/>
        </p:spPr>
        <p:txBody>
          <a:bodyPr wrap="square" lIns="64008" tIns="64008" rIns="64008" bIns="64008" anchor="t">
            <a:spAutoFit/>
          </a:bodyPr>
          <a:lstStyle/>
          <a:p>
            <a:pPr algn="r"/>
            <a:r>
              <a:rPr sz="1400" b="1">
                <a:solidFill>
                  <a:srgbClr val="F26419"/>
                </a:solidFill>
                <a:latin typeface="Aptos"/>
              </a:rPr>
              <a:t>EXL</a:t>
            </a:r>
          </a:p>
        </p:txBody>
      </p:sp>
      <p:sp>
        <p:nvSpPr>
          <p:cNvPr id="5" name="TextBox 4"/>
          <p:cNvSpPr txBox="1"/>
          <p:nvPr/>
        </p:nvSpPr>
        <p:spPr>
          <a:xfrm>
            <a:off x="502920" y="393192"/>
            <a:ext cx="9509760" cy="438912"/>
          </a:xfrm>
          <a:prstGeom prst="rect">
            <a:avLst/>
          </a:prstGeom>
          <a:noFill/>
        </p:spPr>
        <p:txBody>
          <a:bodyPr wrap="square" lIns="64008" tIns="64008" rIns="64008" bIns="64008" anchor="t">
            <a:spAutoFit/>
          </a:bodyPr>
          <a:lstStyle/>
          <a:p>
            <a:pPr algn="l"/>
            <a:r>
              <a:rPr sz="2300" b="1">
                <a:solidFill>
                  <a:srgbClr val="F26419"/>
                </a:solidFill>
                <a:latin typeface="Aptos"/>
              </a:rPr>
              <a:t>API route lifecycle</a:t>
            </a:r>
          </a:p>
        </p:txBody>
      </p:sp>
      <p:sp>
        <p:nvSpPr>
          <p:cNvPr id="6" name="TextBox 5"/>
          <p:cNvSpPr txBox="1"/>
          <p:nvPr/>
        </p:nvSpPr>
        <p:spPr>
          <a:xfrm>
            <a:off x="521207" y="713232"/>
            <a:ext cx="10515600" cy="292608"/>
          </a:xfrm>
          <a:prstGeom prst="rect">
            <a:avLst/>
          </a:prstGeom>
          <a:noFill/>
        </p:spPr>
        <p:txBody>
          <a:bodyPr wrap="square" lIns="64008" tIns="64008" rIns="64008" bIns="64008" anchor="t">
            <a:spAutoFit/>
          </a:bodyPr>
          <a:lstStyle/>
          <a:p>
            <a:pPr algn="l"/>
            <a:r>
              <a:rPr sz="1400" b="0" dirty="0">
                <a:solidFill>
                  <a:srgbClr val="5A5A5A"/>
                </a:solidFill>
                <a:latin typeface="Aptos"/>
              </a:rPr>
              <a:t>Backend </a:t>
            </a:r>
            <a:r>
              <a:rPr sz="1400" b="0" dirty="0" err="1">
                <a:solidFill>
                  <a:srgbClr val="5A5A5A"/>
                </a:solidFill>
                <a:latin typeface="Aptos"/>
              </a:rPr>
              <a:t>route.ts</a:t>
            </a:r>
            <a:r>
              <a:rPr sz="1400" b="0" dirty="0">
                <a:solidFill>
                  <a:srgbClr val="5A5A5A"/>
                </a:solidFill>
                <a:latin typeface="Aptos"/>
              </a:rPr>
              <a:t> files follow a consistent pattern: authenticate, validate, execute business logic, handle database operations and return a structured response.</a:t>
            </a:r>
          </a:p>
        </p:txBody>
      </p:sp>
      <p:sp>
        <p:nvSpPr>
          <p:cNvPr id="7" name="TextBox 6"/>
          <p:cNvSpPr txBox="1"/>
          <p:nvPr/>
        </p:nvSpPr>
        <p:spPr>
          <a:xfrm>
            <a:off x="502920" y="6528816"/>
            <a:ext cx="7772400" cy="201168"/>
          </a:xfrm>
          <a:prstGeom prst="rect">
            <a:avLst/>
          </a:prstGeom>
          <a:noFill/>
        </p:spPr>
        <p:txBody>
          <a:bodyPr wrap="square" lIns="64008" tIns="64008" rIns="64008" bIns="64008" anchor="t">
            <a:spAutoFit/>
          </a:bodyPr>
          <a:lstStyle/>
          <a:p>
            <a:pPr algn="l"/>
            <a:r>
              <a:rPr sz="750" b="0">
                <a:solidFill>
                  <a:srgbClr val="5A5A5A"/>
                </a:solidFill>
                <a:latin typeface="Aptos"/>
              </a:rPr>
              <a:t>EXL – Oakbridge Engagement | Our Understanding of Existing System</a:t>
            </a:r>
          </a:p>
        </p:txBody>
      </p:sp>
      <p:sp>
        <p:nvSpPr>
          <p:cNvPr id="8" name="TextBox 7"/>
          <p:cNvSpPr txBox="1"/>
          <p:nvPr/>
        </p:nvSpPr>
        <p:spPr>
          <a:xfrm>
            <a:off x="11475720" y="6528816"/>
            <a:ext cx="320040" cy="201168"/>
          </a:xfrm>
          <a:prstGeom prst="rect">
            <a:avLst/>
          </a:prstGeom>
          <a:noFill/>
        </p:spPr>
        <p:txBody>
          <a:bodyPr wrap="square" lIns="64008" tIns="64008" rIns="64008" bIns="64008" anchor="t">
            <a:spAutoFit/>
          </a:bodyPr>
          <a:lstStyle/>
          <a:p>
            <a:pPr algn="r"/>
            <a:r>
              <a:rPr sz="750" b="0">
                <a:solidFill>
                  <a:srgbClr val="5A5A5A"/>
                </a:solidFill>
                <a:latin typeface="Aptos"/>
              </a:rPr>
              <a:t>11</a:t>
            </a:r>
          </a:p>
        </p:txBody>
      </p:sp>
      <p:sp>
        <p:nvSpPr>
          <p:cNvPr id="9" name="Rectangle 8"/>
          <p:cNvSpPr/>
          <p:nvPr/>
        </p:nvSpPr>
        <p:spPr>
          <a:xfrm>
            <a:off x="502920" y="1344168"/>
            <a:ext cx="11064240" cy="22860"/>
          </a:xfrm>
          <a:prstGeom prst="rect">
            <a:avLst/>
          </a:prstGeom>
          <a:solidFill>
            <a:srgbClr val="DAE0E6"/>
          </a:solidFill>
          <a:ln>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85800" y="1600200"/>
            <a:ext cx="10789920" cy="2971800"/>
          </a:xfrm>
          <a:prstGeom prst="rect">
            <a:avLst/>
          </a:prstGeom>
          <a:solidFill>
            <a:srgbClr val="F4F6F8"/>
          </a:solidFill>
          <a:ln>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Chevron 10"/>
          <p:cNvSpPr/>
          <p:nvPr/>
        </p:nvSpPr>
        <p:spPr>
          <a:xfrm>
            <a:off x="685800" y="1691640"/>
            <a:ext cx="1767840" cy="502920"/>
          </a:xfrm>
          <a:prstGeom prst="chevron">
            <a:avLst/>
          </a:prstGeom>
          <a:solidFill>
            <a:srgbClr val="1F609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0664" y="1810512"/>
            <a:ext cx="1658112" cy="201168"/>
          </a:xfrm>
          <a:prstGeom prst="rect">
            <a:avLst/>
          </a:prstGeom>
          <a:noFill/>
        </p:spPr>
        <p:txBody>
          <a:bodyPr wrap="square" lIns="64008" tIns="64008" rIns="64008" bIns="64008" anchor="t">
            <a:spAutoFit/>
          </a:bodyPr>
          <a:lstStyle/>
          <a:p>
            <a:pPr algn="ctr"/>
            <a:r>
              <a:rPr sz="1400" b="1">
                <a:solidFill>
                  <a:srgbClr val="FFFFFF"/>
                </a:solidFill>
                <a:latin typeface="Aptos"/>
              </a:rPr>
              <a:t>1. Authenticate</a:t>
            </a:r>
          </a:p>
        </p:txBody>
      </p:sp>
      <p:sp>
        <p:nvSpPr>
          <p:cNvPr id="13" name="TextBox 12"/>
          <p:cNvSpPr txBox="1"/>
          <p:nvPr/>
        </p:nvSpPr>
        <p:spPr>
          <a:xfrm>
            <a:off x="795528" y="2313432"/>
            <a:ext cx="1548384" cy="2167128"/>
          </a:xfrm>
          <a:prstGeom prst="rect">
            <a:avLst/>
          </a:prstGeom>
          <a:noFill/>
        </p:spPr>
        <p:txBody>
          <a:bodyPr wrap="square" lIns="64008" tIns="64008" rIns="64008" bIns="64008" anchor="t">
            <a:spAutoFit/>
          </a:bodyPr>
          <a:lstStyle/>
          <a:p>
            <a:pPr algn="l"/>
            <a:r>
              <a:rPr sz="1400" b="0">
                <a:solidFill>
                  <a:srgbClr val="1E1E1E"/>
                </a:solidFill>
                <a:latin typeface="Aptos"/>
              </a:rPr>
              <a:t>requireAuthOrFail validates the user session and prevents unauthenticated access.</a:t>
            </a:r>
          </a:p>
        </p:txBody>
      </p:sp>
      <p:sp>
        <p:nvSpPr>
          <p:cNvPr id="14" name="Chevron 13"/>
          <p:cNvSpPr/>
          <p:nvPr/>
        </p:nvSpPr>
        <p:spPr>
          <a:xfrm>
            <a:off x="2490216" y="1691640"/>
            <a:ext cx="1767840" cy="502920"/>
          </a:xfrm>
          <a:prstGeom prst="chevron">
            <a:avLst/>
          </a:prstGeom>
          <a:solidFill>
            <a:srgbClr val="2132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545080" y="1810512"/>
            <a:ext cx="1658112" cy="201168"/>
          </a:xfrm>
          <a:prstGeom prst="rect">
            <a:avLst/>
          </a:prstGeom>
          <a:noFill/>
        </p:spPr>
        <p:txBody>
          <a:bodyPr wrap="square" lIns="64008" tIns="64008" rIns="64008" bIns="64008" anchor="t">
            <a:spAutoFit/>
          </a:bodyPr>
          <a:lstStyle/>
          <a:p>
            <a:pPr algn="ctr"/>
            <a:r>
              <a:rPr sz="1400" b="1">
                <a:solidFill>
                  <a:srgbClr val="FFFFFF"/>
                </a:solidFill>
                <a:latin typeface="Aptos"/>
              </a:rPr>
              <a:t>2. Authorize</a:t>
            </a:r>
          </a:p>
        </p:txBody>
      </p:sp>
      <p:sp>
        <p:nvSpPr>
          <p:cNvPr id="16" name="TextBox 15"/>
          <p:cNvSpPr txBox="1"/>
          <p:nvPr/>
        </p:nvSpPr>
        <p:spPr>
          <a:xfrm>
            <a:off x="2599944" y="2313432"/>
            <a:ext cx="1548384" cy="2167128"/>
          </a:xfrm>
          <a:prstGeom prst="rect">
            <a:avLst/>
          </a:prstGeom>
          <a:noFill/>
        </p:spPr>
        <p:txBody>
          <a:bodyPr wrap="square" lIns="64008" tIns="64008" rIns="64008" bIns="64008" anchor="t">
            <a:spAutoFit/>
          </a:bodyPr>
          <a:lstStyle/>
          <a:p>
            <a:pPr algn="l"/>
            <a:r>
              <a:rPr sz="1400" b="0">
                <a:solidFill>
                  <a:srgbClr val="1E1E1E"/>
                </a:solidFill>
                <a:latin typeface="Aptos"/>
              </a:rPr>
              <a:t>Role checks and ownership checks confirm whether the user can perform the requested action.</a:t>
            </a:r>
          </a:p>
        </p:txBody>
      </p:sp>
      <p:sp>
        <p:nvSpPr>
          <p:cNvPr id="17" name="Chevron 16"/>
          <p:cNvSpPr/>
          <p:nvPr/>
        </p:nvSpPr>
        <p:spPr>
          <a:xfrm>
            <a:off x="4294632" y="1691640"/>
            <a:ext cx="1767840" cy="502920"/>
          </a:xfrm>
          <a:prstGeom prst="chevron">
            <a:avLst/>
          </a:prstGeom>
          <a:solidFill>
            <a:srgbClr val="1F609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349496" y="1810512"/>
            <a:ext cx="1658112" cy="201168"/>
          </a:xfrm>
          <a:prstGeom prst="rect">
            <a:avLst/>
          </a:prstGeom>
          <a:noFill/>
        </p:spPr>
        <p:txBody>
          <a:bodyPr wrap="square" lIns="64008" tIns="64008" rIns="64008" bIns="64008" anchor="t">
            <a:spAutoFit/>
          </a:bodyPr>
          <a:lstStyle/>
          <a:p>
            <a:pPr algn="ctr"/>
            <a:r>
              <a:rPr sz="1400" b="1">
                <a:solidFill>
                  <a:srgbClr val="FFFFFF"/>
                </a:solidFill>
                <a:latin typeface="Aptos"/>
              </a:rPr>
              <a:t>3. Validate input</a:t>
            </a:r>
          </a:p>
        </p:txBody>
      </p:sp>
      <p:sp>
        <p:nvSpPr>
          <p:cNvPr id="19" name="TextBox 18"/>
          <p:cNvSpPr txBox="1"/>
          <p:nvPr/>
        </p:nvSpPr>
        <p:spPr>
          <a:xfrm>
            <a:off x="4404360" y="2313432"/>
            <a:ext cx="1548384" cy="2167128"/>
          </a:xfrm>
          <a:prstGeom prst="rect">
            <a:avLst/>
          </a:prstGeom>
          <a:noFill/>
        </p:spPr>
        <p:txBody>
          <a:bodyPr wrap="square" lIns="64008" tIns="64008" rIns="64008" bIns="64008" anchor="t">
            <a:spAutoFit/>
          </a:bodyPr>
          <a:lstStyle/>
          <a:p>
            <a:pPr algn="l"/>
            <a:r>
              <a:rPr sz="1400" b="0">
                <a:solidFill>
                  <a:srgbClr val="1E1E1E"/>
                </a:solidFill>
                <a:latin typeface="Aptos"/>
              </a:rPr>
              <a:t>Route handlers confirm mandatory IDs, sanitize request body values and return 400 where input is missing.</a:t>
            </a:r>
          </a:p>
        </p:txBody>
      </p:sp>
      <p:sp>
        <p:nvSpPr>
          <p:cNvPr id="20" name="Chevron 19"/>
          <p:cNvSpPr/>
          <p:nvPr/>
        </p:nvSpPr>
        <p:spPr>
          <a:xfrm>
            <a:off x="6099048" y="1691640"/>
            <a:ext cx="1767840" cy="502920"/>
          </a:xfrm>
          <a:prstGeom prst="chevron">
            <a:avLst/>
          </a:prstGeom>
          <a:solidFill>
            <a:srgbClr val="2132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153912" y="1810512"/>
            <a:ext cx="1658112" cy="201168"/>
          </a:xfrm>
          <a:prstGeom prst="rect">
            <a:avLst/>
          </a:prstGeom>
          <a:noFill/>
        </p:spPr>
        <p:txBody>
          <a:bodyPr wrap="square" lIns="64008" tIns="64008" rIns="64008" bIns="64008" anchor="t">
            <a:spAutoFit/>
          </a:bodyPr>
          <a:lstStyle/>
          <a:p>
            <a:pPr algn="ctr"/>
            <a:r>
              <a:rPr sz="1400" b="1">
                <a:solidFill>
                  <a:srgbClr val="FFFFFF"/>
                </a:solidFill>
                <a:latin typeface="Aptos"/>
              </a:rPr>
              <a:t>4. Execute logic</a:t>
            </a:r>
          </a:p>
        </p:txBody>
      </p:sp>
      <p:sp>
        <p:nvSpPr>
          <p:cNvPr id="22" name="TextBox 21"/>
          <p:cNvSpPr txBox="1"/>
          <p:nvPr/>
        </p:nvSpPr>
        <p:spPr>
          <a:xfrm>
            <a:off x="6208776" y="2313432"/>
            <a:ext cx="1548384" cy="2167128"/>
          </a:xfrm>
          <a:prstGeom prst="rect">
            <a:avLst/>
          </a:prstGeom>
          <a:noFill/>
        </p:spPr>
        <p:txBody>
          <a:bodyPr wrap="square" lIns="64008" tIns="64008" rIns="64008" bIns="64008" anchor="t">
            <a:spAutoFit/>
          </a:bodyPr>
          <a:lstStyle/>
          <a:p>
            <a:pPr algn="l"/>
            <a:r>
              <a:rPr sz="1400" b="0">
                <a:solidFill>
                  <a:srgbClr val="1E1E1E"/>
                </a:solidFill>
                <a:latin typeface="Aptos"/>
              </a:rPr>
              <a:t>Business rules decide whether to create, update, move, transfer, notify or block the operation.</a:t>
            </a:r>
          </a:p>
        </p:txBody>
      </p:sp>
      <p:sp>
        <p:nvSpPr>
          <p:cNvPr id="23" name="Chevron 22"/>
          <p:cNvSpPr/>
          <p:nvPr/>
        </p:nvSpPr>
        <p:spPr>
          <a:xfrm>
            <a:off x="7903464" y="1691640"/>
            <a:ext cx="1767840" cy="502920"/>
          </a:xfrm>
          <a:prstGeom prst="chevron">
            <a:avLst/>
          </a:prstGeom>
          <a:solidFill>
            <a:srgbClr val="1F609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958328" y="1810512"/>
            <a:ext cx="1658112" cy="201168"/>
          </a:xfrm>
          <a:prstGeom prst="rect">
            <a:avLst/>
          </a:prstGeom>
          <a:noFill/>
        </p:spPr>
        <p:txBody>
          <a:bodyPr wrap="square" lIns="64008" tIns="64008" rIns="64008" bIns="64008" anchor="t">
            <a:spAutoFit/>
          </a:bodyPr>
          <a:lstStyle/>
          <a:p>
            <a:pPr algn="ctr"/>
            <a:r>
              <a:rPr sz="1400" b="1">
                <a:solidFill>
                  <a:srgbClr val="FFFFFF"/>
                </a:solidFill>
                <a:latin typeface="Aptos"/>
              </a:rPr>
              <a:t>5. Read/write data</a:t>
            </a:r>
          </a:p>
        </p:txBody>
      </p:sp>
      <p:sp>
        <p:nvSpPr>
          <p:cNvPr id="25" name="TextBox 24"/>
          <p:cNvSpPr txBox="1"/>
          <p:nvPr/>
        </p:nvSpPr>
        <p:spPr>
          <a:xfrm>
            <a:off x="8013192" y="2313432"/>
            <a:ext cx="1548384" cy="2167128"/>
          </a:xfrm>
          <a:prstGeom prst="rect">
            <a:avLst/>
          </a:prstGeom>
          <a:noFill/>
        </p:spPr>
        <p:txBody>
          <a:bodyPr wrap="square" lIns="64008" tIns="64008" rIns="64008" bIns="64008" anchor="t">
            <a:spAutoFit/>
          </a:bodyPr>
          <a:lstStyle/>
          <a:p>
            <a:pPr algn="l"/>
            <a:r>
              <a:rPr sz="1400" b="0">
                <a:solidFill>
                  <a:srgbClr val="1E1E1E"/>
                </a:solidFill>
                <a:latin typeface="Aptos"/>
              </a:rPr>
              <a:t>Supabase queries or RPCs interact with tables such as team_members, user_profiles, teams, goals and items.</a:t>
            </a:r>
          </a:p>
        </p:txBody>
      </p:sp>
      <p:sp>
        <p:nvSpPr>
          <p:cNvPr id="26" name="Chevron 25"/>
          <p:cNvSpPr/>
          <p:nvPr/>
        </p:nvSpPr>
        <p:spPr>
          <a:xfrm>
            <a:off x="9707880" y="1691640"/>
            <a:ext cx="1767840" cy="502920"/>
          </a:xfrm>
          <a:prstGeom prst="chevron">
            <a:avLst/>
          </a:prstGeom>
          <a:solidFill>
            <a:srgbClr val="2132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762744" y="1810512"/>
            <a:ext cx="1658112" cy="201168"/>
          </a:xfrm>
          <a:prstGeom prst="rect">
            <a:avLst/>
          </a:prstGeom>
          <a:noFill/>
        </p:spPr>
        <p:txBody>
          <a:bodyPr wrap="square" lIns="64008" tIns="64008" rIns="64008" bIns="64008" anchor="t">
            <a:spAutoFit/>
          </a:bodyPr>
          <a:lstStyle/>
          <a:p>
            <a:pPr algn="ctr"/>
            <a:r>
              <a:rPr sz="1400" b="1">
                <a:solidFill>
                  <a:srgbClr val="FFFFFF"/>
                </a:solidFill>
                <a:latin typeface="Aptos"/>
              </a:rPr>
              <a:t>6. Respond/log</a:t>
            </a:r>
          </a:p>
        </p:txBody>
      </p:sp>
      <p:sp>
        <p:nvSpPr>
          <p:cNvPr id="28" name="TextBox 27"/>
          <p:cNvSpPr txBox="1"/>
          <p:nvPr/>
        </p:nvSpPr>
        <p:spPr>
          <a:xfrm>
            <a:off x="9817608" y="2313432"/>
            <a:ext cx="1548384" cy="2167128"/>
          </a:xfrm>
          <a:prstGeom prst="rect">
            <a:avLst/>
          </a:prstGeom>
          <a:noFill/>
        </p:spPr>
        <p:txBody>
          <a:bodyPr wrap="square" lIns="64008" tIns="64008" rIns="64008" bIns="64008" anchor="t">
            <a:spAutoFit/>
          </a:bodyPr>
          <a:lstStyle/>
          <a:p>
            <a:pPr algn="l"/>
            <a:r>
              <a:rPr sz="1400" b="0">
                <a:solidFill>
                  <a:srgbClr val="1E1E1E"/>
                </a:solidFill>
                <a:latin typeface="Aptos"/>
              </a:rPr>
              <a:t>The route returns JSON success/error response and logs request IDs for troubleshooting.</a:t>
            </a:r>
          </a:p>
        </p:txBody>
      </p:sp>
      <p:sp>
        <p:nvSpPr>
          <p:cNvPr id="29" name="Rounded Rectangle 28"/>
          <p:cNvSpPr/>
          <p:nvPr/>
        </p:nvSpPr>
        <p:spPr>
          <a:xfrm>
            <a:off x="685800" y="5074920"/>
            <a:ext cx="10820400" cy="1092708"/>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685800" y="5074920"/>
            <a:ext cx="73152" cy="777240"/>
          </a:xfrm>
          <a:prstGeom prst="rect">
            <a:avLst/>
          </a:prstGeom>
          <a:solidFill>
            <a:srgbClr val="F26419"/>
          </a:solidFill>
          <a:ln>
            <a:solidFill>
              <a:srgbClr val="F2641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68680" y="5193792"/>
            <a:ext cx="10469880" cy="320040"/>
          </a:xfrm>
          <a:prstGeom prst="rect">
            <a:avLst/>
          </a:prstGeom>
          <a:noFill/>
        </p:spPr>
        <p:txBody>
          <a:bodyPr wrap="square" lIns="64008" tIns="64008" rIns="64008" bIns="64008" anchor="t">
            <a:spAutoFit/>
          </a:bodyPr>
          <a:lstStyle/>
          <a:p>
            <a:pPr algn="l"/>
            <a:r>
              <a:rPr sz="1400" b="1">
                <a:solidFill>
                  <a:srgbClr val="21324A"/>
                </a:solidFill>
                <a:latin typeface="Aptos"/>
              </a:rPr>
              <a:t>Client summary</a:t>
            </a:r>
          </a:p>
        </p:txBody>
      </p:sp>
      <p:sp>
        <p:nvSpPr>
          <p:cNvPr id="32" name="TextBox 31"/>
          <p:cNvSpPr txBox="1"/>
          <p:nvPr/>
        </p:nvSpPr>
        <p:spPr>
          <a:xfrm>
            <a:off x="868680" y="5577840"/>
            <a:ext cx="10469880" cy="182879"/>
          </a:xfrm>
          <a:prstGeom prst="rect">
            <a:avLst/>
          </a:prstGeom>
          <a:noFill/>
        </p:spPr>
        <p:txBody>
          <a:bodyPr wrap="square" lIns="64008" tIns="64008" rIns="64008" bIns="64008" anchor="t">
            <a:spAutoFit/>
          </a:bodyPr>
          <a:lstStyle/>
          <a:p>
            <a:pPr algn="l"/>
            <a:r>
              <a:rPr sz="1400" b="0">
                <a:solidFill>
                  <a:srgbClr val="1E1E1E"/>
                </a:solidFill>
                <a:latin typeface="Aptos"/>
              </a:rPr>
              <a:t>This confirms that the backend is not a simple database passthrough. It includes authentication, authorization, validation, business rule enforcement, notification generation and error handling.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420624"/>
          </a:xfrm>
          <a:prstGeom prst="rect">
            <a:avLst/>
          </a:prstGeom>
          <a:solidFill>
            <a:srgbClr val="21324A"/>
          </a:solidFill>
          <a:ln>
            <a:solidFill>
              <a:srgbClr val="21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21931"/>
            <a:ext cx="2377440" cy="437043"/>
          </a:xfrm>
          <a:prstGeom prst="rect">
            <a:avLst/>
          </a:prstGeom>
          <a:noFill/>
        </p:spPr>
        <p:txBody>
          <a:bodyPr wrap="square" lIns="64008" tIns="64008" rIns="64008" bIns="64008" anchor="t">
            <a:spAutoFit/>
          </a:bodyPr>
          <a:lstStyle/>
          <a:p>
            <a:pPr algn="l"/>
            <a:r>
              <a:rPr sz="2000" b="1" dirty="0">
                <a:solidFill>
                  <a:srgbClr val="FFFFFF"/>
                </a:solidFill>
                <a:latin typeface="Aptos"/>
              </a:rPr>
              <a:t>BACKEND</a:t>
            </a:r>
          </a:p>
        </p:txBody>
      </p:sp>
      <p:sp>
        <p:nvSpPr>
          <p:cNvPr id="4" name="TextBox 3"/>
          <p:cNvSpPr txBox="1"/>
          <p:nvPr/>
        </p:nvSpPr>
        <p:spPr>
          <a:xfrm>
            <a:off x="11155680" y="100584"/>
            <a:ext cx="731520" cy="228600"/>
          </a:xfrm>
          <a:prstGeom prst="rect">
            <a:avLst/>
          </a:prstGeom>
          <a:noFill/>
        </p:spPr>
        <p:txBody>
          <a:bodyPr wrap="square" lIns="64008" tIns="64008" rIns="64008" bIns="64008" anchor="t">
            <a:spAutoFit/>
          </a:bodyPr>
          <a:lstStyle/>
          <a:p>
            <a:pPr algn="r"/>
            <a:r>
              <a:rPr sz="1400" b="1">
                <a:solidFill>
                  <a:srgbClr val="F26419"/>
                </a:solidFill>
                <a:latin typeface="Aptos"/>
              </a:rPr>
              <a:t>EXL</a:t>
            </a:r>
          </a:p>
        </p:txBody>
      </p:sp>
      <p:sp>
        <p:nvSpPr>
          <p:cNvPr id="5" name="TextBox 4"/>
          <p:cNvSpPr txBox="1"/>
          <p:nvPr/>
        </p:nvSpPr>
        <p:spPr>
          <a:xfrm>
            <a:off x="384048" y="333756"/>
            <a:ext cx="9509760" cy="438912"/>
          </a:xfrm>
          <a:prstGeom prst="rect">
            <a:avLst/>
          </a:prstGeom>
          <a:noFill/>
        </p:spPr>
        <p:txBody>
          <a:bodyPr wrap="square" lIns="64008" tIns="64008" rIns="64008" bIns="64008" anchor="t">
            <a:spAutoFit/>
          </a:bodyPr>
          <a:lstStyle/>
          <a:p>
            <a:pPr algn="l"/>
            <a:r>
              <a:rPr sz="2300" b="1">
                <a:solidFill>
                  <a:srgbClr val="F26419"/>
                </a:solidFill>
                <a:latin typeface="Aptos"/>
              </a:rPr>
              <a:t>Backend understanding – Team Members API example</a:t>
            </a:r>
          </a:p>
        </p:txBody>
      </p:sp>
      <p:sp>
        <p:nvSpPr>
          <p:cNvPr id="6" name="TextBox 5"/>
          <p:cNvSpPr txBox="1"/>
          <p:nvPr/>
        </p:nvSpPr>
        <p:spPr>
          <a:xfrm>
            <a:off x="442937" y="713244"/>
            <a:ext cx="10515600" cy="292608"/>
          </a:xfrm>
          <a:prstGeom prst="rect">
            <a:avLst/>
          </a:prstGeom>
          <a:noFill/>
        </p:spPr>
        <p:txBody>
          <a:bodyPr wrap="square" lIns="64008" tIns="64008" rIns="64008" bIns="64008" anchor="t">
            <a:spAutoFit/>
          </a:bodyPr>
          <a:lstStyle/>
          <a:p>
            <a:pPr algn="l"/>
            <a:r>
              <a:rPr sz="1400" b="0" dirty="0">
                <a:solidFill>
                  <a:srgbClr val="5A5A5A"/>
                </a:solidFill>
                <a:latin typeface="Aptos"/>
              </a:rPr>
              <a:t>The team-members route demonstrates how the backend manages team membership, role changes, ownership protection and notifications.</a:t>
            </a:r>
          </a:p>
        </p:txBody>
      </p:sp>
      <p:sp>
        <p:nvSpPr>
          <p:cNvPr id="7" name="TextBox 6"/>
          <p:cNvSpPr txBox="1"/>
          <p:nvPr/>
        </p:nvSpPr>
        <p:spPr>
          <a:xfrm>
            <a:off x="502920" y="6528816"/>
            <a:ext cx="7772400" cy="201168"/>
          </a:xfrm>
          <a:prstGeom prst="rect">
            <a:avLst/>
          </a:prstGeom>
          <a:noFill/>
        </p:spPr>
        <p:txBody>
          <a:bodyPr wrap="square" lIns="64008" tIns="64008" rIns="64008" bIns="64008" anchor="t">
            <a:spAutoFit/>
          </a:bodyPr>
          <a:lstStyle/>
          <a:p>
            <a:pPr algn="l"/>
            <a:r>
              <a:rPr sz="750" b="0">
                <a:solidFill>
                  <a:srgbClr val="5A5A5A"/>
                </a:solidFill>
                <a:latin typeface="Aptos"/>
              </a:rPr>
              <a:t>EXL – Oakbridge Engagement | Our Understanding of Existing System</a:t>
            </a:r>
          </a:p>
        </p:txBody>
      </p:sp>
      <p:sp>
        <p:nvSpPr>
          <p:cNvPr id="8" name="TextBox 7"/>
          <p:cNvSpPr txBox="1"/>
          <p:nvPr/>
        </p:nvSpPr>
        <p:spPr>
          <a:xfrm>
            <a:off x="11475720" y="6528816"/>
            <a:ext cx="320040" cy="201168"/>
          </a:xfrm>
          <a:prstGeom prst="rect">
            <a:avLst/>
          </a:prstGeom>
          <a:noFill/>
        </p:spPr>
        <p:txBody>
          <a:bodyPr wrap="square" lIns="64008" tIns="64008" rIns="64008" bIns="64008" anchor="t">
            <a:spAutoFit/>
          </a:bodyPr>
          <a:lstStyle/>
          <a:p>
            <a:pPr algn="r"/>
            <a:r>
              <a:rPr sz="750" b="0">
                <a:solidFill>
                  <a:srgbClr val="5A5A5A"/>
                </a:solidFill>
                <a:latin typeface="Aptos"/>
              </a:rPr>
              <a:t>12</a:t>
            </a:r>
          </a:p>
        </p:txBody>
      </p:sp>
      <p:sp>
        <p:nvSpPr>
          <p:cNvPr id="9" name="Rectangle 8"/>
          <p:cNvSpPr/>
          <p:nvPr/>
        </p:nvSpPr>
        <p:spPr>
          <a:xfrm>
            <a:off x="502920" y="1344168"/>
            <a:ext cx="11064240" cy="22860"/>
          </a:xfrm>
          <a:prstGeom prst="rect">
            <a:avLst/>
          </a:prstGeom>
          <a:solidFill>
            <a:srgbClr val="DAE0E6"/>
          </a:solidFill>
          <a:ln>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1350932"/>
            <a:ext cx="2651760" cy="228600"/>
          </a:xfrm>
          <a:prstGeom prst="rect">
            <a:avLst/>
          </a:prstGeom>
          <a:noFill/>
        </p:spPr>
        <p:txBody>
          <a:bodyPr wrap="square" lIns="64008" tIns="64008" rIns="64008" bIns="64008" anchor="t">
            <a:spAutoFit/>
          </a:bodyPr>
          <a:lstStyle/>
          <a:p>
            <a:pPr algn="l"/>
            <a:r>
              <a:rPr sz="1400" b="1" dirty="0">
                <a:solidFill>
                  <a:srgbClr val="21324A"/>
                </a:solidFill>
                <a:latin typeface="Aptos"/>
              </a:rPr>
              <a:t>GET /</a:t>
            </a:r>
            <a:r>
              <a:rPr sz="1400" b="1" dirty="0" err="1">
                <a:solidFill>
                  <a:srgbClr val="21324A"/>
                </a:solidFill>
                <a:latin typeface="Aptos"/>
              </a:rPr>
              <a:t>api</a:t>
            </a:r>
            <a:r>
              <a:rPr sz="1400" b="1" dirty="0">
                <a:solidFill>
                  <a:srgbClr val="21324A"/>
                </a:solidFill>
                <a:latin typeface="Aptos"/>
              </a:rPr>
              <a:t>/team-members</a:t>
            </a:r>
          </a:p>
        </p:txBody>
      </p:sp>
      <p:sp>
        <p:nvSpPr>
          <p:cNvPr id="11" name="Rounded Rectangle 10"/>
          <p:cNvSpPr/>
          <p:nvPr/>
        </p:nvSpPr>
        <p:spPr>
          <a:xfrm>
            <a:off x="685800" y="1668773"/>
            <a:ext cx="3470800" cy="1910045"/>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85800" y="1920240"/>
            <a:ext cx="73152" cy="1051560"/>
          </a:xfrm>
          <a:prstGeom prst="rect">
            <a:avLst/>
          </a:prstGeom>
          <a:solidFill>
            <a:srgbClr val="1F609A"/>
          </a:solidFill>
          <a:ln>
            <a:solidFill>
              <a:srgbClr val="1F60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68680" y="1714500"/>
            <a:ext cx="3063240" cy="320040"/>
          </a:xfrm>
          <a:prstGeom prst="rect">
            <a:avLst/>
          </a:prstGeom>
          <a:noFill/>
        </p:spPr>
        <p:txBody>
          <a:bodyPr wrap="square" lIns="64008" tIns="64008" rIns="64008" bIns="64008" anchor="t">
            <a:spAutoFit/>
          </a:bodyPr>
          <a:lstStyle/>
          <a:p>
            <a:pPr algn="l"/>
            <a:r>
              <a:rPr sz="1400" b="1" dirty="0">
                <a:solidFill>
                  <a:srgbClr val="21324A"/>
                </a:solidFill>
                <a:latin typeface="Aptos"/>
              </a:rPr>
              <a:t>Read members</a:t>
            </a:r>
          </a:p>
        </p:txBody>
      </p:sp>
      <p:sp>
        <p:nvSpPr>
          <p:cNvPr id="14" name="TextBox 13"/>
          <p:cNvSpPr txBox="1"/>
          <p:nvPr/>
        </p:nvSpPr>
        <p:spPr>
          <a:xfrm>
            <a:off x="790956" y="1932190"/>
            <a:ext cx="2963962" cy="1421928"/>
          </a:xfrm>
          <a:prstGeom prst="rect">
            <a:avLst/>
          </a:prstGeom>
          <a:noFill/>
        </p:spPr>
        <p:txBody>
          <a:bodyPr wrap="square" lIns="64008" tIns="64008" rIns="64008" bIns="64008" anchor="t">
            <a:spAutoFit/>
          </a:bodyPr>
          <a:lstStyle/>
          <a:p>
            <a:pPr algn="l"/>
            <a:endParaRPr lang="en-US" sz="1400" b="0" dirty="0">
              <a:solidFill>
                <a:srgbClr val="1E1E1E"/>
              </a:solidFill>
              <a:latin typeface="Aptos"/>
            </a:endParaRPr>
          </a:p>
          <a:p>
            <a:pPr algn="l"/>
            <a:r>
              <a:rPr sz="1400" b="0" dirty="0">
                <a:solidFill>
                  <a:srgbClr val="1E1E1E"/>
                </a:solidFill>
                <a:latin typeface="Aptos"/>
              </a:rPr>
              <a:t>Reads team members by </a:t>
            </a:r>
            <a:r>
              <a:rPr sz="1400" b="0" dirty="0" err="1">
                <a:solidFill>
                  <a:srgbClr val="1E1E1E"/>
                </a:solidFill>
                <a:latin typeface="Aptos"/>
              </a:rPr>
              <a:t>userId</a:t>
            </a:r>
            <a:r>
              <a:rPr sz="1400" b="0" dirty="0">
                <a:solidFill>
                  <a:srgbClr val="1E1E1E"/>
                </a:solidFill>
                <a:latin typeface="Aptos"/>
              </a:rPr>
              <a:t> or </a:t>
            </a:r>
            <a:r>
              <a:rPr sz="1400" b="0" dirty="0" err="1">
                <a:solidFill>
                  <a:srgbClr val="1E1E1E"/>
                </a:solidFill>
                <a:latin typeface="Aptos"/>
              </a:rPr>
              <a:t>teamId</a:t>
            </a:r>
            <a:r>
              <a:rPr sz="1400" b="0" dirty="0">
                <a:solidFill>
                  <a:srgbClr val="1E1E1E"/>
                </a:solidFill>
                <a:latin typeface="Aptos"/>
              </a:rPr>
              <a:t>. It joins </a:t>
            </a:r>
            <a:r>
              <a:rPr sz="1400" b="0" dirty="0" err="1">
                <a:solidFill>
                  <a:srgbClr val="1E1E1E"/>
                </a:solidFill>
                <a:latin typeface="Aptos"/>
              </a:rPr>
              <a:t>user_profiles</a:t>
            </a:r>
            <a:r>
              <a:rPr sz="1400" b="0" dirty="0">
                <a:solidFill>
                  <a:srgbClr val="1E1E1E"/>
                </a:solidFill>
                <a:latin typeface="Aptos"/>
              </a:rPr>
              <a:t> where possible and uses a fallback query if the join does not return expected data.</a:t>
            </a:r>
          </a:p>
        </p:txBody>
      </p:sp>
      <p:sp>
        <p:nvSpPr>
          <p:cNvPr id="15" name="TextBox 14"/>
          <p:cNvSpPr txBox="1"/>
          <p:nvPr/>
        </p:nvSpPr>
        <p:spPr>
          <a:xfrm>
            <a:off x="4343400" y="1361078"/>
            <a:ext cx="2834640" cy="228600"/>
          </a:xfrm>
          <a:prstGeom prst="rect">
            <a:avLst/>
          </a:prstGeom>
          <a:noFill/>
        </p:spPr>
        <p:txBody>
          <a:bodyPr wrap="square" lIns="64008" tIns="64008" rIns="64008" bIns="64008" anchor="t">
            <a:spAutoFit/>
          </a:bodyPr>
          <a:lstStyle/>
          <a:p>
            <a:pPr algn="l"/>
            <a:r>
              <a:rPr sz="1400" b="1" dirty="0">
                <a:solidFill>
                  <a:srgbClr val="21324A"/>
                </a:solidFill>
                <a:latin typeface="Aptos"/>
              </a:rPr>
              <a:t>POST /</a:t>
            </a:r>
            <a:r>
              <a:rPr sz="1400" b="1" dirty="0" err="1">
                <a:solidFill>
                  <a:srgbClr val="21324A"/>
                </a:solidFill>
                <a:latin typeface="Aptos"/>
              </a:rPr>
              <a:t>api</a:t>
            </a:r>
            <a:r>
              <a:rPr sz="1400" b="1" dirty="0">
                <a:solidFill>
                  <a:srgbClr val="21324A"/>
                </a:solidFill>
                <a:latin typeface="Aptos"/>
              </a:rPr>
              <a:t>/team-members</a:t>
            </a:r>
          </a:p>
        </p:txBody>
      </p:sp>
      <p:sp>
        <p:nvSpPr>
          <p:cNvPr id="16" name="Rounded Rectangle 15"/>
          <p:cNvSpPr/>
          <p:nvPr/>
        </p:nvSpPr>
        <p:spPr>
          <a:xfrm>
            <a:off x="4389120" y="1668773"/>
            <a:ext cx="3383280" cy="1838685"/>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389120" y="1920240"/>
            <a:ext cx="73152" cy="1051560"/>
          </a:xfrm>
          <a:prstGeom prst="rect">
            <a:avLst/>
          </a:prstGeom>
          <a:solidFill>
            <a:srgbClr val="0097A7"/>
          </a:solidFill>
          <a:ln>
            <a:solidFill>
              <a:srgbClr val="009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503419" y="1691640"/>
            <a:ext cx="3063240" cy="320040"/>
          </a:xfrm>
          <a:prstGeom prst="rect">
            <a:avLst/>
          </a:prstGeom>
          <a:noFill/>
        </p:spPr>
        <p:txBody>
          <a:bodyPr wrap="square" lIns="64008" tIns="64008" rIns="64008" bIns="64008" anchor="t">
            <a:spAutoFit/>
          </a:bodyPr>
          <a:lstStyle/>
          <a:p>
            <a:pPr algn="l"/>
            <a:r>
              <a:rPr sz="1400" b="1" dirty="0">
                <a:solidFill>
                  <a:srgbClr val="21324A"/>
                </a:solidFill>
                <a:latin typeface="Aptos"/>
              </a:rPr>
              <a:t>Add/update member</a:t>
            </a:r>
          </a:p>
        </p:txBody>
      </p:sp>
      <p:sp>
        <p:nvSpPr>
          <p:cNvPr id="19" name="TextBox 18"/>
          <p:cNvSpPr txBox="1"/>
          <p:nvPr/>
        </p:nvSpPr>
        <p:spPr>
          <a:xfrm>
            <a:off x="4564227" y="2219133"/>
            <a:ext cx="3063240" cy="457199"/>
          </a:xfrm>
          <a:prstGeom prst="rect">
            <a:avLst/>
          </a:prstGeom>
          <a:noFill/>
        </p:spPr>
        <p:txBody>
          <a:bodyPr wrap="square" lIns="64008" tIns="64008" rIns="64008" bIns="64008" anchor="t">
            <a:spAutoFit/>
          </a:bodyPr>
          <a:lstStyle/>
          <a:p>
            <a:pPr algn="l"/>
            <a:r>
              <a:rPr sz="1400" b="0" dirty="0">
                <a:solidFill>
                  <a:srgbClr val="1E1E1E"/>
                </a:solidFill>
                <a:latin typeface="Aptos"/>
              </a:rPr>
              <a:t>Requires authentication, calls </a:t>
            </a:r>
            <a:r>
              <a:rPr sz="1400" b="0" dirty="0" err="1">
                <a:solidFill>
                  <a:srgbClr val="1E1E1E"/>
                </a:solidFill>
                <a:latin typeface="Aptos"/>
              </a:rPr>
              <a:t>add_team_member</a:t>
            </a:r>
            <a:r>
              <a:rPr sz="1400" b="0" dirty="0">
                <a:solidFill>
                  <a:srgbClr val="1E1E1E"/>
                </a:solidFill>
                <a:latin typeface="Aptos"/>
              </a:rPr>
              <a:t> RPC, handles permission errors, detects role updates and sends role/member notifications.</a:t>
            </a:r>
          </a:p>
        </p:txBody>
      </p:sp>
      <p:sp>
        <p:nvSpPr>
          <p:cNvPr id="20" name="TextBox 19"/>
          <p:cNvSpPr txBox="1"/>
          <p:nvPr/>
        </p:nvSpPr>
        <p:spPr>
          <a:xfrm>
            <a:off x="8032457" y="1389318"/>
            <a:ext cx="2926080" cy="228600"/>
          </a:xfrm>
          <a:prstGeom prst="rect">
            <a:avLst/>
          </a:prstGeom>
          <a:noFill/>
        </p:spPr>
        <p:txBody>
          <a:bodyPr wrap="square" lIns="64008" tIns="64008" rIns="64008" bIns="64008" anchor="t">
            <a:spAutoFit/>
          </a:bodyPr>
          <a:lstStyle/>
          <a:p>
            <a:pPr algn="l"/>
            <a:r>
              <a:rPr sz="1400" b="1">
                <a:solidFill>
                  <a:srgbClr val="21324A"/>
                </a:solidFill>
                <a:latin typeface="Aptos"/>
              </a:rPr>
              <a:t>DELETE /api/team-members</a:t>
            </a:r>
          </a:p>
        </p:txBody>
      </p:sp>
      <p:sp>
        <p:nvSpPr>
          <p:cNvPr id="21" name="Rounded Rectangle 20"/>
          <p:cNvSpPr/>
          <p:nvPr/>
        </p:nvSpPr>
        <p:spPr>
          <a:xfrm>
            <a:off x="8092440" y="1714500"/>
            <a:ext cx="3383280" cy="1755654"/>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092440" y="1920240"/>
            <a:ext cx="73152" cy="1051560"/>
          </a:xfrm>
          <a:prstGeom prst="rect">
            <a:avLst/>
          </a:prstGeom>
          <a:solidFill>
            <a:srgbClr val="F26419"/>
          </a:solidFill>
          <a:ln>
            <a:solidFill>
              <a:srgbClr val="F2641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10658" y="1751373"/>
            <a:ext cx="3063240" cy="320040"/>
          </a:xfrm>
          <a:prstGeom prst="rect">
            <a:avLst/>
          </a:prstGeom>
          <a:noFill/>
        </p:spPr>
        <p:txBody>
          <a:bodyPr wrap="square" lIns="64008" tIns="64008" rIns="64008" bIns="64008" anchor="t">
            <a:spAutoFit/>
          </a:bodyPr>
          <a:lstStyle/>
          <a:p>
            <a:pPr algn="l"/>
            <a:r>
              <a:rPr sz="1400" b="1">
                <a:solidFill>
                  <a:srgbClr val="21324A"/>
                </a:solidFill>
                <a:latin typeface="Aptos"/>
              </a:rPr>
              <a:t>Remove member</a:t>
            </a:r>
          </a:p>
        </p:txBody>
      </p:sp>
      <p:sp>
        <p:nvSpPr>
          <p:cNvPr id="24" name="TextBox 23"/>
          <p:cNvSpPr txBox="1"/>
          <p:nvPr/>
        </p:nvSpPr>
        <p:spPr>
          <a:xfrm>
            <a:off x="8203921" y="2208573"/>
            <a:ext cx="3063240" cy="457199"/>
          </a:xfrm>
          <a:prstGeom prst="rect">
            <a:avLst/>
          </a:prstGeom>
          <a:noFill/>
        </p:spPr>
        <p:txBody>
          <a:bodyPr wrap="square" lIns="64008" tIns="64008" rIns="64008" bIns="64008" anchor="t">
            <a:spAutoFit/>
          </a:bodyPr>
          <a:lstStyle/>
          <a:p>
            <a:pPr algn="l"/>
            <a:r>
              <a:rPr sz="1400" b="0" dirty="0">
                <a:solidFill>
                  <a:srgbClr val="1E1E1E"/>
                </a:solidFill>
                <a:latin typeface="Aptos"/>
              </a:rPr>
              <a:t>Allows self-remove or Team Owner/Admin removal. Before deleting, it checks whether the member owns active items or non-archived goals.</a:t>
            </a:r>
          </a:p>
        </p:txBody>
      </p:sp>
      <p:sp>
        <p:nvSpPr>
          <p:cNvPr id="25" name="Rounded Rectangle 24"/>
          <p:cNvSpPr/>
          <p:nvPr/>
        </p:nvSpPr>
        <p:spPr>
          <a:xfrm>
            <a:off x="822960" y="3890783"/>
            <a:ext cx="1395113" cy="548640"/>
          </a:xfrm>
          <a:prstGeom prst="roundRect">
            <a:avLst/>
          </a:prstGeom>
          <a:solidFill>
            <a:srgbClr val="F26419"/>
          </a:solidFill>
          <a:ln>
            <a:solidFill>
              <a:srgbClr val="F26419"/>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800" b="1">
                <a:solidFill>
                  <a:srgbClr val="FFFFFF"/>
                </a:solidFill>
              </a:defRPr>
            </a:pPr>
            <a:r>
              <a:rPr sz="1400" dirty="0"/>
              <a:t>Request</a:t>
            </a:r>
          </a:p>
        </p:txBody>
      </p:sp>
      <p:cxnSp>
        <p:nvCxnSpPr>
          <p:cNvPr id="26" name="Connector 25"/>
          <p:cNvCxnSpPr/>
          <p:nvPr/>
        </p:nvCxnSpPr>
        <p:spPr>
          <a:xfrm>
            <a:off x="2226112" y="4178092"/>
            <a:ext cx="109728" cy="0"/>
          </a:xfrm>
          <a:prstGeom prst="line">
            <a:avLst/>
          </a:prstGeom>
          <a:ln w="19050">
            <a:solidFill>
              <a:srgbClr val="F26419"/>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2315667" y="3913638"/>
            <a:ext cx="1395113" cy="548640"/>
          </a:xfrm>
          <a:prstGeom prst="roundRect">
            <a:avLst/>
          </a:prstGeom>
          <a:solidFill>
            <a:srgbClr val="1F609A"/>
          </a:solidFill>
          <a:ln>
            <a:solidFill>
              <a:srgbClr val="1F609A"/>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800" b="1">
                <a:solidFill>
                  <a:srgbClr val="FFFFFF"/>
                </a:solidFill>
              </a:defRPr>
            </a:pPr>
            <a:r>
              <a:rPr sz="1400"/>
              <a:t>Auth</a:t>
            </a:r>
          </a:p>
        </p:txBody>
      </p:sp>
      <p:cxnSp>
        <p:nvCxnSpPr>
          <p:cNvPr id="28" name="Connector 27"/>
          <p:cNvCxnSpPr/>
          <p:nvPr/>
        </p:nvCxnSpPr>
        <p:spPr>
          <a:xfrm>
            <a:off x="3711559" y="4209744"/>
            <a:ext cx="109728" cy="0"/>
          </a:xfrm>
          <a:prstGeom prst="line">
            <a:avLst/>
          </a:prstGeom>
          <a:ln w="19050">
            <a:solidFill>
              <a:srgbClr val="F26419"/>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3784912" y="3903772"/>
            <a:ext cx="1395113" cy="548640"/>
          </a:xfrm>
          <a:prstGeom prst="roundRect">
            <a:avLst/>
          </a:prstGeom>
          <a:solidFill>
            <a:srgbClr val="1F609A"/>
          </a:solidFill>
          <a:ln>
            <a:solidFill>
              <a:srgbClr val="1F609A"/>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800" b="1">
                <a:solidFill>
                  <a:srgbClr val="FFFFFF"/>
                </a:solidFill>
              </a:defRPr>
            </a:pPr>
            <a:r>
              <a:rPr sz="1400"/>
              <a:t>Role Check</a:t>
            </a:r>
          </a:p>
        </p:txBody>
      </p:sp>
      <p:cxnSp>
        <p:nvCxnSpPr>
          <p:cNvPr id="30" name="Connector 29"/>
          <p:cNvCxnSpPr/>
          <p:nvPr/>
        </p:nvCxnSpPr>
        <p:spPr>
          <a:xfrm>
            <a:off x="5180125" y="4165103"/>
            <a:ext cx="109728" cy="0"/>
          </a:xfrm>
          <a:prstGeom prst="line">
            <a:avLst/>
          </a:prstGeom>
          <a:ln w="19050">
            <a:solidFill>
              <a:srgbClr val="F26419"/>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5253378" y="3864064"/>
            <a:ext cx="1395113" cy="548640"/>
          </a:xfrm>
          <a:prstGeom prst="roundRect">
            <a:avLst/>
          </a:prstGeom>
          <a:solidFill>
            <a:srgbClr val="724BA8"/>
          </a:solidFill>
          <a:ln>
            <a:solidFill>
              <a:srgbClr val="724BA8"/>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800" b="1">
                <a:solidFill>
                  <a:srgbClr val="FFFFFF"/>
                </a:solidFill>
              </a:defRPr>
            </a:pPr>
            <a:r>
              <a:rPr sz="1400"/>
              <a:t>Ownership Check</a:t>
            </a:r>
          </a:p>
        </p:txBody>
      </p:sp>
      <p:cxnSp>
        <p:nvCxnSpPr>
          <p:cNvPr id="32" name="Connector 31"/>
          <p:cNvCxnSpPr/>
          <p:nvPr/>
        </p:nvCxnSpPr>
        <p:spPr>
          <a:xfrm>
            <a:off x="6648491" y="4138384"/>
            <a:ext cx="109728" cy="0"/>
          </a:xfrm>
          <a:prstGeom prst="line">
            <a:avLst/>
          </a:prstGeom>
          <a:ln w="19050">
            <a:solidFill>
              <a:srgbClr val="F26419"/>
            </a:solidFill>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6733903" y="3835918"/>
            <a:ext cx="1395113" cy="548640"/>
          </a:xfrm>
          <a:prstGeom prst="roundRect">
            <a:avLst/>
          </a:prstGeom>
          <a:solidFill>
            <a:srgbClr val="0097A7"/>
          </a:solidFill>
          <a:ln>
            <a:solidFill>
              <a:srgbClr val="0097A7"/>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800" b="1">
                <a:solidFill>
                  <a:srgbClr val="FFFFFF"/>
                </a:solidFill>
              </a:defRPr>
            </a:pPr>
            <a:r>
              <a:rPr sz="1400"/>
              <a:t>Supabase/RPC</a:t>
            </a:r>
          </a:p>
        </p:txBody>
      </p:sp>
      <p:cxnSp>
        <p:nvCxnSpPr>
          <p:cNvPr id="34" name="Connector 33"/>
          <p:cNvCxnSpPr/>
          <p:nvPr/>
        </p:nvCxnSpPr>
        <p:spPr>
          <a:xfrm>
            <a:off x="8129016" y="4110238"/>
            <a:ext cx="109728" cy="0"/>
          </a:xfrm>
          <a:prstGeom prst="line">
            <a:avLst/>
          </a:prstGeom>
          <a:ln w="19050">
            <a:solidFill>
              <a:srgbClr val="F26419"/>
            </a:solidFill>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8203921" y="3794760"/>
            <a:ext cx="1395113" cy="548640"/>
          </a:xfrm>
          <a:prstGeom prst="roundRect">
            <a:avLst/>
          </a:prstGeom>
          <a:solidFill>
            <a:srgbClr val="3A9D58"/>
          </a:solidFill>
          <a:ln>
            <a:solidFill>
              <a:srgbClr val="3A9D58"/>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800" b="1">
                <a:solidFill>
                  <a:srgbClr val="FFFFFF"/>
                </a:solidFill>
              </a:defRPr>
            </a:pPr>
            <a:r>
              <a:rPr sz="1400"/>
              <a:t>Notification</a:t>
            </a:r>
          </a:p>
        </p:txBody>
      </p:sp>
      <p:cxnSp>
        <p:nvCxnSpPr>
          <p:cNvPr id="36" name="Connector 35"/>
          <p:cNvCxnSpPr/>
          <p:nvPr/>
        </p:nvCxnSpPr>
        <p:spPr>
          <a:xfrm>
            <a:off x="9599034" y="4058529"/>
            <a:ext cx="109728" cy="0"/>
          </a:xfrm>
          <a:prstGeom prst="line">
            <a:avLst/>
          </a:prstGeom>
          <a:ln w="19050">
            <a:solidFill>
              <a:srgbClr val="F26419"/>
            </a:solidFill>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653898" y="3794760"/>
            <a:ext cx="1395113" cy="548640"/>
          </a:xfrm>
          <a:prstGeom prst="roundRect">
            <a:avLst/>
          </a:prstGeom>
          <a:solidFill>
            <a:srgbClr val="21324A"/>
          </a:solidFill>
          <a:ln>
            <a:solidFill>
              <a:srgbClr val="21324A"/>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800" b="1">
                <a:solidFill>
                  <a:srgbClr val="FFFFFF"/>
                </a:solidFill>
              </a:defRPr>
            </a:pPr>
            <a:r>
              <a:rPr sz="1400" dirty="0"/>
              <a:t>Response</a:t>
            </a:r>
          </a:p>
        </p:txBody>
      </p:sp>
      <p:sp>
        <p:nvSpPr>
          <p:cNvPr id="38" name="Rounded Rectangle 37"/>
          <p:cNvSpPr/>
          <p:nvPr/>
        </p:nvSpPr>
        <p:spPr>
          <a:xfrm>
            <a:off x="685800" y="4709159"/>
            <a:ext cx="5074920" cy="1545325"/>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685800" y="4709160"/>
            <a:ext cx="73152" cy="1005840"/>
          </a:xfrm>
          <a:prstGeom prst="rect">
            <a:avLst/>
          </a:prstGeom>
          <a:solidFill>
            <a:srgbClr val="F26419"/>
          </a:solidFill>
          <a:ln>
            <a:solidFill>
              <a:srgbClr val="F2641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68680" y="4828032"/>
            <a:ext cx="4754879" cy="320040"/>
          </a:xfrm>
          <a:prstGeom prst="rect">
            <a:avLst/>
          </a:prstGeom>
          <a:noFill/>
        </p:spPr>
        <p:txBody>
          <a:bodyPr wrap="square" lIns="64008" tIns="64008" rIns="64008" bIns="64008" anchor="t">
            <a:spAutoFit/>
          </a:bodyPr>
          <a:lstStyle/>
          <a:p>
            <a:pPr algn="l"/>
            <a:r>
              <a:rPr sz="1400" b="1">
                <a:solidFill>
                  <a:srgbClr val="21324A"/>
                </a:solidFill>
                <a:latin typeface="Aptos"/>
              </a:rPr>
              <a:t>Business implication</a:t>
            </a:r>
          </a:p>
        </p:txBody>
      </p:sp>
      <p:sp>
        <p:nvSpPr>
          <p:cNvPr id="41" name="TextBox 40"/>
          <p:cNvSpPr txBox="1"/>
          <p:nvPr/>
        </p:nvSpPr>
        <p:spPr>
          <a:xfrm>
            <a:off x="868680" y="5212080"/>
            <a:ext cx="4754880" cy="411480"/>
          </a:xfrm>
          <a:prstGeom prst="rect">
            <a:avLst/>
          </a:prstGeom>
          <a:noFill/>
        </p:spPr>
        <p:txBody>
          <a:bodyPr wrap="square" lIns="64008" tIns="64008" rIns="64008" bIns="64008" anchor="t">
            <a:spAutoFit/>
          </a:bodyPr>
          <a:lstStyle/>
          <a:p>
            <a:pPr algn="l"/>
            <a:r>
              <a:rPr sz="1400" b="0">
                <a:solidFill>
                  <a:srgbClr val="1E1E1E"/>
                </a:solidFill>
                <a:latin typeface="Aptos"/>
              </a:rPr>
              <a:t>The API protects the organization from accidental data ownership loss. For example, a team member cannot be removed until active items/goals owned by that user are transferred or resolved.</a:t>
            </a:r>
          </a:p>
        </p:txBody>
      </p:sp>
      <p:sp>
        <p:nvSpPr>
          <p:cNvPr id="42" name="Rounded Rectangle 41"/>
          <p:cNvSpPr/>
          <p:nvPr/>
        </p:nvSpPr>
        <p:spPr>
          <a:xfrm>
            <a:off x="6126480" y="4709159"/>
            <a:ext cx="5440680" cy="1545325"/>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6126480" y="4709160"/>
            <a:ext cx="73152" cy="1005840"/>
          </a:xfrm>
          <a:prstGeom prst="rect">
            <a:avLst/>
          </a:prstGeom>
          <a:solidFill>
            <a:srgbClr val="1F609A"/>
          </a:solidFill>
          <a:ln>
            <a:solidFill>
              <a:srgbClr val="1F60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309360" y="4828032"/>
            <a:ext cx="5029199" cy="320040"/>
          </a:xfrm>
          <a:prstGeom prst="rect">
            <a:avLst/>
          </a:prstGeom>
          <a:noFill/>
        </p:spPr>
        <p:txBody>
          <a:bodyPr wrap="square" lIns="64008" tIns="64008" rIns="64008" bIns="64008" anchor="t">
            <a:spAutoFit/>
          </a:bodyPr>
          <a:lstStyle/>
          <a:p>
            <a:pPr algn="l"/>
            <a:r>
              <a:rPr sz="1400" b="1">
                <a:solidFill>
                  <a:srgbClr val="21324A"/>
                </a:solidFill>
                <a:latin typeface="Aptos"/>
              </a:rPr>
              <a:t>Testing implication</a:t>
            </a:r>
          </a:p>
        </p:txBody>
      </p:sp>
      <p:sp>
        <p:nvSpPr>
          <p:cNvPr id="45" name="TextBox 44"/>
          <p:cNvSpPr txBox="1"/>
          <p:nvPr/>
        </p:nvSpPr>
        <p:spPr>
          <a:xfrm>
            <a:off x="6309360" y="5212080"/>
            <a:ext cx="5029200" cy="411480"/>
          </a:xfrm>
          <a:prstGeom prst="rect">
            <a:avLst/>
          </a:prstGeom>
          <a:noFill/>
        </p:spPr>
        <p:txBody>
          <a:bodyPr wrap="square" lIns="64008" tIns="64008" rIns="64008" bIns="64008" anchor="t">
            <a:spAutoFit/>
          </a:bodyPr>
          <a:lstStyle/>
          <a:p>
            <a:pPr algn="l"/>
            <a:r>
              <a:rPr sz="1400" b="0" dirty="0">
                <a:solidFill>
                  <a:srgbClr val="1E1E1E"/>
                </a:solidFill>
                <a:latin typeface="Aptos"/>
              </a:rPr>
              <a:t>When testing team membership, we should validate: add member, change role, remove self, admin remove, unauthorized remove and ownership-transfer-required scenarios.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420624"/>
          </a:xfrm>
          <a:prstGeom prst="rect">
            <a:avLst/>
          </a:prstGeom>
          <a:solidFill>
            <a:srgbClr val="21324A"/>
          </a:solidFill>
          <a:ln>
            <a:solidFill>
              <a:srgbClr val="21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34818"/>
            <a:ext cx="2377440" cy="437043"/>
          </a:xfrm>
          <a:prstGeom prst="rect">
            <a:avLst/>
          </a:prstGeom>
          <a:noFill/>
        </p:spPr>
        <p:txBody>
          <a:bodyPr wrap="square" lIns="64008" tIns="64008" rIns="64008" bIns="64008" anchor="t">
            <a:spAutoFit/>
          </a:bodyPr>
          <a:lstStyle/>
          <a:p>
            <a:pPr algn="l"/>
            <a:r>
              <a:rPr sz="2000" b="1" dirty="0">
                <a:solidFill>
                  <a:srgbClr val="FFFFFF"/>
                </a:solidFill>
                <a:latin typeface="Aptos"/>
              </a:rPr>
              <a:t>SECURITY</a:t>
            </a:r>
          </a:p>
        </p:txBody>
      </p:sp>
      <p:sp>
        <p:nvSpPr>
          <p:cNvPr id="4" name="TextBox 3"/>
          <p:cNvSpPr txBox="1"/>
          <p:nvPr/>
        </p:nvSpPr>
        <p:spPr>
          <a:xfrm>
            <a:off x="11155680" y="100584"/>
            <a:ext cx="731520" cy="228600"/>
          </a:xfrm>
          <a:prstGeom prst="rect">
            <a:avLst/>
          </a:prstGeom>
          <a:noFill/>
        </p:spPr>
        <p:txBody>
          <a:bodyPr wrap="square" lIns="64008" tIns="64008" rIns="64008" bIns="64008" anchor="t">
            <a:spAutoFit/>
          </a:bodyPr>
          <a:lstStyle/>
          <a:p>
            <a:pPr algn="r"/>
            <a:r>
              <a:rPr sz="1400" b="1">
                <a:solidFill>
                  <a:srgbClr val="F26419"/>
                </a:solidFill>
                <a:latin typeface="Aptos"/>
              </a:rPr>
              <a:t>EXL</a:t>
            </a:r>
          </a:p>
        </p:txBody>
      </p:sp>
      <p:sp>
        <p:nvSpPr>
          <p:cNvPr id="5" name="TextBox 4"/>
          <p:cNvSpPr txBox="1"/>
          <p:nvPr/>
        </p:nvSpPr>
        <p:spPr>
          <a:xfrm>
            <a:off x="466343" y="395478"/>
            <a:ext cx="9509760" cy="438912"/>
          </a:xfrm>
          <a:prstGeom prst="rect">
            <a:avLst/>
          </a:prstGeom>
          <a:noFill/>
        </p:spPr>
        <p:txBody>
          <a:bodyPr wrap="square" lIns="64008" tIns="64008" rIns="64008" bIns="64008" anchor="t">
            <a:spAutoFit/>
          </a:bodyPr>
          <a:lstStyle/>
          <a:p>
            <a:pPr algn="l"/>
            <a:r>
              <a:rPr sz="2300" b="1" dirty="0">
                <a:solidFill>
                  <a:srgbClr val="F26419"/>
                </a:solidFill>
                <a:latin typeface="Aptos"/>
              </a:rPr>
              <a:t>Security and permission model</a:t>
            </a:r>
          </a:p>
        </p:txBody>
      </p:sp>
      <p:sp>
        <p:nvSpPr>
          <p:cNvPr id="6" name="TextBox 5"/>
          <p:cNvSpPr txBox="1"/>
          <p:nvPr/>
        </p:nvSpPr>
        <p:spPr>
          <a:xfrm>
            <a:off x="521207" y="1024128"/>
            <a:ext cx="10515600" cy="292608"/>
          </a:xfrm>
          <a:prstGeom prst="rect">
            <a:avLst/>
          </a:prstGeom>
          <a:noFill/>
        </p:spPr>
        <p:txBody>
          <a:bodyPr wrap="square" lIns="64008" tIns="64008" rIns="64008" bIns="64008" anchor="t">
            <a:spAutoFit/>
          </a:bodyPr>
          <a:lstStyle/>
          <a:p>
            <a:pPr algn="l"/>
            <a:r>
              <a:rPr sz="1400" b="0" dirty="0">
                <a:solidFill>
                  <a:srgbClr val="5A5A5A"/>
                </a:solidFill>
                <a:latin typeface="Aptos"/>
              </a:rPr>
              <a:t>Security is implemented through multiple layers so that frontend visibility and backend enforcement remain aligned.</a:t>
            </a:r>
          </a:p>
        </p:txBody>
      </p:sp>
      <p:sp>
        <p:nvSpPr>
          <p:cNvPr id="7" name="TextBox 6"/>
          <p:cNvSpPr txBox="1"/>
          <p:nvPr/>
        </p:nvSpPr>
        <p:spPr>
          <a:xfrm>
            <a:off x="502920" y="6528816"/>
            <a:ext cx="7772400" cy="201168"/>
          </a:xfrm>
          <a:prstGeom prst="rect">
            <a:avLst/>
          </a:prstGeom>
          <a:noFill/>
        </p:spPr>
        <p:txBody>
          <a:bodyPr wrap="square" lIns="64008" tIns="64008" rIns="64008" bIns="64008" anchor="t">
            <a:spAutoFit/>
          </a:bodyPr>
          <a:lstStyle/>
          <a:p>
            <a:pPr algn="l"/>
            <a:r>
              <a:rPr sz="750" b="0">
                <a:solidFill>
                  <a:srgbClr val="5A5A5A"/>
                </a:solidFill>
                <a:latin typeface="Aptos"/>
              </a:rPr>
              <a:t>EXL – Oakbridge Engagement | Our Understanding of Existing System</a:t>
            </a:r>
          </a:p>
        </p:txBody>
      </p:sp>
      <p:sp>
        <p:nvSpPr>
          <p:cNvPr id="8" name="TextBox 7"/>
          <p:cNvSpPr txBox="1"/>
          <p:nvPr/>
        </p:nvSpPr>
        <p:spPr>
          <a:xfrm>
            <a:off x="11475720" y="6528816"/>
            <a:ext cx="320040" cy="201168"/>
          </a:xfrm>
          <a:prstGeom prst="rect">
            <a:avLst/>
          </a:prstGeom>
          <a:noFill/>
        </p:spPr>
        <p:txBody>
          <a:bodyPr wrap="square" lIns="64008" tIns="64008" rIns="64008" bIns="64008" anchor="t">
            <a:spAutoFit/>
          </a:bodyPr>
          <a:lstStyle/>
          <a:p>
            <a:pPr algn="r"/>
            <a:r>
              <a:rPr sz="750" b="0">
                <a:solidFill>
                  <a:srgbClr val="5A5A5A"/>
                </a:solidFill>
                <a:latin typeface="Aptos"/>
              </a:rPr>
              <a:t>13</a:t>
            </a:r>
          </a:p>
        </p:txBody>
      </p:sp>
      <p:sp>
        <p:nvSpPr>
          <p:cNvPr id="9" name="Rectangle 8"/>
          <p:cNvSpPr/>
          <p:nvPr/>
        </p:nvSpPr>
        <p:spPr>
          <a:xfrm>
            <a:off x="502920" y="1344168"/>
            <a:ext cx="11064240" cy="22860"/>
          </a:xfrm>
          <a:prstGeom prst="rect">
            <a:avLst/>
          </a:prstGeom>
          <a:solidFill>
            <a:srgbClr val="DAE0E6"/>
          </a:solidFill>
          <a:ln>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40080" y="1691640"/>
            <a:ext cx="3429000" cy="1024128"/>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40080" y="1691640"/>
            <a:ext cx="73152" cy="1024128"/>
          </a:xfrm>
          <a:prstGeom prst="rect">
            <a:avLst/>
          </a:prstGeom>
          <a:solidFill>
            <a:srgbClr val="F26419"/>
          </a:solidFill>
          <a:ln>
            <a:solidFill>
              <a:srgbClr val="F2641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04671" y="1856232"/>
            <a:ext cx="329184" cy="329184"/>
          </a:xfrm>
          <a:prstGeom prst="ellipse">
            <a:avLst/>
          </a:prstGeom>
          <a:solidFill>
            <a:srgbClr val="F26419"/>
          </a:solidFill>
          <a:ln>
            <a:solidFill>
              <a:srgbClr val="F2641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04671" y="1915668"/>
            <a:ext cx="329184" cy="109728"/>
          </a:xfrm>
          <a:prstGeom prst="rect">
            <a:avLst/>
          </a:prstGeom>
          <a:noFill/>
        </p:spPr>
        <p:txBody>
          <a:bodyPr wrap="square" lIns="64008" tIns="64008" rIns="64008" bIns="64008" anchor="t">
            <a:spAutoFit/>
          </a:bodyPr>
          <a:lstStyle/>
          <a:p>
            <a:pPr algn="ctr"/>
            <a:r>
              <a:rPr sz="1400" b="1">
                <a:solidFill>
                  <a:srgbClr val="FFFFFF"/>
                </a:solidFill>
                <a:latin typeface="Aptos"/>
              </a:rPr>
              <a:t>1</a:t>
            </a:r>
          </a:p>
        </p:txBody>
      </p:sp>
      <p:sp>
        <p:nvSpPr>
          <p:cNvPr id="14" name="TextBox 13"/>
          <p:cNvSpPr txBox="1"/>
          <p:nvPr/>
        </p:nvSpPr>
        <p:spPr>
          <a:xfrm>
            <a:off x="1207007" y="1810512"/>
            <a:ext cx="2724912" cy="320040"/>
          </a:xfrm>
          <a:prstGeom prst="rect">
            <a:avLst/>
          </a:prstGeom>
          <a:noFill/>
        </p:spPr>
        <p:txBody>
          <a:bodyPr wrap="square" lIns="64008" tIns="64008" rIns="64008" bIns="64008" anchor="t">
            <a:spAutoFit/>
          </a:bodyPr>
          <a:lstStyle/>
          <a:p>
            <a:pPr algn="l"/>
            <a:r>
              <a:rPr sz="1400" b="1">
                <a:solidFill>
                  <a:srgbClr val="21324A"/>
                </a:solidFill>
                <a:latin typeface="Aptos"/>
              </a:rPr>
              <a:t>Authentication</a:t>
            </a:r>
          </a:p>
        </p:txBody>
      </p:sp>
      <p:sp>
        <p:nvSpPr>
          <p:cNvPr id="15" name="TextBox 14"/>
          <p:cNvSpPr txBox="1"/>
          <p:nvPr/>
        </p:nvSpPr>
        <p:spPr>
          <a:xfrm>
            <a:off x="822959" y="2194560"/>
            <a:ext cx="3108960" cy="429768"/>
          </a:xfrm>
          <a:prstGeom prst="rect">
            <a:avLst/>
          </a:prstGeom>
          <a:noFill/>
        </p:spPr>
        <p:txBody>
          <a:bodyPr wrap="square" lIns="64008" tIns="64008" rIns="64008" bIns="64008" anchor="t">
            <a:spAutoFit/>
          </a:bodyPr>
          <a:lstStyle/>
          <a:p>
            <a:pPr algn="l"/>
            <a:r>
              <a:rPr sz="1400" b="0">
                <a:solidFill>
                  <a:srgbClr val="1E1E1E"/>
                </a:solidFill>
                <a:latin typeface="Aptos"/>
              </a:rPr>
              <a:t>User must be signed in before protected APIs return data.</a:t>
            </a:r>
          </a:p>
        </p:txBody>
      </p:sp>
      <p:sp>
        <p:nvSpPr>
          <p:cNvPr id="16" name="Rounded Rectangle 15"/>
          <p:cNvSpPr/>
          <p:nvPr/>
        </p:nvSpPr>
        <p:spPr>
          <a:xfrm>
            <a:off x="4343400" y="1691640"/>
            <a:ext cx="3429000" cy="1024128"/>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343400" y="1691640"/>
            <a:ext cx="73152" cy="1024128"/>
          </a:xfrm>
          <a:prstGeom prst="rect">
            <a:avLst/>
          </a:prstGeom>
          <a:solidFill>
            <a:srgbClr val="1F609A"/>
          </a:solidFill>
          <a:ln>
            <a:solidFill>
              <a:srgbClr val="1F60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4507992" y="1856232"/>
            <a:ext cx="329184" cy="329184"/>
          </a:xfrm>
          <a:prstGeom prst="ellipse">
            <a:avLst/>
          </a:prstGeom>
          <a:solidFill>
            <a:srgbClr val="1F609A"/>
          </a:solidFill>
          <a:ln>
            <a:solidFill>
              <a:srgbClr val="1F60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07992" y="1915668"/>
            <a:ext cx="329184" cy="109728"/>
          </a:xfrm>
          <a:prstGeom prst="rect">
            <a:avLst/>
          </a:prstGeom>
          <a:noFill/>
        </p:spPr>
        <p:txBody>
          <a:bodyPr wrap="square" lIns="64008" tIns="64008" rIns="64008" bIns="64008" anchor="t">
            <a:spAutoFit/>
          </a:bodyPr>
          <a:lstStyle/>
          <a:p>
            <a:pPr algn="ctr"/>
            <a:r>
              <a:rPr sz="1400" b="1">
                <a:solidFill>
                  <a:srgbClr val="FFFFFF"/>
                </a:solidFill>
                <a:latin typeface="Aptos"/>
              </a:rPr>
              <a:t>2</a:t>
            </a:r>
          </a:p>
        </p:txBody>
      </p:sp>
      <p:sp>
        <p:nvSpPr>
          <p:cNvPr id="20" name="TextBox 19"/>
          <p:cNvSpPr txBox="1"/>
          <p:nvPr/>
        </p:nvSpPr>
        <p:spPr>
          <a:xfrm>
            <a:off x="4910328" y="1810512"/>
            <a:ext cx="2724912" cy="320040"/>
          </a:xfrm>
          <a:prstGeom prst="rect">
            <a:avLst/>
          </a:prstGeom>
          <a:noFill/>
        </p:spPr>
        <p:txBody>
          <a:bodyPr wrap="square" lIns="64008" tIns="64008" rIns="64008" bIns="64008" anchor="t">
            <a:spAutoFit/>
          </a:bodyPr>
          <a:lstStyle/>
          <a:p>
            <a:pPr algn="l"/>
            <a:r>
              <a:rPr sz="1400" b="1">
                <a:solidFill>
                  <a:srgbClr val="21324A"/>
                </a:solidFill>
                <a:latin typeface="Aptos"/>
              </a:rPr>
              <a:t>Authorization</a:t>
            </a:r>
          </a:p>
        </p:txBody>
      </p:sp>
      <p:sp>
        <p:nvSpPr>
          <p:cNvPr id="21" name="TextBox 20"/>
          <p:cNvSpPr txBox="1"/>
          <p:nvPr/>
        </p:nvSpPr>
        <p:spPr>
          <a:xfrm>
            <a:off x="4526280" y="2194560"/>
            <a:ext cx="3108960" cy="429768"/>
          </a:xfrm>
          <a:prstGeom prst="rect">
            <a:avLst/>
          </a:prstGeom>
          <a:noFill/>
        </p:spPr>
        <p:txBody>
          <a:bodyPr wrap="square" lIns="64008" tIns="64008" rIns="64008" bIns="64008" anchor="t">
            <a:spAutoFit/>
          </a:bodyPr>
          <a:lstStyle/>
          <a:p>
            <a:pPr algn="l"/>
            <a:r>
              <a:rPr sz="1400" b="0">
                <a:solidFill>
                  <a:srgbClr val="1E1E1E"/>
                </a:solidFill>
                <a:latin typeface="Aptos"/>
              </a:rPr>
              <a:t>Role and team membership determine whether the action is allowed.</a:t>
            </a:r>
          </a:p>
        </p:txBody>
      </p:sp>
      <p:sp>
        <p:nvSpPr>
          <p:cNvPr id="22" name="Rounded Rectangle 21"/>
          <p:cNvSpPr/>
          <p:nvPr/>
        </p:nvSpPr>
        <p:spPr>
          <a:xfrm>
            <a:off x="8046719" y="1691640"/>
            <a:ext cx="3429000" cy="1024128"/>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046719" y="1691640"/>
            <a:ext cx="73152" cy="1024128"/>
          </a:xfrm>
          <a:prstGeom prst="rect">
            <a:avLst/>
          </a:prstGeom>
          <a:solidFill>
            <a:srgbClr val="0097A7"/>
          </a:solidFill>
          <a:ln>
            <a:solidFill>
              <a:srgbClr val="009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8211311" y="1856232"/>
            <a:ext cx="329184" cy="329184"/>
          </a:xfrm>
          <a:prstGeom prst="ellipse">
            <a:avLst/>
          </a:prstGeom>
          <a:solidFill>
            <a:srgbClr val="0097A7"/>
          </a:solidFill>
          <a:ln>
            <a:solidFill>
              <a:srgbClr val="009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211311" y="1915668"/>
            <a:ext cx="329184" cy="109728"/>
          </a:xfrm>
          <a:prstGeom prst="rect">
            <a:avLst/>
          </a:prstGeom>
          <a:noFill/>
        </p:spPr>
        <p:txBody>
          <a:bodyPr wrap="square" lIns="64008" tIns="64008" rIns="64008" bIns="64008" anchor="t">
            <a:spAutoFit/>
          </a:bodyPr>
          <a:lstStyle/>
          <a:p>
            <a:pPr algn="ctr"/>
            <a:r>
              <a:rPr sz="1400" b="1">
                <a:solidFill>
                  <a:srgbClr val="FFFFFF"/>
                </a:solidFill>
                <a:latin typeface="Aptos"/>
              </a:rPr>
              <a:t>3</a:t>
            </a:r>
          </a:p>
        </p:txBody>
      </p:sp>
      <p:sp>
        <p:nvSpPr>
          <p:cNvPr id="26" name="TextBox 25"/>
          <p:cNvSpPr txBox="1"/>
          <p:nvPr/>
        </p:nvSpPr>
        <p:spPr>
          <a:xfrm>
            <a:off x="8613647" y="1810512"/>
            <a:ext cx="2724912" cy="320040"/>
          </a:xfrm>
          <a:prstGeom prst="rect">
            <a:avLst/>
          </a:prstGeom>
          <a:noFill/>
        </p:spPr>
        <p:txBody>
          <a:bodyPr wrap="square" lIns="64008" tIns="64008" rIns="64008" bIns="64008" anchor="t">
            <a:spAutoFit/>
          </a:bodyPr>
          <a:lstStyle/>
          <a:p>
            <a:pPr algn="l"/>
            <a:r>
              <a:rPr sz="1400" b="1">
                <a:solidFill>
                  <a:srgbClr val="21324A"/>
                </a:solidFill>
                <a:latin typeface="Aptos"/>
              </a:rPr>
              <a:t>RLS / policies</a:t>
            </a:r>
          </a:p>
        </p:txBody>
      </p:sp>
      <p:sp>
        <p:nvSpPr>
          <p:cNvPr id="27" name="TextBox 26"/>
          <p:cNvSpPr txBox="1"/>
          <p:nvPr/>
        </p:nvSpPr>
        <p:spPr>
          <a:xfrm>
            <a:off x="8229599" y="2194560"/>
            <a:ext cx="3108960" cy="429768"/>
          </a:xfrm>
          <a:prstGeom prst="rect">
            <a:avLst/>
          </a:prstGeom>
          <a:noFill/>
        </p:spPr>
        <p:txBody>
          <a:bodyPr wrap="square" lIns="64008" tIns="64008" rIns="64008" bIns="64008" anchor="t">
            <a:spAutoFit/>
          </a:bodyPr>
          <a:lstStyle/>
          <a:p>
            <a:pPr algn="l"/>
            <a:r>
              <a:rPr sz="1400" b="0">
                <a:solidFill>
                  <a:srgbClr val="1E1E1E"/>
                </a:solidFill>
                <a:latin typeface="Aptos"/>
              </a:rPr>
              <a:t>Supabase policies restrict data access at database level.</a:t>
            </a:r>
          </a:p>
        </p:txBody>
      </p:sp>
      <p:sp>
        <p:nvSpPr>
          <p:cNvPr id="28" name="Rounded Rectangle 27"/>
          <p:cNvSpPr/>
          <p:nvPr/>
        </p:nvSpPr>
        <p:spPr>
          <a:xfrm>
            <a:off x="640080" y="3108960"/>
            <a:ext cx="3429000" cy="1321308"/>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40080" y="3108960"/>
            <a:ext cx="73152" cy="1024128"/>
          </a:xfrm>
          <a:prstGeom prst="rect">
            <a:avLst/>
          </a:prstGeom>
          <a:solidFill>
            <a:srgbClr val="724BA8"/>
          </a:solidFill>
          <a:ln>
            <a:solidFill>
              <a:srgbClr val="724B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804671" y="3273552"/>
            <a:ext cx="329184" cy="329184"/>
          </a:xfrm>
          <a:prstGeom prst="ellipse">
            <a:avLst/>
          </a:prstGeom>
          <a:solidFill>
            <a:srgbClr val="724BA8"/>
          </a:solidFill>
          <a:ln>
            <a:solidFill>
              <a:srgbClr val="724B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04671" y="3332988"/>
            <a:ext cx="329184" cy="109728"/>
          </a:xfrm>
          <a:prstGeom prst="rect">
            <a:avLst/>
          </a:prstGeom>
          <a:noFill/>
        </p:spPr>
        <p:txBody>
          <a:bodyPr wrap="square" lIns="64008" tIns="64008" rIns="64008" bIns="64008" anchor="t">
            <a:spAutoFit/>
          </a:bodyPr>
          <a:lstStyle/>
          <a:p>
            <a:pPr algn="ctr"/>
            <a:r>
              <a:rPr sz="1400" b="1">
                <a:solidFill>
                  <a:srgbClr val="FFFFFF"/>
                </a:solidFill>
                <a:latin typeface="Aptos"/>
              </a:rPr>
              <a:t>4</a:t>
            </a:r>
          </a:p>
        </p:txBody>
      </p:sp>
      <p:sp>
        <p:nvSpPr>
          <p:cNvPr id="32" name="TextBox 31"/>
          <p:cNvSpPr txBox="1"/>
          <p:nvPr/>
        </p:nvSpPr>
        <p:spPr>
          <a:xfrm>
            <a:off x="1207007" y="3227832"/>
            <a:ext cx="2724912" cy="320040"/>
          </a:xfrm>
          <a:prstGeom prst="rect">
            <a:avLst/>
          </a:prstGeom>
          <a:noFill/>
        </p:spPr>
        <p:txBody>
          <a:bodyPr wrap="square" lIns="64008" tIns="64008" rIns="64008" bIns="64008" anchor="t">
            <a:spAutoFit/>
          </a:bodyPr>
          <a:lstStyle/>
          <a:p>
            <a:pPr algn="l"/>
            <a:r>
              <a:rPr sz="1400" b="1">
                <a:solidFill>
                  <a:srgbClr val="21324A"/>
                </a:solidFill>
                <a:latin typeface="Aptos"/>
              </a:rPr>
              <a:t>Service client</a:t>
            </a:r>
          </a:p>
        </p:txBody>
      </p:sp>
      <p:sp>
        <p:nvSpPr>
          <p:cNvPr id="33" name="TextBox 32"/>
          <p:cNvSpPr txBox="1"/>
          <p:nvPr/>
        </p:nvSpPr>
        <p:spPr>
          <a:xfrm>
            <a:off x="822959" y="3611880"/>
            <a:ext cx="3108960" cy="429768"/>
          </a:xfrm>
          <a:prstGeom prst="rect">
            <a:avLst/>
          </a:prstGeom>
          <a:noFill/>
        </p:spPr>
        <p:txBody>
          <a:bodyPr wrap="square" lIns="64008" tIns="64008" rIns="64008" bIns="64008" anchor="t">
            <a:spAutoFit/>
          </a:bodyPr>
          <a:lstStyle/>
          <a:p>
            <a:pPr algn="l"/>
            <a:r>
              <a:rPr sz="1400" b="0" dirty="0">
                <a:solidFill>
                  <a:srgbClr val="1E1E1E"/>
                </a:solidFill>
                <a:latin typeface="Aptos"/>
              </a:rPr>
              <a:t>Admin-only or elevated operations use server-side service client with controlled checks.</a:t>
            </a:r>
          </a:p>
        </p:txBody>
      </p:sp>
      <p:sp>
        <p:nvSpPr>
          <p:cNvPr id="34" name="Rounded Rectangle 33"/>
          <p:cNvSpPr/>
          <p:nvPr/>
        </p:nvSpPr>
        <p:spPr>
          <a:xfrm>
            <a:off x="4343400" y="3108960"/>
            <a:ext cx="3355847" cy="1426464"/>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4343400" y="3108960"/>
            <a:ext cx="73152" cy="1024128"/>
          </a:xfrm>
          <a:prstGeom prst="rect">
            <a:avLst/>
          </a:prstGeom>
          <a:solidFill>
            <a:srgbClr val="3A9D58"/>
          </a:solidFill>
          <a:ln>
            <a:solidFill>
              <a:srgbClr val="3A9D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4507992" y="3273552"/>
            <a:ext cx="329184" cy="329184"/>
          </a:xfrm>
          <a:prstGeom prst="ellipse">
            <a:avLst/>
          </a:prstGeom>
          <a:solidFill>
            <a:srgbClr val="3A9D58"/>
          </a:solidFill>
          <a:ln>
            <a:solidFill>
              <a:srgbClr val="3A9D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507992" y="3332988"/>
            <a:ext cx="329184" cy="109728"/>
          </a:xfrm>
          <a:prstGeom prst="rect">
            <a:avLst/>
          </a:prstGeom>
          <a:noFill/>
        </p:spPr>
        <p:txBody>
          <a:bodyPr wrap="square" lIns="64008" tIns="64008" rIns="64008" bIns="64008" anchor="t">
            <a:spAutoFit/>
          </a:bodyPr>
          <a:lstStyle/>
          <a:p>
            <a:pPr algn="ctr"/>
            <a:r>
              <a:rPr sz="1400" b="1">
                <a:solidFill>
                  <a:srgbClr val="FFFFFF"/>
                </a:solidFill>
                <a:latin typeface="Aptos"/>
              </a:rPr>
              <a:t>5</a:t>
            </a:r>
          </a:p>
        </p:txBody>
      </p:sp>
      <p:sp>
        <p:nvSpPr>
          <p:cNvPr id="38" name="TextBox 37"/>
          <p:cNvSpPr txBox="1"/>
          <p:nvPr/>
        </p:nvSpPr>
        <p:spPr>
          <a:xfrm>
            <a:off x="4910328" y="3227832"/>
            <a:ext cx="2724912" cy="320040"/>
          </a:xfrm>
          <a:prstGeom prst="rect">
            <a:avLst/>
          </a:prstGeom>
          <a:noFill/>
        </p:spPr>
        <p:txBody>
          <a:bodyPr wrap="square" lIns="64008" tIns="64008" rIns="64008" bIns="64008" anchor="t">
            <a:spAutoFit/>
          </a:bodyPr>
          <a:lstStyle/>
          <a:p>
            <a:pPr algn="l"/>
            <a:r>
              <a:rPr sz="1400" b="1">
                <a:solidFill>
                  <a:srgbClr val="21324A"/>
                </a:solidFill>
                <a:latin typeface="Aptos"/>
              </a:rPr>
              <a:t>Business preconditions</a:t>
            </a:r>
          </a:p>
        </p:txBody>
      </p:sp>
      <p:sp>
        <p:nvSpPr>
          <p:cNvPr id="39" name="TextBox 38"/>
          <p:cNvSpPr txBox="1"/>
          <p:nvPr/>
        </p:nvSpPr>
        <p:spPr>
          <a:xfrm>
            <a:off x="4526280" y="3611880"/>
            <a:ext cx="3108960" cy="429768"/>
          </a:xfrm>
          <a:prstGeom prst="rect">
            <a:avLst/>
          </a:prstGeom>
          <a:noFill/>
        </p:spPr>
        <p:txBody>
          <a:bodyPr wrap="square" lIns="64008" tIns="64008" rIns="64008" bIns="64008" anchor="t">
            <a:spAutoFit/>
          </a:bodyPr>
          <a:lstStyle/>
          <a:p>
            <a:pPr algn="l"/>
            <a:r>
              <a:rPr sz="1400" b="0">
                <a:solidFill>
                  <a:srgbClr val="1E1E1E"/>
                </a:solidFill>
                <a:latin typeface="Aptos"/>
              </a:rPr>
              <a:t>Ownership checks prevent destructive actions such as removing a member with active work.</a:t>
            </a:r>
          </a:p>
        </p:txBody>
      </p:sp>
      <p:sp>
        <p:nvSpPr>
          <p:cNvPr id="40" name="Rounded Rectangle 39"/>
          <p:cNvSpPr/>
          <p:nvPr/>
        </p:nvSpPr>
        <p:spPr>
          <a:xfrm>
            <a:off x="8046719" y="3108960"/>
            <a:ext cx="3355847" cy="1417320"/>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8046719" y="3108960"/>
            <a:ext cx="73152" cy="1024128"/>
          </a:xfrm>
          <a:prstGeom prst="rect">
            <a:avLst/>
          </a:prstGeom>
          <a:solidFill>
            <a:srgbClr val="21324A"/>
          </a:solidFill>
          <a:ln>
            <a:solidFill>
              <a:srgbClr val="21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8211311" y="3273552"/>
            <a:ext cx="329184" cy="329184"/>
          </a:xfrm>
          <a:prstGeom prst="ellipse">
            <a:avLst/>
          </a:prstGeom>
          <a:solidFill>
            <a:srgbClr val="21324A"/>
          </a:solidFill>
          <a:ln>
            <a:solidFill>
              <a:srgbClr val="21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211311" y="3332988"/>
            <a:ext cx="329184" cy="109728"/>
          </a:xfrm>
          <a:prstGeom prst="rect">
            <a:avLst/>
          </a:prstGeom>
          <a:noFill/>
        </p:spPr>
        <p:txBody>
          <a:bodyPr wrap="square" lIns="64008" tIns="64008" rIns="64008" bIns="64008" anchor="t">
            <a:spAutoFit/>
          </a:bodyPr>
          <a:lstStyle/>
          <a:p>
            <a:pPr algn="ctr"/>
            <a:r>
              <a:rPr sz="1400" b="1">
                <a:solidFill>
                  <a:srgbClr val="FFFFFF"/>
                </a:solidFill>
                <a:latin typeface="Aptos"/>
              </a:rPr>
              <a:t>6</a:t>
            </a:r>
          </a:p>
        </p:txBody>
      </p:sp>
      <p:sp>
        <p:nvSpPr>
          <p:cNvPr id="44" name="TextBox 43"/>
          <p:cNvSpPr txBox="1"/>
          <p:nvPr/>
        </p:nvSpPr>
        <p:spPr>
          <a:xfrm>
            <a:off x="8613647" y="3227832"/>
            <a:ext cx="2724912" cy="320040"/>
          </a:xfrm>
          <a:prstGeom prst="rect">
            <a:avLst/>
          </a:prstGeom>
          <a:noFill/>
        </p:spPr>
        <p:txBody>
          <a:bodyPr wrap="square" lIns="64008" tIns="64008" rIns="64008" bIns="64008" anchor="t">
            <a:spAutoFit/>
          </a:bodyPr>
          <a:lstStyle/>
          <a:p>
            <a:pPr algn="l"/>
            <a:r>
              <a:rPr sz="1400" b="1">
                <a:solidFill>
                  <a:srgbClr val="21324A"/>
                </a:solidFill>
                <a:latin typeface="Aptos"/>
              </a:rPr>
              <a:t>Auditability</a:t>
            </a:r>
          </a:p>
        </p:txBody>
      </p:sp>
      <p:sp>
        <p:nvSpPr>
          <p:cNvPr id="45" name="TextBox 44"/>
          <p:cNvSpPr txBox="1"/>
          <p:nvPr/>
        </p:nvSpPr>
        <p:spPr>
          <a:xfrm>
            <a:off x="8229599" y="3611880"/>
            <a:ext cx="3108960" cy="429768"/>
          </a:xfrm>
          <a:prstGeom prst="rect">
            <a:avLst/>
          </a:prstGeom>
          <a:noFill/>
        </p:spPr>
        <p:txBody>
          <a:bodyPr wrap="square" lIns="64008" tIns="64008" rIns="64008" bIns="64008" anchor="t">
            <a:spAutoFit/>
          </a:bodyPr>
          <a:lstStyle/>
          <a:p>
            <a:pPr algn="l"/>
            <a:r>
              <a:rPr sz="1400" b="0">
                <a:solidFill>
                  <a:srgbClr val="1E1E1E"/>
                </a:solidFill>
                <a:latin typeface="Aptos"/>
              </a:rPr>
              <a:t>Logs, field history and request IDs support traceability and issue debugging.</a:t>
            </a:r>
          </a:p>
        </p:txBody>
      </p:sp>
      <p:sp>
        <p:nvSpPr>
          <p:cNvPr id="46" name="Rounded Rectangle 45"/>
          <p:cNvSpPr/>
          <p:nvPr/>
        </p:nvSpPr>
        <p:spPr>
          <a:xfrm>
            <a:off x="685800" y="5120640"/>
            <a:ext cx="10716766" cy="1078992"/>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685800" y="5120640"/>
            <a:ext cx="73152" cy="685800"/>
          </a:xfrm>
          <a:prstGeom prst="rect">
            <a:avLst/>
          </a:prstGeom>
          <a:solidFill>
            <a:srgbClr val="F26419"/>
          </a:solidFill>
          <a:ln>
            <a:solidFill>
              <a:srgbClr val="F2641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868680" y="5239512"/>
            <a:ext cx="10469880" cy="320040"/>
          </a:xfrm>
          <a:prstGeom prst="rect">
            <a:avLst/>
          </a:prstGeom>
          <a:noFill/>
        </p:spPr>
        <p:txBody>
          <a:bodyPr wrap="square" lIns="64008" tIns="64008" rIns="64008" bIns="64008" anchor="t">
            <a:spAutoFit/>
          </a:bodyPr>
          <a:lstStyle/>
          <a:p>
            <a:pPr algn="l"/>
            <a:r>
              <a:rPr sz="1400" b="1">
                <a:solidFill>
                  <a:srgbClr val="21324A"/>
                </a:solidFill>
                <a:latin typeface="Aptos"/>
              </a:rPr>
              <a:t>Client-ready point</a:t>
            </a:r>
          </a:p>
        </p:txBody>
      </p:sp>
      <p:sp>
        <p:nvSpPr>
          <p:cNvPr id="49" name="TextBox 48"/>
          <p:cNvSpPr txBox="1"/>
          <p:nvPr/>
        </p:nvSpPr>
        <p:spPr>
          <a:xfrm>
            <a:off x="868680" y="5623559"/>
            <a:ext cx="10469880" cy="91439"/>
          </a:xfrm>
          <a:prstGeom prst="rect">
            <a:avLst/>
          </a:prstGeom>
          <a:noFill/>
        </p:spPr>
        <p:txBody>
          <a:bodyPr wrap="square" lIns="64008" tIns="64008" rIns="64008" bIns="64008" anchor="t">
            <a:spAutoFit/>
          </a:bodyPr>
          <a:lstStyle/>
          <a:p>
            <a:pPr algn="l"/>
            <a:r>
              <a:rPr sz="1400" b="0">
                <a:solidFill>
                  <a:srgbClr val="1E1E1E"/>
                </a:solidFill>
                <a:latin typeface="Aptos"/>
              </a:rPr>
              <a:t>The application already demonstrates several enterprise-grade controls; the next improvement opportunity is to document and standardize these controls so testers and admins can validate them consistently.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420624"/>
          </a:xfrm>
          <a:prstGeom prst="rect">
            <a:avLst/>
          </a:prstGeom>
          <a:solidFill>
            <a:srgbClr val="21324A"/>
          </a:solidFill>
          <a:ln>
            <a:solidFill>
              <a:srgbClr val="21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7627"/>
            <a:ext cx="2377440" cy="437043"/>
          </a:xfrm>
          <a:prstGeom prst="rect">
            <a:avLst/>
          </a:prstGeom>
          <a:noFill/>
        </p:spPr>
        <p:txBody>
          <a:bodyPr wrap="square" lIns="64008" tIns="64008" rIns="64008" bIns="64008" anchor="t">
            <a:spAutoFit/>
          </a:bodyPr>
          <a:lstStyle/>
          <a:p>
            <a:pPr algn="l"/>
            <a:r>
              <a:rPr sz="2000" b="1" dirty="0">
                <a:solidFill>
                  <a:srgbClr val="FFFFFF"/>
                </a:solidFill>
                <a:latin typeface="Aptos"/>
              </a:rPr>
              <a:t>ANALYTICS</a:t>
            </a:r>
          </a:p>
        </p:txBody>
      </p:sp>
      <p:sp>
        <p:nvSpPr>
          <p:cNvPr id="4" name="TextBox 3"/>
          <p:cNvSpPr txBox="1"/>
          <p:nvPr/>
        </p:nvSpPr>
        <p:spPr>
          <a:xfrm>
            <a:off x="11155680" y="100584"/>
            <a:ext cx="731520" cy="228600"/>
          </a:xfrm>
          <a:prstGeom prst="rect">
            <a:avLst/>
          </a:prstGeom>
          <a:noFill/>
        </p:spPr>
        <p:txBody>
          <a:bodyPr wrap="square" lIns="64008" tIns="64008" rIns="64008" bIns="64008" anchor="t">
            <a:spAutoFit/>
          </a:bodyPr>
          <a:lstStyle/>
          <a:p>
            <a:pPr algn="r"/>
            <a:r>
              <a:rPr sz="1400" b="1">
                <a:solidFill>
                  <a:srgbClr val="F26419"/>
                </a:solidFill>
                <a:latin typeface="Aptos"/>
              </a:rPr>
              <a:t>EXL</a:t>
            </a:r>
          </a:p>
        </p:txBody>
      </p:sp>
      <p:sp>
        <p:nvSpPr>
          <p:cNvPr id="5" name="TextBox 4"/>
          <p:cNvSpPr txBox="1"/>
          <p:nvPr/>
        </p:nvSpPr>
        <p:spPr>
          <a:xfrm>
            <a:off x="447001" y="411480"/>
            <a:ext cx="9509760" cy="438912"/>
          </a:xfrm>
          <a:prstGeom prst="rect">
            <a:avLst/>
          </a:prstGeom>
          <a:noFill/>
        </p:spPr>
        <p:txBody>
          <a:bodyPr wrap="square" lIns="64008" tIns="64008" rIns="64008" bIns="64008" anchor="t">
            <a:spAutoFit/>
          </a:bodyPr>
          <a:lstStyle/>
          <a:p>
            <a:pPr algn="l"/>
            <a:r>
              <a:rPr sz="2300" b="1" dirty="0">
                <a:solidFill>
                  <a:srgbClr val="F26419"/>
                </a:solidFill>
                <a:latin typeface="Aptos"/>
              </a:rPr>
              <a:t>Dashboard, analytics and reporting understanding</a:t>
            </a:r>
          </a:p>
        </p:txBody>
      </p:sp>
      <p:sp>
        <p:nvSpPr>
          <p:cNvPr id="6" name="TextBox 5"/>
          <p:cNvSpPr txBox="1"/>
          <p:nvPr/>
        </p:nvSpPr>
        <p:spPr>
          <a:xfrm>
            <a:off x="521207" y="1024128"/>
            <a:ext cx="10515600" cy="292608"/>
          </a:xfrm>
          <a:prstGeom prst="rect">
            <a:avLst/>
          </a:prstGeom>
          <a:noFill/>
        </p:spPr>
        <p:txBody>
          <a:bodyPr wrap="square" lIns="64008" tIns="64008" rIns="64008" bIns="64008" anchor="t">
            <a:spAutoFit/>
          </a:bodyPr>
          <a:lstStyle/>
          <a:p>
            <a:pPr algn="l"/>
            <a:r>
              <a:rPr sz="1400" b="0">
                <a:solidFill>
                  <a:srgbClr val="5A5A5A"/>
                </a:solidFill>
                <a:latin typeface="Aptos"/>
              </a:rPr>
              <a:t>The system provides operational reporting through dashboard cards, goals progress, leaderboards and team statistics.</a:t>
            </a:r>
          </a:p>
        </p:txBody>
      </p:sp>
      <p:sp>
        <p:nvSpPr>
          <p:cNvPr id="7" name="TextBox 6"/>
          <p:cNvSpPr txBox="1"/>
          <p:nvPr/>
        </p:nvSpPr>
        <p:spPr>
          <a:xfrm>
            <a:off x="502920" y="6528816"/>
            <a:ext cx="7772400" cy="201168"/>
          </a:xfrm>
          <a:prstGeom prst="rect">
            <a:avLst/>
          </a:prstGeom>
          <a:noFill/>
        </p:spPr>
        <p:txBody>
          <a:bodyPr wrap="square" lIns="64008" tIns="64008" rIns="64008" bIns="64008" anchor="t">
            <a:spAutoFit/>
          </a:bodyPr>
          <a:lstStyle/>
          <a:p>
            <a:pPr algn="l"/>
            <a:r>
              <a:rPr sz="750" b="0">
                <a:solidFill>
                  <a:srgbClr val="5A5A5A"/>
                </a:solidFill>
                <a:latin typeface="Aptos"/>
              </a:rPr>
              <a:t>EXL – Oakbridge Engagement | Our Understanding of Existing System</a:t>
            </a:r>
          </a:p>
        </p:txBody>
      </p:sp>
      <p:sp>
        <p:nvSpPr>
          <p:cNvPr id="8" name="TextBox 7"/>
          <p:cNvSpPr txBox="1"/>
          <p:nvPr/>
        </p:nvSpPr>
        <p:spPr>
          <a:xfrm>
            <a:off x="11475720" y="6528816"/>
            <a:ext cx="320040" cy="201168"/>
          </a:xfrm>
          <a:prstGeom prst="rect">
            <a:avLst/>
          </a:prstGeom>
          <a:noFill/>
        </p:spPr>
        <p:txBody>
          <a:bodyPr wrap="square" lIns="64008" tIns="64008" rIns="64008" bIns="64008" anchor="t">
            <a:spAutoFit/>
          </a:bodyPr>
          <a:lstStyle/>
          <a:p>
            <a:pPr algn="r"/>
            <a:r>
              <a:rPr sz="750" b="0">
                <a:solidFill>
                  <a:srgbClr val="5A5A5A"/>
                </a:solidFill>
                <a:latin typeface="Aptos"/>
              </a:rPr>
              <a:t>14</a:t>
            </a:r>
          </a:p>
        </p:txBody>
      </p:sp>
      <p:sp>
        <p:nvSpPr>
          <p:cNvPr id="9" name="Rectangle 8"/>
          <p:cNvSpPr/>
          <p:nvPr/>
        </p:nvSpPr>
        <p:spPr>
          <a:xfrm>
            <a:off x="502920" y="1344168"/>
            <a:ext cx="11064240" cy="22860"/>
          </a:xfrm>
          <a:prstGeom prst="rect">
            <a:avLst/>
          </a:prstGeom>
          <a:solidFill>
            <a:srgbClr val="DAE0E6"/>
          </a:solidFill>
          <a:ln>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12648" y="1544270"/>
            <a:ext cx="2286000" cy="228600"/>
          </a:xfrm>
          <a:prstGeom prst="rect">
            <a:avLst/>
          </a:prstGeom>
          <a:noFill/>
        </p:spPr>
        <p:txBody>
          <a:bodyPr wrap="square" lIns="64008" tIns="64008" rIns="64008" bIns="64008" anchor="t">
            <a:spAutoFit/>
          </a:bodyPr>
          <a:lstStyle/>
          <a:p>
            <a:pPr algn="l"/>
            <a:r>
              <a:rPr sz="1400" b="1" dirty="0">
                <a:solidFill>
                  <a:srgbClr val="21324A"/>
                </a:solidFill>
                <a:latin typeface="Aptos"/>
              </a:rPr>
              <a:t>Reporting areas</a:t>
            </a:r>
          </a:p>
        </p:txBody>
      </p:sp>
      <p:sp>
        <p:nvSpPr>
          <p:cNvPr id="11" name="Rounded Rectangle 10"/>
          <p:cNvSpPr/>
          <p:nvPr/>
        </p:nvSpPr>
        <p:spPr>
          <a:xfrm>
            <a:off x="675485" y="1853945"/>
            <a:ext cx="5003702" cy="772668"/>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94360" y="1911778"/>
            <a:ext cx="73152" cy="576072"/>
          </a:xfrm>
          <a:prstGeom prst="rect">
            <a:avLst/>
          </a:prstGeom>
          <a:solidFill>
            <a:srgbClr val="F26419"/>
          </a:solidFill>
          <a:ln>
            <a:solidFill>
              <a:srgbClr val="F2641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07720" y="1860804"/>
            <a:ext cx="4074707" cy="344710"/>
          </a:xfrm>
          <a:prstGeom prst="rect">
            <a:avLst/>
          </a:prstGeom>
          <a:noFill/>
        </p:spPr>
        <p:txBody>
          <a:bodyPr wrap="square" lIns="64008" tIns="64008" rIns="64008" bIns="64008" anchor="t">
            <a:spAutoFit/>
          </a:bodyPr>
          <a:lstStyle/>
          <a:p>
            <a:pPr algn="l"/>
            <a:r>
              <a:rPr sz="1400" b="1" dirty="0">
                <a:solidFill>
                  <a:srgbClr val="21324A"/>
                </a:solidFill>
                <a:latin typeface="Aptos"/>
              </a:rPr>
              <a:t>Dashboard cards</a:t>
            </a:r>
          </a:p>
        </p:txBody>
      </p:sp>
      <p:sp>
        <p:nvSpPr>
          <p:cNvPr id="14" name="TextBox 13"/>
          <p:cNvSpPr txBox="1"/>
          <p:nvPr/>
        </p:nvSpPr>
        <p:spPr>
          <a:xfrm>
            <a:off x="758952" y="2141981"/>
            <a:ext cx="4572000" cy="0"/>
          </a:xfrm>
          <a:prstGeom prst="rect">
            <a:avLst/>
          </a:prstGeom>
          <a:noFill/>
        </p:spPr>
        <p:txBody>
          <a:bodyPr wrap="square" lIns="64008" tIns="64008" rIns="64008" bIns="64008" anchor="t">
            <a:spAutoFit/>
          </a:bodyPr>
          <a:lstStyle/>
          <a:p>
            <a:pPr algn="l"/>
            <a:r>
              <a:rPr sz="1400" b="0" dirty="0">
                <a:solidFill>
                  <a:srgbClr val="1E1E1E"/>
                </a:solidFill>
                <a:latin typeface="Aptos"/>
              </a:rPr>
              <a:t>Open items, in IDS, solved, completed, converted and merged/archived metrics.</a:t>
            </a:r>
          </a:p>
        </p:txBody>
      </p:sp>
      <p:sp>
        <p:nvSpPr>
          <p:cNvPr id="15" name="Rounded Rectangle 14"/>
          <p:cNvSpPr/>
          <p:nvPr/>
        </p:nvSpPr>
        <p:spPr>
          <a:xfrm>
            <a:off x="685800" y="2697479"/>
            <a:ext cx="4993386" cy="877823"/>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12648" y="2710139"/>
            <a:ext cx="73152" cy="576072"/>
          </a:xfrm>
          <a:prstGeom prst="rect">
            <a:avLst/>
          </a:prstGeom>
          <a:solidFill>
            <a:srgbClr val="1F609A"/>
          </a:solidFill>
          <a:ln>
            <a:solidFill>
              <a:srgbClr val="1F60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83336" y="2689545"/>
            <a:ext cx="4571999" cy="320040"/>
          </a:xfrm>
          <a:prstGeom prst="rect">
            <a:avLst/>
          </a:prstGeom>
          <a:noFill/>
        </p:spPr>
        <p:txBody>
          <a:bodyPr wrap="square" lIns="64008" tIns="64008" rIns="64008" bIns="64008" anchor="t">
            <a:spAutoFit/>
          </a:bodyPr>
          <a:lstStyle/>
          <a:p>
            <a:pPr algn="l"/>
            <a:r>
              <a:rPr sz="1400" b="1" dirty="0">
                <a:solidFill>
                  <a:srgbClr val="21324A"/>
                </a:solidFill>
                <a:latin typeface="Aptos"/>
              </a:rPr>
              <a:t>Goal summary</a:t>
            </a:r>
          </a:p>
        </p:txBody>
      </p:sp>
      <p:sp>
        <p:nvSpPr>
          <p:cNvPr id="18" name="TextBox 17"/>
          <p:cNvSpPr txBox="1"/>
          <p:nvPr/>
        </p:nvSpPr>
        <p:spPr>
          <a:xfrm>
            <a:off x="860473" y="3009585"/>
            <a:ext cx="4572000" cy="0"/>
          </a:xfrm>
          <a:prstGeom prst="rect">
            <a:avLst/>
          </a:prstGeom>
          <a:noFill/>
        </p:spPr>
        <p:txBody>
          <a:bodyPr wrap="square" lIns="64008" tIns="64008" rIns="64008" bIns="64008" anchor="t">
            <a:spAutoFit/>
          </a:bodyPr>
          <a:lstStyle/>
          <a:p>
            <a:pPr algn="l"/>
            <a:r>
              <a:rPr sz="1400" b="0" dirty="0">
                <a:solidFill>
                  <a:srgbClr val="1E1E1E"/>
                </a:solidFill>
                <a:latin typeface="Aptos"/>
              </a:rPr>
              <a:t>Not started, needs attention, active goals, planning, in progress and completed counts.</a:t>
            </a:r>
          </a:p>
        </p:txBody>
      </p:sp>
      <p:sp>
        <p:nvSpPr>
          <p:cNvPr id="19" name="Rounded Rectangle 18"/>
          <p:cNvSpPr/>
          <p:nvPr/>
        </p:nvSpPr>
        <p:spPr>
          <a:xfrm>
            <a:off x="685800" y="3643532"/>
            <a:ext cx="4993386" cy="791308"/>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02332" y="3697517"/>
            <a:ext cx="73152" cy="576072"/>
          </a:xfrm>
          <a:prstGeom prst="rect">
            <a:avLst/>
          </a:prstGeom>
          <a:solidFill>
            <a:srgbClr val="0097A7"/>
          </a:solidFill>
          <a:ln>
            <a:solidFill>
              <a:srgbClr val="009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68680" y="3575304"/>
            <a:ext cx="4571999" cy="320040"/>
          </a:xfrm>
          <a:prstGeom prst="rect">
            <a:avLst/>
          </a:prstGeom>
          <a:noFill/>
        </p:spPr>
        <p:txBody>
          <a:bodyPr wrap="square" lIns="64008" tIns="64008" rIns="64008" bIns="64008" anchor="t">
            <a:spAutoFit/>
          </a:bodyPr>
          <a:lstStyle/>
          <a:p>
            <a:pPr algn="l"/>
            <a:r>
              <a:rPr sz="1400" b="1">
                <a:solidFill>
                  <a:srgbClr val="21324A"/>
                </a:solidFill>
                <a:latin typeface="Aptos"/>
              </a:rPr>
              <a:t>Team stats</a:t>
            </a:r>
          </a:p>
        </p:txBody>
      </p:sp>
      <p:sp>
        <p:nvSpPr>
          <p:cNvPr id="22" name="TextBox 21"/>
          <p:cNvSpPr txBox="1"/>
          <p:nvPr/>
        </p:nvSpPr>
        <p:spPr>
          <a:xfrm>
            <a:off x="868680" y="3959352"/>
            <a:ext cx="4572000" cy="0"/>
          </a:xfrm>
          <a:prstGeom prst="rect">
            <a:avLst/>
          </a:prstGeom>
          <a:noFill/>
        </p:spPr>
        <p:txBody>
          <a:bodyPr wrap="square" lIns="64008" tIns="64008" rIns="64008" bIns="64008" anchor="t">
            <a:spAutoFit/>
          </a:bodyPr>
          <a:lstStyle/>
          <a:p>
            <a:pPr algn="l"/>
            <a:r>
              <a:rPr sz="1400" b="0">
                <a:solidFill>
                  <a:srgbClr val="1E1E1E"/>
                </a:solidFill>
                <a:latin typeface="Aptos"/>
              </a:rPr>
              <a:t>Total items, opportunities, obstacles and resolved items across teams.</a:t>
            </a:r>
          </a:p>
        </p:txBody>
      </p:sp>
      <p:sp>
        <p:nvSpPr>
          <p:cNvPr id="23" name="Rounded Rectangle 22"/>
          <p:cNvSpPr/>
          <p:nvPr/>
        </p:nvSpPr>
        <p:spPr>
          <a:xfrm>
            <a:off x="685800" y="4526281"/>
            <a:ext cx="4993386" cy="813112"/>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12648" y="4525928"/>
            <a:ext cx="73152" cy="576072"/>
          </a:xfrm>
          <a:prstGeom prst="rect">
            <a:avLst/>
          </a:prstGeom>
          <a:solidFill>
            <a:srgbClr val="724BA8"/>
          </a:solidFill>
          <a:ln>
            <a:solidFill>
              <a:srgbClr val="724B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68680" y="4448226"/>
            <a:ext cx="4571999" cy="320040"/>
          </a:xfrm>
          <a:prstGeom prst="rect">
            <a:avLst/>
          </a:prstGeom>
          <a:noFill/>
        </p:spPr>
        <p:txBody>
          <a:bodyPr wrap="square" lIns="64008" tIns="64008" rIns="64008" bIns="64008" anchor="t">
            <a:spAutoFit/>
          </a:bodyPr>
          <a:lstStyle/>
          <a:p>
            <a:pPr algn="l"/>
            <a:r>
              <a:rPr sz="1400" b="1" dirty="0">
                <a:solidFill>
                  <a:srgbClr val="21324A"/>
                </a:solidFill>
                <a:latin typeface="Aptos"/>
              </a:rPr>
              <a:t>Leaderboard</a:t>
            </a:r>
          </a:p>
        </p:txBody>
      </p:sp>
      <p:sp>
        <p:nvSpPr>
          <p:cNvPr id="26" name="TextBox 25"/>
          <p:cNvSpPr txBox="1"/>
          <p:nvPr/>
        </p:nvSpPr>
        <p:spPr>
          <a:xfrm>
            <a:off x="868680" y="4718303"/>
            <a:ext cx="4572000" cy="0"/>
          </a:xfrm>
          <a:prstGeom prst="rect">
            <a:avLst/>
          </a:prstGeom>
          <a:noFill/>
        </p:spPr>
        <p:txBody>
          <a:bodyPr wrap="square" lIns="64008" tIns="64008" rIns="64008" bIns="64008" anchor="t">
            <a:spAutoFit/>
          </a:bodyPr>
          <a:lstStyle/>
          <a:p>
            <a:pPr algn="l"/>
            <a:r>
              <a:rPr sz="1400" b="0">
                <a:solidFill>
                  <a:srgbClr val="1E1E1E"/>
                </a:solidFill>
                <a:latin typeface="Aptos"/>
              </a:rPr>
              <a:t>Owned items, ideas contributed, ideas adopted and obstacles resolved by employee.</a:t>
            </a:r>
          </a:p>
        </p:txBody>
      </p:sp>
      <p:sp>
        <p:nvSpPr>
          <p:cNvPr id="27" name="Rounded Rectangle 26"/>
          <p:cNvSpPr/>
          <p:nvPr/>
        </p:nvSpPr>
        <p:spPr>
          <a:xfrm>
            <a:off x="682282" y="5495544"/>
            <a:ext cx="4996903" cy="864107"/>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12648" y="5595423"/>
            <a:ext cx="73152" cy="576072"/>
          </a:xfrm>
          <a:prstGeom prst="rect">
            <a:avLst/>
          </a:prstGeom>
          <a:solidFill>
            <a:srgbClr val="3A9D58"/>
          </a:solidFill>
          <a:ln>
            <a:solidFill>
              <a:srgbClr val="3A9D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60474" y="5513832"/>
            <a:ext cx="4571999" cy="320040"/>
          </a:xfrm>
          <a:prstGeom prst="rect">
            <a:avLst/>
          </a:prstGeom>
          <a:noFill/>
        </p:spPr>
        <p:txBody>
          <a:bodyPr wrap="square" lIns="64008" tIns="64008" rIns="64008" bIns="64008" anchor="t">
            <a:spAutoFit/>
          </a:bodyPr>
          <a:lstStyle/>
          <a:p>
            <a:pPr algn="l"/>
            <a:r>
              <a:rPr sz="1400" b="1" dirty="0">
                <a:solidFill>
                  <a:srgbClr val="21324A"/>
                </a:solidFill>
                <a:latin typeface="Aptos"/>
              </a:rPr>
              <a:t>Movement history</a:t>
            </a:r>
          </a:p>
        </p:txBody>
      </p:sp>
      <p:sp>
        <p:nvSpPr>
          <p:cNvPr id="30" name="TextBox 29"/>
          <p:cNvSpPr txBox="1"/>
          <p:nvPr/>
        </p:nvSpPr>
        <p:spPr>
          <a:xfrm>
            <a:off x="842303" y="5870447"/>
            <a:ext cx="4572000" cy="0"/>
          </a:xfrm>
          <a:prstGeom prst="rect">
            <a:avLst/>
          </a:prstGeom>
          <a:noFill/>
        </p:spPr>
        <p:txBody>
          <a:bodyPr wrap="square" lIns="64008" tIns="64008" rIns="64008" bIns="64008" anchor="t">
            <a:spAutoFit/>
          </a:bodyPr>
          <a:lstStyle/>
          <a:p>
            <a:pPr algn="l"/>
            <a:r>
              <a:rPr sz="1400" b="0" dirty="0">
                <a:solidFill>
                  <a:srgbClr val="1E1E1E"/>
                </a:solidFill>
                <a:latin typeface="Aptos"/>
              </a:rPr>
              <a:t>Tracks item movement states such as pending, accepted and rejected.</a:t>
            </a:r>
          </a:p>
        </p:txBody>
      </p:sp>
      <p:sp>
        <p:nvSpPr>
          <p:cNvPr id="31" name="TextBox 30"/>
          <p:cNvSpPr txBox="1"/>
          <p:nvPr/>
        </p:nvSpPr>
        <p:spPr>
          <a:xfrm>
            <a:off x="6126480" y="1600200"/>
            <a:ext cx="2286000" cy="228600"/>
          </a:xfrm>
          <a:prstGeom prst="rect">
            <a:avLst/>
          </a:prstGeom>
          <a:noFill/>
        </p:spPr>
        <p:txBody>
          <a:bodyPr wrap="square" lIns="64008" tIns="64008" rIns="64008" bIns="64008" anchor="t">
            <a:spAutoFit/>
          </a:bodyPr>
          <a:lstStyle/>
          <a:p>
            <a:pPr algn="l"/>
            <a:r>
              <a:rPr sz="1400" b="1">
                <a:solidFill>
                  <a:srgbClr val="21324A"/>
                </a:solidFill>
                <a:latin typeface="Aptos"/>
              </a:rPr>
              <a:t>Analytics flow</a:t>
            </a:r>
          </a:p>
        </p:txBody>
      </p:sp>
      <p:sp>
        <p:nvSpPr>
          <p:cNvPr id="32" name="Rounded Rectangle 31"/>
          <p:cNvSpPr/>
          <p:nvPr/>
        </p:nvSpPr>
        <p:spPr>
          <a:xfrm>
            <a:off x="6126480" y="1965960"/>
            <a:ext cx="784860" cy="548640"/>
          </a:xfrm>
          <a:prstGeom prst="roundRect">
            <a:avLst/>
          </a:prstGeom>
          <a:solidFill>
            <a:srgbClr val="F26419"/>
          </a:solidFill>
          <a:ln>
            <a:solidFill>
              <a:srgbClr val="F26419"/>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800" b="1">
                <a:solidFill>
                  <a:srgbClr val="FFFFFF"/>
                </a:solidFill>
              </a:defRPr>
            </a:pPr>
            <a:r>
              <a:rPr sz="1400"/>
              <a:t>Items</a:t>
            </a:r>
          </a:p>
        </p:txBody>
      </p:sp>
      <p:cxnSp>
        <p:nvCxnSpPr>
          <p:cNvPr id="33" name="Connector 32"/>
          <p:cNvCxnSpPr/>
          <p:nvPr/>
        </p:nvCxnSpPr>
        <p:spPr>
          <a:xfrm>
            <a:off x="6911340" y="2240279"/>
            <a:ext cx="109728" cy="0"/>
          </a:xfrm>
          <a:prstGeom prst="line">
            <a:avLst/>
          </a:prstGeom>
          <a:ln w="19050">
            <a:solidFill>
              <a:srgbClr val="F26419"/>
            </a:solidFill>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7021068" y="1965960"/>
            <a:ext cx="784860" cy="548640"/>
          </a:xfrm>
          <a:prstGeom prst="roundRect">
            <a:avLst/>
          </a:prstGeom>
          <a:solidFill>
            <a:srgbClr val="1F609A"/>
          </a:solidFill>
          <a:ln>
            <a:solidFill>
              <a:srgbClr val="1F609A"/>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800" b="1">
                <a:solidFill>
                  <a:srgbClr val="FFFFFF"/>
                </a:solidFill>
              </a:defRPr>
            </a:pPr>
            <a:r>
              <a:rPr sz="1400"/>
              <a:t>Goals</a:t>
            </a:r>
          </a:p>
        </p:txBody>
      </p:sp>
      <p:cxnSp>
        <p:nvCxnSpPr>
          <p:cNvPr id="35" name="Connector 34"/>
          <p:cNvCxnSpPr/>
          <p:nvPr/>
        </p:nvCxnSpPr>
        <p:spPr>
          <a:xfrm>
            <a:off x="7805928" y="2240279"/>
            <a:ext cx="109728" cy="0"/>
          </a:xfrm>
          <a:prstGeom prst="line">
            <a:avLst/>
          </a:prstGeom>
          <a:ln w="19050">
            <a:solidFill>
              <a:srgbClr val="F26419"/>
            </a:solidFill>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7915656" y="1965960"/>
            <a:ext cx="784860" cy="548640"/>
          </a:xfrm>
          <a:prstGeom prst="roundRect">
            <a:avLst/>
          </a:prstGeom>
          <a:solidFill>
            <a:srgbClr val="0097A7"/>
          </a:solidFill>
          <a:ln>
            <a:solidFill>
              <a:srgbClr val="0097A7"/>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800" b="1">
                <a:solidFill>
                  <a:srgbClr val="FFFFFF"/>
                </a:solidFill>
              </a:defRPr>
            </a:pPr>
            <a:r>
              <a:rPr sz="1400"/>
              <a:t>Teams</a:t>
            </a:r>
          </a:p>
        </p:txBody>
      </p:sp>
      <p:cxnSp>
        <p:nvCxnSpPr>
          <p:cNvPr id="37" name="Connector 36"/>
          <p:cNvCxnSpPr/>
          <p:nvPr/>
        </p:nvCxnSpPr>
        <p:spPr>
          <a:xfrm>
            <a:off x="8700516" y="2240279"/>
            <a:ext cx="109728" cy="0"/>
          </a:xfrm>
          <a:prstGeom prst="line">
            <a:avLst/>
          </a:prstGeom>
          <a:ln w="19050">
            <a:solidFill>
              <a:srgbClr val="F26419"/>
            </a:solidFill>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8810244" y="1965960"/>
            <a:ext cx="784860" cy="548640"/>
          </a:xfrm>
          <a:prstGeom prst="roundRect">
            <a:avLst/>
          </a:prstGeom>
          <a:solidFill>
            <a:srgbClr val="724BA8"/>
          </a:solidFill>
          <a:ln>
            <a:solidFill>
              <a:srgbClr val="724BA8"/>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800" b="1">
                <a:solidFill>
                  <a:srgbClr val="FFFFFF"/>
                </a:solidFill>
              </a:defRPr>
            </a:pPr>
            <a:r>
              <a:rPr sz="1400"/>
              <a:t>Users</a:t>
            </a:r>
          </a:p>
        </p:txBody>
      </p:sp>
      <p:cxnSp>
        <p:nvCxnSpPr>
          <p:cNvPr id="39" name="Connector 38"/>
          <p:cNvCxnSpPr/>
          <p:nvPr/>
        </p:nvCxnSpPr>
        <p:spPr>
          <a:xfrm>
            <a:off x="9595103" y="2240279"/>
            <a:ext cx="109728" cy="0"/>
          </a:xfrm>
          <a:prstGeom prst="line">
            <a:avLst/>
          </a:prstGeom>
          <a:ln w="19050">
            <a:solidFill>
              <a:srgbClr val="F26419"/>
            </a:solidFill>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9704832" y="1965960"/>
            <a:ext cx="784860" cy="548640"/>
          </a:xfrm>
          <a:prstGeom prst="roundRect">
            <a:avLst/>
          </a:prstGeom>
          <a:solidFill>
            <a:srgbClr val="3A9D58"/>
          </a:solidFill>
          <a:ln>
            <a:solidFill>
              <a:srgbClr val="3A9D58"/>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800" b="1">
                <a:solidFill>
                  <a:srgbClr val="FFFFFF"/>
                </a:solidFill>
              </a:defRPr>
            </a:pPr>
            <a:r>
              <a:rPr sz="1400"/>
              <a:t>Metrics</a:t>
            </a:r>
          </a:p>
        </p:txBody>
      </p:sp>
      <p:cxnSp>
        <p:nvCxnSpPr>
          <p:cNvPr id="41" name="Connector 40"/>
          <p:cNvCxnSpPr/>
          <p:nvPr/>
        </p:nvCxnSpPr>
        <p:spPr>
          <a:xfrm>
            <a:off x="10489692" y="2240279"/>
            <a:ext cx="109728" cy="0"/>
          </a:xfrm>
          <a:prstGeom prst="line">
            <a:avLst/>
          </a:prstGeom>
          <a:ln w="19050">
            <a:solidFill>
              <a:srgbClr val="F26419"/>
            </a:solidFill>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10599420" y="1965960"/>
            <a:ext cx="784860" cy="548640"/>
          </a:xfrm>
          <a:prstGeom prst="roundRect">
            <a:avLst/>
          </a:prstGeom>
          <a:solidFill>
            <a:srgbClr val="21324A"/>
          </a:solidFill>
          <a:ln>
            <a:solidFill>
              <a:srgbClr val="21324A"/>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800" b="1">
                <a:solidFill>
                  <a:srgbClr val="FFFFFF"/>
                </a:solidFill>
              </a:defRPr>
            </a:pPr>
            <a:r>
              <a:rPr sz="1400"/>
              <a:t>Dashboard</a:t>
            </a:r>
          </a:p>
        </p:txBody>
      </p:sp>
      <p:sp>
        <p:nvSpPr>
          <p:cNvPr id="43" name="Rounded Rectangle 42"/>
          <p:cNvSpPr/>
          <p:nvPr/>
        </p:nvSpPr>
        <p:spPr>
          <a:xfrm>
            <a:off x="6157663" y="2688490"/>
            <a:ext cx="5251001" cy="1673352"/>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6084511" y="2775204"/>
            <a:ext cx="73152" cy="992124"/>
          </a:xfrm>
          <a:prstGeom prst="rect">
            <a:avLst/>
          </a:prstGeom>
          <a:solidFill>
            <a:srgbClr val="F26419"/>
          </a:solidFill>
          <a:ln>
            <a:solidFill>
              <a:srgbClr val="F2641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256020" y="2740738"/>
            <a:ext cx="4937759" cy="320040"/>
          </a:xfrm>
          <a:prstGeom prst="rect">
            <a:avLst/>
          </a:prstGeom>
          <a:noFill/>
        </p:spPr>
        <p:txBody>
          <a:bodyPr wrap="square" lIns="64008" tIns="64008" rIns="64008" bIns="64008" anchor="t">
            <a:spAutoFit/>
          </a:bodyPr>
          <a:lstStyle/>
          <a:p>
            <a:pPr algn="l"/>
            <a:r>
              <a:rPr sz="1400" b="1">
                <a:solidFill>
                  <a:srgbClr val="21324A"/>
                </a:solidFill>
                <a:latin typeface="Aptos"/>
              </a:rPr>
              <a:t>What was validated in UI</a:t>
            </a:r>
          </a:p>
        </p:txBody>
      </p:sp>
      <p:sp>
        <p:nvSpPr>
          <p:cNvPr id="46" name="TextBox 45"/>
          <p:cNvSpPr txBox="1"/>
          <p:nvPr/>
        </p:nvSpPr>
        <p:spPr>
          <a:xfrm>
            <a:off x="6470904" y="3038446"/>
            <a:ext cx="4937760" cy="777240"/>
          </a:xfrm>
          <a:prstGeom prst="rect">
            <a:avLst/>
          </a:prstGeom>
          <a:noFill/>
        </p:spPr>
        <p:txBody>
          <a:bodyPr wrap="square" lIns="64008" tIns="64008" rIns="64008" bIns="64008" anchor="t">
            <a:spAutoFit/>
          </a:bodyPr>
          <a:lstStyle/>
          <a:p>
            <a:pPr algn="l"/>
            <a:r>
              <a:rPr sz="1400" b="0" dirty="0">
                <a:solidFill>
                  <a:srgbClr val="1E1E1E"/>
                </a:solidFill>
                <a:latin typeface="Aptos"/>
              </a:rPr>
              <a:t>Screens reviewed included Dashboard, Vision, Goals, My Items, My Movements, My To-Dos, Teams, Team Goals, Team Lists, Team Members and Site Bugs &amp; Requests. Findings were captured where layout, navigation or behavior could impact user experience.</a:t>
            </a:r>
          </a:p>
        </p:txBody>
      </p:sp>
      <p:sp>
        <p:nvSpPr>
          <p:cNvPr id="47" name="Rounded Rectangle 46"/>
          <p:cNvSpPr/>
          <p:nvPr/>
        </p:nvSpPr>
        <p:spPr>
          <a:xfrm>
            <a:off x="6157663" y="4599454"/>
            <a:ext cx="5257800" cy="1348740"/>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6066516" y="4690872"/>
            <a:ext cx="73152" cy="914400"/>
          </a:xfrm>
          <a:prstGeom prst="rect">
            <a:avLst/>
          </a:prstGeom>
          <a:solidFill>
            <a:srgbClr val="1F609A"/>
          </a:solidFill>
          <a:ln>
            <a:solidFill>
              <a:srgbClr val="1F60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351329" y="4828032"/>
            <a:ext cx="4937759" cy="320040"/>
          </a:xfrm>
          <a:prstGeom prst="rect">
            <a:avLst/>
          </a:prstGeom>
          <a:noFill/>
        </p:spPr>
        <p:txBody>
          <a:bodyPr wrap="square" lIns="64008" tIns="64008" rIns="64008" bIns="64008" anchor="t">
            <a:spAutoFit/>
          </a:bodyPr>
          <a:lstStyle/>
          <a:p>
            <a:pPr algn="l"/>
            <a:r>
              <a:rPr sz="1400" b="1">
                <a:solidFill>
                  <a:srgbClr val="21324A"/>
                </a:solidFill>
                <a:latin typeface="Aptos"/>
              </a:rPr>
              <a:t>Opportunity</a:t>
            </a:r>
          </a:p>
        </p:txBody>
      </p:sp>
      <p:sp>
        <p:nvSpPr>
          <p:cNvPr id="50" name="TextBox 49"/>
          <p:cNvSpPr txBox="1"/>
          <p:nvPr/>
        </p:nvSpPr>
        <p:spPr>
          <a:xfrm>
            <a:off x="6309360" y="5212080"/>
            <a:ext cx="4937760" cy="320040"/>
          </a:xfrm>
          <a:prstGeom prst="rect">
            <a:avLst/>
          </a:prstGeom>
          <a:noFill/>
        </p:spPr>
        <p:txBody>
          <a:bodyPr wrap="square" lIns="64008" tIns="64008" rIns="64008" bIns="64008" anchor="t">
            <a:spAutoFit/>
          </a:bodyPr>
          <a:lstStyle/>
          <a:p>
            <a:pPr algn="l"/>
            <a:r>
              <a:rPr sz="1400" b="0">
                <a:solidFill>
                  <a:srgbClr val="1E1E1E"/>
                </a:solidFill>
                <a:latin typeface="Aptos"/>
              </a:rPr>
              <a:t>Analytics are useful for leadership, but the user experience can improve with clearer spacing, consistent navigation and better error handling when linked pages fail.</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420624"/>
          </a:xfrm>
          <a:prstGeom prst="rect">
            <a:avLst/>
          </a:prstGeom>
          <a:solidFill>
            <a:srgbClr val="21324A"/>
          </a:solidFill>
          <a:ln>
            <a:solidFill>
              <a:srgbClr val="21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21199"/>
            <a:ext cx="2377440" cy="437043"/>
          </a:xfrm>
          <a:prstGeom prst="rect">
            <a:avLst/>
          </a:prstGeom>
          <a:noFill/>
        </p:spPr>
        <p:txBody>
          <a:bodyPr wrap="square" lIns="64008" tIns="64008" rIns="64008" bIns="64008" anchor="t">
            <a:spAutoFit/>
          </a:bodyPr>
          <a:lstStyle/>
          <a:p>
            <a:pPr algn="l"/>
            <a:r>
              <a:rPr sz="2000" b="1" dirty="0">
                <a:solidFill>
                  <a:srgbClr val="FFFFFF"/>
                </a:solidFill>
                <a:latin typeface="Aptos"/>
              </a:rPr>
              <a:t>STRENGTHS</a:t>
            </a:r>
          </a:p>
        </p:txBody>
      </p:sp>
      <p:sp>
        <p:nvSpPr>
          <p:cNvPr id="4" name="TextBox 3"/>
          <p:cNvSpPr txBox="1"/>
          <p:nvPr/>
        </p:nvSpPr>
        <p:spPr>
          <a:xfrm>
            <a:off x="11155680" y="100584"/>
            <a:ext cx="731520" cy="228600"/>
          </a:xfrm>
          <a:prstGeom prst="rect">
            <a:avLst/>
          </a:prstGeom>
          <a:noFill/>
        </p:spPr>
        <p:txBody>
          <a:bodyPr wrap="square" lIns="64008" tIns="64008" rIns="64008" bIns="64008" anchor="t">
            <a:spAutoFit/>
          </a:bodyPr>
          <a:lstStyle/>
          <a:p>
            <a:pPr algn="r"/>
            <a:r>
              <a:rPr sz="1400" b="1">
                <a:solidFill>
                  <a:srgbClr val="F26419"/>
                </a:solidFill>
                <a:latin typeface="Aptos"/>
              </a:rPr>
              <a:t>EXL</a:t>
            </a:r>
          </a:p>
        </p:txBody>
      </p:sp>
      <p:sp>
        <p:nvSpPr>
          <p:cNvPr id="5" name="TextBox 4"/>
          <p:cNvSpPr txBox="1"/>
          <p:nvPr/>
        </p:nvSpPr>
        <p:spPr>
          <a:xfrm>
            <a:off x="401633" y="328976"/>
            <a:ext cx="9509760" cy="438912"/>
          </a:xfrm>
          <a:prstGeom prst="rect">
            <a:avLst/>
          </a:prstGeom>
          <a:noFill/>
        </p:spPr>
        <p:txBody>
          <a:bodyPr wrap="square" lIns="64008" tIns="64008" rIns="64008" bIns="64008" anchor="t">
            <a:spAutoFit/>
          </a:bodyPr>
          <a:lstStyle/>
          <a:p>
            <a:pPr algn="l"/>
            <a:r>
              <a:rPr sz="2300" b="1" dirty="0">
                <a:solidFill>
                  <a:srgbClr val="F26419"/>
                </a:solidFill>
                <a:latin typeface="Aptos"/>
              </a:rPr>
              <a:t>Current strengths observed</a:t>
            </a:r>
          </a:p>
        </p:txBody>
      </p:sp>
      <p:sp>
        <p:nvSpPr>
          <p:cNvPr id="6" name="TextBox 5"/>
          <p:cNvSpPr txBox="1"/>
          <p:nvPr/>
        </p:nvSpPr>
        <p:spPr>
          <a:xfrm>
            <a:off x="502920" y="747522"/>
            <a:ext cx="10515600" cy="292608"/>
          </a:xfrm>
          <a:prstGeom prst="rect">
            <a:avLst/>
          </a:prstGeom>
          <a:noFill/>
        </p:spPr>
        <p:txBody>
          <a:bodyPr wrap="square" lIns="64008" tIns="64008" rIns="64008" bIns="64008" anchor="t">
            <a:spAutoFit/>
          </a:bodyPr>
          <a:lstStyle/>
          <a:p>
            <a:pPr algn="l"/>
            <a:r>
              <a:rPr sz="1400" b="0" dirty="0">
                <a:solidFill>
                  <a:srgbClr val="5A5A5A"/>
                </a:solidFill>
                <a:latin typeface="Aptos"/>
              </a:rPr>
              <a:t>The application has a strong foundation for enterprise collaboration, with reusable services, controlled APIs and meaningful business modules.</a:t>
            </a:r>
          </a:p>
        </p:txBody>
      </p:sp>
      <p:sp>
        <p:nvSpPr>
          <p:cNvPr id="7" name="TextBox 6"/>
          <p:cNvSpPr txBox="1"/>
          <p:nvPr/>
        </p:nvSpPr>
        <p:spPr>
          <a:xfrm>
            <a:off x="502920" y="6528816"/>
            <a:ext cx="7772400" cy="201168"/>
          </a:xfrm>
          <a:prstGeom prst="rect">
            <a:avLst/>
          </a:prstGeom>
          <a:noFill/>
        </p:spPr>
        <p:txBody>
          <a:bodyPr wrap="square" lIns="64008" tIns="64008" rIns="64008" bIns="64008" anchor="t">
            <a:spAutoFit/>
          </a:bodyPr>
          <a:lstStyle/>
          <a:p>
            <a:pPr algn="l"/>
            <a:r>
              <a:rPr sz="750" b="0">
                <a:solidFill>
                  <a:srgbClr val="5A5A5A"/>
                </a:solidFill>
                <a:latin typeface="Aptos"/>
              </a:rPr>
              <a:t>EXL – Oakbridge Engagement | Our Understanding of Existing System</a:t>
            </a:r>
          </a:p>
        </p:txBody>
      </p:sp>
      <p:sp>
        <p:nvSpPr>
          <p:cNvPr id="8" name="TextBox 7"/>
          <p:cNvSpPr txBox="1"/>
          <p:nvPr/>
        </p:nvSpPr>
        <p:spPr>
          <a:xfrm>
            <a:off x="11475720" y="6528816"/>
            <a:ext cx="320040" cy="201168"/>
          </a:xfrm>
          <a:prstGeom prst="rect">
            <a:avLst/>
          </a:prstGeom>
          <a:noFill/>
        </p:spPr>
        <p:txBody>
          <a:bodyPr wrap="square" lIns="64008" tIns="64008" rIns="64008" bIns="64008" anchor="t">
            <a:spAutoFit/>
          </a:bodyPr>
          <a:lstStyle/>
          <a:p>
            <a:pPr algn="r"/>
            <a:r>
              <a:rPr sz="750" b="0">
                <a:solidFill>
                  <a:srgbClr val="5A5A5A"/>
                </a:solidFill>
                <a:latin typeface="Aptos"/>
              </a:rPr>
              <a:t>15</a:t>
            </a:r>
          </a:p>
        </p:txBody>
      </p:sp>
      <p:sp>
        <p:nvSpPr>
          <p:cNvPr id="9" name="Rectangle 8"/>
          <p:cNvSpPr/>
          <p:nvPr/>
        </p:nvSpPr>
        <p:spPr>
          <a:xfrm>
            <a:off x="502920" y="1344168"/>
            <a:ext cx="11064240" cy="22860"/>
          </a:xfrm>
          <a:prstGeom prst="rect">
            <a:avLst/>
          </a:prstGeom>
          <a:solidFill>
            <a:srgbClr val="DAE0E6"/>
          </a:solidFill>
          <a:ln>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85800" y="1600200"/>
            <a:ext cx="5166360" cy="1234440"/>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85800" y="1600200"/>
            <a:ext cx="73152" cy="960120"/>
          </a:xfrm>
          <a:prstGeom prst="rect">
            <a:avLst/>
          </a:prstGeom>
          <a:solidFill>
            <a:srgbClr val="F26419"/>
          </a:solidFill>
          <a:ln>
            <a:solidFill>
              <a:srgbClr val="F2641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68680" y="1719072"/>
            <a:ext cx="4846320" cy="320040"/>
          </a:xfrm>
          <a:prstGeom prst="rect">
            <a:avLst/>
          </a:prstGeom>
          <a:noFill/>
        </p:spPr>
        <p:txBody>
          <a:bodyPr wrap="square" lIns="64008" tIns="64008" rIns="64008" bIns="64008" anchor="t">
            <a:spAutoFit/>
          </a:bodyPr>
          <a:lstStyle/>
          <a:p>
            <a:pPr algn="l"/>
            <a:r>
              <a:rPr sz="1400" b="1">
                <a:solidFill>
                  <a:srgbClr val="21324A"/>
                </a:solidFill>
                <a:latin typeface="Aptos"/>
              </a:rPr>
              <a:t>Modular application structure</a:t>
            </a:r>
          </a:p>
        </p:txBody>
      </p:sp>
      <p:sp>
        <p:nvSpPr>
          <p:cNvPr id="13" name="TextBox 12"/>
          <p:cNvSpPr txBox="1"/>
          <p:nvPr/>
        </p:nvSpPr>
        <p:spPr>
          <a:xfrm>
            <a:off x="868680" y="2103120"/>
            <a:ext cx="4846320" cy="365760"/>
          </a:xfrm>
          <a:prstGeom prst="rect">
            <a:avLst/>
          </a:prstGeom>
          <a:noFill/>
        </p:spPr>
        <p:txBody>
          <a:bodyPr wrap="square" lIns="64008" tIns="64008" rIns="64008" bIns="64008" anchor="t">
            <a:spAutoFit/>
          </a:bodyPr>
          <a:lstStyle/>
          <a:p>
            <a:pPr algn="l"/>
            <a:r>
              <a:rPr sz="1400" b="0">
                <a:solidFill>
                  <a:srgbClr val="1E1E1E"/>
                </a:solidFill>
                <a:latin typeface="Aptos"/>
              </a:rPr>
              <a:t>The app is split into pages, components, services, API routes and utility libraries, making ownership easier.</a:t>
            </a:r>
          </a:p>
        </p:txBody>
      </p:sp>
      <p:sp>
        <p:nvSpPr>
          <p:cNvPr id="14" name="Rounded Rectangle 13"/>
          <p:cNvSpPr/>
          <p:nvPr/>
        </p:nvSpPr>
        <p:spPr>
          <a:xfrm>
            <a:off x="6217920" y="1600200"/>
            <a:ext cx="5166360" cy="1234440"/>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217920" y="1600200"/>
            <a:ext cx="73152" cy="960120"/>
          </a:xfrm>
          <a:prstGeom prst="rect">
            <a:avLst/>
          </a:prstGeom>
          <a:solidFill>
            <a:srgbClr val="1F609A"/>
          </a:solidFill>
          <a:ln>
            <a:solidFill>
              <a:srgbClr val="1F60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0" y="1719072"/>
            <a:ext cx="4846320" cy="320040"/>
          </a:xfrm>
          <a:prstGeom prst="rect">
            <a:avLst/>
          </a:prstGeom>
          <a:noFill/>
        </p:spPr>
        <p:txBody>
          <a:bodyPr wrap="square" lIns="64008" tIns="64008" rIns="64008" bIns="64008" anchor="t">
            <a:spAutoFit/>
          </a:bodyPr>
          <a:lstStyle/>
          <a:p>
            <a:pPr algn="l"/>
            <a:r>
              <a:rPr sz="1400" b="1">
                <a:solidFill>
                  <a:srgbClr val="21324A"/>
                </a:solidFill>
                <a:latin typeface="Aptos"/>
              </a:rPr>
              <a:t>Clear API pattern</a:t>
            </a:r>
          </a:p>
        </p:txBody>
      </p:sp>
      <p:sp>
        <p:nvSpPr>
          <p:cNvPr id="17" name="TextBox 16"/>
          <p:cNvSpPr txBox="1"/>
          <p:nvPr/>
        </p:nvSpPr>
        <p:spPr>
          <a:xfrm>
            <a:off x="6400800" y="2103120"/>
            <a:ext cx="4846320" cy="365760"/>
          </a:xfrm>
          <a:prstGeom prst="rect">
            <a:avLst/>
          </a:prstGeom>
          <a:noFill/>
        </p:spPr>
        <p:txBody>
          <a:bodyPr wrap="square" lIns="64008" tIns="64008" rIns="64008" bIns="64008" anchor="t">
            <a:spAutoFit/>
          </a:bodyPr>
          <a:lstStyle/>
          <a:p>
            <a:pPr algn="l"/>
            <a:r>
              <a:rPr sz="1400" b="0">
                <a:solidFill>
                  <a:srgbClr val="1E1E1E"/>
                </a:solidFill>
                <a:latin typeface="Aptos"/>
              </a:rPr>
              <a:t>Most backend routes follow GET/POST/PATCH/DELETE patterns with authentication and error handling.</a:t>
            </a:r>
          </a:p>
        </p:txBody>
      </p:sp>
      <p:sp>
        <p:nvSpPr>
          <p:cNvPr id="18" name="Rounded Rectangle 17"/>
          <p:cNvSpPr/>
          <p:nvPr/>
        </p:nvSpPr>
        <p:spPr>
          <a:xfrm>
            <a:off x="685800" y="2926080"/>
            <a:ext cx="5166360" cy="1225296"/>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85800" y="2926080"/>
            <a:ext cx="73152" cy="960120"/>
          </a:xfrm>
          <a:prstGeom prst="rect">
            <a:avLst/>
          </a:prstGeom>
          <a:solidFill>
            <a:srgbClr val="0097A7"/>
          </a:solidFill>
          <a:ln>
            <a:solidFill>
              <a:srgbClr val="009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68680" y="3044952"/>
            <a:ext cx="4846320" cy="320040"/>
          </a:xfrm>
          <a:prstGeom prst="rect">
            <a:avLst/>
          </a:prstGeom>
          <a:noFill/>
        </p:spPr>
        <p:txBody>
          <a:bodyPr wrap="square" lIns="64008" tIns="64008" rIns="64008" bIns="64008" anchor="t">
            <a:spAutoFit/>
          </a:bodyPr>
          <a:lstStyle/>
          <a:p>
            <a:pPr algn="l"/>
            <a:r>
              <a:rPr sz="1400" b="1">
                <a:solidFill>
                  <a:srgbClr val="21324A"/>
                </a:solidFill>
                <a:latin typeface="Aptos"/>
              </a:rPr>
              <a:t>Role-based governance</a:t>
            </a:r>
          </a:p>
        </p:txBody>
      </p:sp>
      <p:sp>
        <p:nvSpPr>
          <p:cNvPr id="21" name="TextBox 20"/>
          <p:cNvSpPr txBox="1"/>
          <p:nvPr/>
        </p:nvSpPr>
        <p:spPr>
          <a:xfrm>
            <a:off x="868680" y="3429000"/>
            <a:ext cx="4846320" cy="365760"/>
          </a:xfrm>
          <a:prstGeom prst="rect">
            <a:avLst/>
          </a:prstGeom>
          <a:noFill/>
        </p:spPr>
        <p:txBody>
          <a:bodyPr wrap="square" lIns="64008" tIns="64008" rIns="64008" bIns="64008" anchor="t">
            <a:spAutoFit/>
          </a:bodyPr>
          <a:lstStyle/>
          <a:p>
            <a:pPr algn="l"/>
            <a:r>
              <a:rPr sz="1400" b="0">
                <a:solidFill>
                  <a:srgbClr val="1E1E1E"/>
                </a:solidFill>
                <a:latin typeface="Aptos"/>
              </a:rPr>
              <a:t>Team owners/admins, members and system admins are handled through role checks and permission logic.</a:t>
            </a:r>
          </a:p>
        </p:txBody>
      </p:sp>
      <p:sp>
        <p:nvSpPr>
          <p:cNvPr id="22" name="Rounded Rectangle 21"/>
          <p:cNvSpPr/>
          <p:nvPr/>
        </p:nvSpPr>
        <p:spPr>
          <a:xfrm>
            <a:off x="6217920" y="2926080"/>
            <a:ext cx="5166360" cy="1097280"/>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217920" y="2926080"/>
            <a:ext cx="73152" cy="960120"/>
          </a:xfrm>
          <a:prstGeom prst="rect">
            <a:avLst/>
          </a:prstGeom>
          <a:solidFill>
            <a:srgbClr val="724BA8"/>
          </a:solidFill>
          <a:ln>
            <a:solidFill>
              <a:srgbClr val="724B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0" y="3044952"/>
            <a:ext cx="4846320" cy="320040"/>
          </a:xfrm>
          <a:prstGeom prst="rect">
            <a:avLst/>
          </a:prstGeom>
          <a:noFill/>
        </p:spPr>
        <p:txBody>
          <a:bodyPr wrap="square" lIns="64008" tIns="64008" rIns="64008" bIns="64008" anchor="t">
            <a:spAutoFit/>
          </a:bodyPr>
          <a:lstStyle/>
          <a:p>
            <a:pPr algn="l"/>
            <a:r>
              <a:rPr sz="1400" b="1">
                <a:solidFill>
                  <a:srgbClr val="21324A"/>
                </a:solidFill>
                <a:latin typeface="Aptos"/>
              </a:rPr>
              <a:t>Business process coverage</a:t>
            </a:r>
          </a:p>
        </p:txBody>
      </p:sp>
      <p:sp>
        <p:nvSpPr>
          <p:cNvPr id="25" name="TextBox 24"/>
          <p:cNvSpPr txBox="1"/>
          <p:nvPr/>
        </p:nvSpPr>
        <p:spPr>
          <a:xfrm>
            <a:off x="6400800" y="3429000"/>
            <a:ext cx="4846320" cy="365760"/>
          </a:xfrm>
          <a:prstGeom prst="rect">
            <a:avLst/>
          </a:prstGeom>
          <a:noFill/>
        </p:spPr>
        <p:txBody>
          <a:bodyPr wrap="square" lIns="64008" tIns="64008" rIns="64008" bIns="64008" anchor="t">
            <a:spAutoFit/>
          </a:bodyPr>
          <a:lstStyle/>
          <a:p>
            <a:pPr algn="l"/>
            <a:r>
              <a:rPr sz="1400" b="0">
                <a:solidFill>
                  <a:srgbClr val="1E1E1E"/>
                </a:solidFill>
                <a:latin typeface="Aptos"/>
              </a:rPr>
              <a:t>The platform supports strategy, goals, items, relationships, comments, notifications and reporting.</a:t>
            </a:r>
          </a:p>
        </p:txBody>
      </p:sp>
      <p:sp>
        <p:nvSpPr>
          <p:cNvPr id="26" name="Rounded Rectangle 25"/>
          <p:cNvSpPr/>
          <p:nvPr/>
        </p:nvSpPr>
        <p:spPr>
          <a:xfrm>
            <a:off x="685800" y="4251960"/>
            <a:ext cx="5166360" cy="1083564"/>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85800" y="4251960"/>
            <a:ext cx="73152" cy="960120"/>
          </a:xfrm>
          <a:prstGeom prst="rect">
            <a:avLst/>
          </a:prstGeom>
          <a:solidFill>
            <a:srgbClr val="3A9D58"/>
          </a:solidFill>
          <a:ln>
            <a:solidFill>
              <a:srgbClr val="3A9D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68680" y="4370832"/>
            <a:ext cx="4846320" cy="320040"/>
          </a:xfrm>
          <a:prstGeom prst="rect">
            <a:avLst/>
          </a:prstGeom>
          <a:noFill/>
        </p:spPr>
        <p:txBody>
          <a:bodyPr wrap="square" lIns="64008" tIns="64008" rIns="64008" bIns="64008" anchor="t">
            <a:spAutoFit/>
          </a:bodyPr>
          <a:lstStyle/>
          <a:p>
            <a:pPr algn="l"/>
            <a:r>
              <a:rPr sz="1400" b="1">
                <a:solidFill>
                  <a:srgbClr val="21324A"/>
                </a:solidFill>
                <a:latin typeface="Aptos"/>
              </a:rPr>
              <a:t>Traceability</a:t>
            </a:r>
          </a:p>
        </p:txBody>
      </p:sp>
      <p:sp>
        <p:nvSpPr>
          <p:cNvPr id="29" name="TextBox 28"/>
          <p:cNvSpPr txBox="1"/>
          <p:nvPr/>
        </p:nvSpPr>
        <p:spPr>
          <a:xfrm>
            <a:off x="868680" y="4754880"/>
            <a:ext cx="4846320" cy="365760"/>
          </a:xfrm>
          <a:prstGeom prst="rect">
            <a:avLst/>
          </a:prstGeom>
          <a:noFill/>
        </p:spPr>
        <p:txBody>
          <a:bodyPr wrap="square" lIns="64008" tIns="64008" rIns="64008" bIns="64008" anchor="t">
            <a:spAutoFit/>
          </a:bodyPr>
          <a:lstStyle/>
          <a:p>
            <a:pPr algn="l"/>
            <a:r>
              <a:rPr sz="1400" b="0">
                <a:solidFill>
                  <a:srgbClr val="1E1E1E"/>
                </a:solidFill>
                <a:latin typeface="Aptos"/>
              </a:rPr>
              <a:t>Request IDs, audit logs, comments and field history provide support for debugging and compliance.</a:t>
            </a:r>
          </a:p>
        </p:txBody>
      </p:sp>
      <p:sp>
        <p:nvSpPr>
          <p:cNvPr id="30" name="Rounded Rectangle 29"/>
          <p:cNvSpPr/>
          <p:nvPr/>
        </p:nvSpPr>
        <p:spPr>
          <a:xfrm>
            <a:off x="6217920" y="4251960"/>
            <a:ext cx="5105400" cy="1179576"/>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217920" y="4251960"/>
            <a:ext cx="73152" cy="960120"/>
          </a:xfrm>
          <a:prstGeom prst="rect">
            <a:avLst/>
          </a:prstGeom>
          <a:solidFill>
            <a:srgbClr val="21324A"/>
          </a:solidFill>
          <a:ln>
            <a:solidFill>
              <a:srgbClr val="21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00800" y="4370832"/>
            <a:ext cx="4846320" cy="320040"/>
          </a:xfrm>
          <a:prstGeom prst="rect">
            <a:avLst/>
          </a:prstGeom>
          <a:noFill/>
        </p:spPr>
        <p:txBody>
          <a:bodyPr wrap="square" lIns="64008" tIns="64008" rIns="64008" bIns="64008" anchor="t">
            <a:spAutoFit/>
          </a:bodyPr>
          <a:lstStyle/>
          <a:p>
            <a:pPr algn="l"/>
            <a:r>
              <a:rPr sz="1400" b="1">
                <a:solidFill>
                  <a:srgbClr val="21324A"/>
                </a:solidFill>
                <a:latin typeface="Aptos"/>
              </a:rPr>
              <a:t>Client-value potential</a:t>
            </a:r>
          </a:p>
        </p:txBody>
      </p:sp>
      <p:sp>
        <p:nvSpPr>
          <p:cNvPr id="33" name="TextBox 32"/>
          <p:cNvSpPr txBox="1"/>
          <p:nvPr/>
        </p:nvSpPr>
        <p:spPr>
          <a:xfrm>
            <a:off x="6400800" y="4754880"/>
            <a:ext cx="4846320" cy="365760"/>
          </a:xfrm>
          <a:prstGeom prst="rect">
            <a:avLst/>
          </a:prstGeom>
          <a:noFill/>
        </p:spPr>
        <p:txBody>
          <a:bodyPr wrap="square" lIns="64008" tIns="64008" rIns="64008" bIns="64008" anchor="t">
            <a:spAutoFit/>
          </a:bodyPr>
          <a:lstStyle/>
          <a:p>
            <a:pPr algn="l"/>
            <a:r>
              <a:rPr sz="1400" b="0">
                <a:solidFill>
                  <a:srgbClr val="1E1E1E"/>
                </a:solidFill>
                <a:latin typeface="Aptos"/>
              </a:rPr>
              <a:t>The system can become a single operating hub for leadership visibility and team execution.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420624"/>
          </a:xfrm>
          <a:prstGeom prst="rect">
            <a:avLst/>
          </a:prstGeom>
          <a:solidFill>
            <a:srgbClr val="21324A"/>
          </a:solidFill>
          <a:ln>
            <a:solidFill>
              <a:srgbClr val="21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9561"/>
            <a:ext cx="2377440" cy="437043"/>
          </a:xfrm>
          <a:prstGeom prst="rect">
            <a:avLst/>
          </a:prstGeom>
          <a:noFill/>
        </p:spPr>
        <p:txBody>
          <a:bodyPr wrap="square" lIns="64008" tIns="64008" rIns="64008" bIns="64008" anchor="t">
            <a:spAutoFit/>
          </a:bodyPr>
          <a:lstStyle/>
          <a:p>
            <a:pPr algn="l"/>
            <a:r>
              <a:rPr sz="2000" b="1" dirty="0">
                <a:solidFill>
                  <a:srgbClr val="FFFFFF"/>
                </a:solidFill>
                <a:latin typeface="Aptos"/>
              </a:rPr>
              <a:t>CHALLENGES</a:t>
            </a:r>
          </a:p>
        </p:txBody>
      </p:sp>
      <p:sp>
        <p:nvSpPr>
          <p:cNvPr id="4" name="TextBox 3"/>
          <p:cNvSpPr txBox="1"/>
          <p:nvPr/>
        </p:nvSpPr>
        <p:spPr>
          <a:xfrm>
            <a:off x="11155680" y="100584"/>
            <a:ext cx="731520" cy="228600"/>
          </a:xfrm>
          <a:prstGeom prst="rect">
            <a:avLst/>
          </a:prstGeom>
          <a:noFill/>
        </p:spPr>
        <p:txBody>
          <a:bodyPr wrap="square" lIns="64008" tIns="64008" rIns="64008" bIns="64008" anchor="t">
            <a:spAutoFit/>
          </a:bodyPr>
          <a:lstStyle/>
          <a:p>
            <a:pPr algn="r"/>
            <a:r>
              <a:rPr sz="1400" b="1">
                <a:solidFill>
                  <a:srgbClr val="F26419"/>
                </a:solidFill>
                <a:latin typeface="Aptos"/>
              </a:rPr>
              <a:t>EXL</a:t>
            </a:r>
          </a:p>
        </p:txBody>
      </p:sp>
      <p:sp>
        <p:nvSpPr>
          <p:cNvPr id="5" name="TextBox 4"/>
          <p:cNvSpPr txBox="1"/>
          <p:nvPr/>
        </p:nvSpPr>
        <p:spPr>
          <a:xfrm>
            <a:off x="384048" y="365760"/>
            <a:ext cx="9509760" cy="438912"/>
          </a:xfrm>
          <a:prstGeom prst="rect">
            <a:avLst/>
          </a:prstGeom>
          <a:noFill/>
        </p:spPr>
        <p:txBody>
          <a:bodyPr wrap="square" lIns="64008" tIns="64008" rIns="64008" bIns="64008" anchor="t">
            <a:spAutoFit/>
          </a:bodyPr>
          <a:lstStyle/>
          <a:p>
            <a:pPr algn="l"/>
            <a:r>
              <a:rPr sz="2300" b="1" dirty="0">
                <a:solidFill>
                  <a:srgbClr val="F26419"/>
                </a:solidFill>
                <a:latin typeface="Aptos"/>
              </a:rPr>
              <a:t>Challenges and observations from testing</a:t>
            </a:r>
          </a:p>
        </p:txBody>
      </p:sp>
      <p:sp>
        <p:nvSpPr>
          <p:cNvPr id="6" name="TextBox 5"/>
          <p:cNvSpPr txBox="1"/>
          <p:nvPr/>
        </p:nvSpPr>
        <p:spPr>
          <a:xfrm>
            <a:off x="521207" y="1024128"/>
            <a:ext cx="10515600" cy="292608"/>
          </a:xfrm>
          <a:prstGeom prst="rect">
            <a:avLst/>
          </a:prstGeom>
          <a:noFill/>
        </p:spPr>
        <p:txBody>
          <a:bodyPr wrap="square" lIns="64008" tIns="64008" rIns="64008" bIns="64008" anchor="t">
            <a:spAutoFit/>
          </a:bodyPr>
          <a:lstStyle/>
          <a:p>
            <a:pPr algn="l"/>
            <a:r>
              <a:rPr sz="1400" b="0">
                <a:solidFill>
                  <a:srgbClr val="5A5A5A"/>
                </a:solidFill>
                <a:latin typeface="Aptos"/>
              </a:rPr>
              <a:t>The testing and code review surfaced areas where user experience, navigation and maintainability can be improved.</a:t>
            </a:r>
          </a:p>
        </p:txBody>
      </p:sp>
      <p:sp>
        <p:nvSpPr>
          <p:cNvPr id="7" name="TextBox 6"/>
          <p:cNvSpPr txBox="1"/>
          <p:nvPr/>
        </p:nvSpPr>
        <p:spPr>
          <a:xfrm>
            <a:off x="502920" y="6528816"/>
            <a:ext cx="7772400" cy="201168"/>
          </a:xfrm>
          <a:prstGeom prst="rect">
            <a:avLst/>
          </a:prstGeom>
          <a:noFill/>
        </p:spPr>
        <p:txBody>
          <a:bodyPr wrap="square" lIns="64008" tIns="64008" rIns="64008" bIns="64008" anchor="t">
            <a:spAutoFit/>
          </a:bodyPr>
          <a:lstStyle/>
          <a:p>
            <a:pPr algn="l"/>
            <a:r>
              <a:rPr sz="750" b="0">
                <a:solidFill>
                  <a:srgbClr val="5A5A5A"/>
                </a:solidFill>
                <a:latin typeface="Aptos"/>
              </a:rPr>
              <a:t>EXL – Oakbridge Engagement | Our Understanding of Existing System</a:t>
            </a:r>
          </a:p>
        </p:txBody>
      </p:sp>
      <p:sp>
        <p:nvSpPr>
          <p:cNvPr id="8" name="TextBox 7"/>
          <p:cNvSpPr txBox="1"/>
          <p:nvPr/>
        </p:nvSpPr>
        <p:spPr>
          <a:xfrm>
            <a:off x="11475720" y="6528816"/>
            <a:ext cx="320040" cy="201168"/>
          </a:xfrm>
          <a:prstGeom prst="rect">
            <a:avLst/>
          </a:prstGeom>
          <a:noFill/>
        </p:spPr>
        <p:txBody>
          <a:bodyPr wrap="square" lIns="64008" tIns="64008" rIns="64008" bIns="64008" anchor="t">
            <a:spAutoFit/>
          </a:bodyPr>
          <a:lstStyle/>
          <a:p>
            <a:pPr algn="r"/>
            <a:r>
              <a:rPr sz="750" b="0">
                <a:solidFill>
                  <a:srgbClr val="5A5A5A"/>
                </a:solidFill>
                <a:latin typeface="Aptos"/>
              </a:rPr>
              <a:t>16</a:t>
            </a:r>
          </a:p>
        </p:txBody>
      </p:sp>
      <p:sp>
        <p:nvSpPr>
          <p:cNvPr id="9" name="Rectangle 8"/>
          <p:cNvSpPr/>
          <p:nvPr/>
        </p:nvSpPr>
        <p:spPr>
          <a:xfrm>
            <a:off x="502920" y="1344168"/>
            <a:ext cx="11064240" cy="22860"/>
          </a:xfrm>
          <a:prstGeom prst="rect">
            <a:avLst/>
          </a:prstGeom>
          <a:solidFill>
            <a:srgbClr val="DAE0E6"/>
          </a:solidFill>
          <a:ln>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85800" y="1600200"/>
            <a:ext cx="5166360" cy="1083564"/>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85800" y="1600200"/>
            <a:ext cx="73152" cy="960120"/>
          </a:xfrm>
          <a:prstGeom prst="rect">
            <a:avLst/>
          </a:prstGeom>
          <a:solidFill>
            <a:srgbClr val="F26419"/>
          </a:solidFill>
          <a:ln>
            <a:solidFill>
              <a:srgbClr val="F2641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68680" y="1719072"/>
            <a:ext cx="4846320" cy="320040"/>
          </a:xfrm>
          <a:prstGeom prst="rect">
            <a:avLst/>
          </a:prstGeom>
          <a:noFill/>
        </p:spPr>
        <p:txBody>
          <a:bodyPr wrap="square" lIns="64008" tIns="64008" rIns="64008" bIns="64008" anchor="t">
            <a:spAutoFit/>
          </a:bodyPr>
          <a:lstStyle/>
          <a:p>
            <a:pPr algn="l"/>
            <a:r>
              <a:rPr sz="1400" b="1">
                <a:solidFill>
                  <a:srgbClr val="21324A"/>
                </a:solidFill>
                <a:latin typeface="Aptos"/>
              </a:rPr>
              <a:t>UI layout compression</a:t>
            </a:r>
          </a:p>
        </p:txBody>
      </p:sp>
      <p:sp>
        <p:nvSpPr>
          <p:cNvPr id="13" name="TextBox 12"/>
          <p:cNvSpPr txBox="1"/>
          <p:nvPr/>
        </p:nvSpPr>
        <p:spPr>
          <a:xfrm>
            <a:off x="868680" y="2103120"/>
            <a:ext cx="4846320" cy="365760"/>
          </a:xfrm>
          <a:prstGeom prst="rect">
            <a:avLst/>
          </a:prstGeom>
          <a:noFill/>
        </p:spPr>
        <p:txBody>
          <a:bodyPr wrap="square" lIns="64008" tIns="64008" rIns="64008" bIns="64008" anchor="t">
            <a:spAutoFit/>
          </a:bodyPr>
          <a:lstStyle/>
          <a:p>
            <a:pPr algn="l"/>
            <a:r>
              <a:rPr sz="1400" b="0">
                <a:solidFill>
                  <a:srgbClr val="1E1E1E"/>
                </a:solidFill>
                <a:latin typeface="Aptos"/>
              </a:rPr>
              <a:t>Some screens have unused whitespace while tables are compressed, making content harder to read and navigate.</a:t>
            </a:r>
          </a:p>
        </p:txBody>
      </p:sp>
      <p:sp>
        <p:nvSpPr>
          <p:cNvPr id="14" name="Rounded Rectangle 13"/>
          <p:cNvSpPr/>
          <p:nvPr/>
        </p:nvSpPr>
        <p:spPr>
          <a:xfrm>
            <a:off x="6217920" y="1600200"/>
            <a:ext cx="5166360" cy="1197864"/>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217920" y="1600200"/>
            <a:ext cx="73152" cy="960120"/>
          </a:xfrm>
          <a:prstGeom prst="rect">
            <a:avLst/>
          </a:prstGeom>
          <a:solidFill>
            <a:srgbClr val="1F609A"/>
          </a:solidFill>
          <a:ln>
            <a:solidFill>
              <a:srgbClr val="1F60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0" y="1719072"/>
            <a:ext cx="4846320" cy="320040"/>
          </a:xfrm>
          <a:prstGeom prst="rect">
            <a:avLst/>
          </a:prstGeom>
          <a:noFill/>
        </p:spPr>
        <p:txBody>
          <a:bodyPr wrap="square" lIns="64008" tIns="64008" rIns="64008" bIns="64008" anchor="t">
            <a:spAutoFit/>
          </a:bodyPr>
          <a:lstStyle/>
          <a:p>
            <a:pPr algn="l"/>
            <a:r>
              <a:rPr sz="1400" b="1">
                <a:solidFill>
                  <a:srgbClr val="21324A"/>
                </a:solidFill>
                <a:latin typeface="Aptos"/>
              </a:rPr>
              <a:t>Horizontal scrolling</a:t>
            </a:r>
          </a:p>
        </p:txBody>
      </p:sp>
      <p:sp>
        <p:nvSpPr>
          <p:cNvPr id="17" name="TextBox 16"/>
          <p:cNvSpPr txBox="1"/>
          <p:nvPr/>
        </p:nvSpPr>
        <p:spPr>
          <a:xfrm>
            <a:off x="6400800" y="2103120"/>
            <a:ext cx="4846320" cy="365760"/>
          </a:xfrm>
          <a:prstGeom prst="rect">
            <a:avLst/>
          </a:prstGeom>
          <a:noFill/>
        </p:spPr>
        <p:txBody>
          <a:bodyPr wrap="square" lIns="64008" tIns="64008" rIns="64008" bIns="64008" anchor="t">
            <a:spAutoFit/>
          </a:bodyPr>
          <a:lstStyle/>
          <a:p>
            <a:pPr algn="l"/>
            <a:r>
              <a:rPr sz="1400" b="0">
                <a:solidFill>
                  <a:srgbClr val="1E1E1E"/>
                </a:solidFill>
                <a:latin typeface="Aptos"/>
              </a:rPr>
              <a:t>Several tables require both vertical and horizontal scrolling, reducing usability for business users.</a:t>
            </a:r>
          </a:p>
        </p:txBody>
      </p:sp>
      <p:sp>
        <p:nvSpPr>
          <p:cNvPr id="18" name="Rounded Rectangle 17"/>
          <p:cNvSpPr/>
          <p:nvPr/>
        </p:nvSpPr>
        <p:spPr>
          <a:xfrm>
            <a:off x="685800" y="2926080"/>
            <a:ext cx="5166360" cy="1110996"/>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85800" y="2926080"/>
            <a:ext cx="73152" cy="960120"/>
          </a:xfrm>
          <a:prstGeom prst="rect">
            <a:avLst/>
          </a:prstGeom>
          <a:solidFill>
            <a:srgbClr val="F26419"/>
          </a:solidFill>
          <a:ln>
            <a:solidFill>
              <a:srgbClr val="F2641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68680" y="3044952"/>
            <a:ext cx="4846320" cy="320040"/>
          </a:xfrm>
          <a:prstGeom prst="rect">
            <a:avLst/>
          </a:prstGeom>
          <a:noFill/>
        </p:spPr>
        <p:txBody>
          <a:bodyPr wrap="square" lIns="64008" tIns="64008" rIns="64008" bIns="64008" anchor="t">
            <a:spAutoFit/>
          </a:bodyPr>
          <a:lstStyle/>
          <a:p>
            <a:pPr algn="l"/>
            <a:r>
              <a:rPr sz="1400" b="1">
                <a:solidFill>
                  <a:srgbClr val="21324A"/>
                </a:solidFill>
                <a:latin typeface="Aptos"/>
              </a:rPr>
              <a:t>Navigation failure</a:t>
            </a:r>
          </a:p>
        </p:txBody>
      </p:sp>
      <p:sp>
        <p:nvSpPr>
          <p:cNvPr id="21" name="TextBox 20"/>
          <p:cNvSpPr txBox="1"/>
          <p:nvPr/>
        </p:nvSpPr>
        <p:spPr>
          <a:xfrm>
            <a:off x="868680" y="3429000"/>
            <a:ext cx="4846320" cy="365760"/>
          </a:xfrm>
          <a:prstGeom prst="rect">
            <a:avLst/>
          </a:prstGeom>
          <a:noFill/>
        </p:spPr>
        <p:txBody>
          <a:bodyPr wrap="square" lIns="64008" tIns="64008" rIns="64008" bIns="64008" anchor="t">
            <a:spAutoFit/>
          </a:bodyPr>
          <a:lstStyle/>
          <a:p>
            <a:pPr algn="l"/>
            <a:r>
              <a:rPr sz="1400" b="0">
                <a:solidFill>
                  <a:srgbClr val="1E1E1E"/>
                </a:solidFill>
                <a:latin typeface="Aptos"/>
              </a:rPr>
              <a:t>Certain view-list navigation can lead to 404, which breaks user flow and should be handled gracefully.</a:t>
            </a:r>
          </a:p>
        </p:txBody>
      </p:sp>
      <p:sp>
        <p:nvSpPr>
          <p:cNvPr id="22" name="Rounded Rectangle 21"/>
          <p:cNvSpPr/>
          <p:nvPr/>
        </p:nvSpPr>
        <p:spPr>
          <a:xfrm>
            <a:off x="6217920" y="2926080"/>
            <a:ext cx="5166360" cy="1110996"/>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217920" y="2926080"/>
            <a:ext cx="73152" cy="960120"/>
          </a:xfrm>
          <a:prstGeom prst="rect">
            <a:avLst/>
          </a:prstGeom>
          <a:solidFill>
            <a:srgbClr val="F26419"/>
          </a:solidFill>
          <a:ln>
            <a:solidFill>
              <a:srgbClr val="F2641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0" y="3044952"/>
            <a:ext cx="4846320" cy="320040"/>
          </a:xfrm>
          <a:prstGeom prst="rect">
            <a:avLst/>
          </a:prstGeom>
          <a:noFill/>
        </p:spPr>
        <p:txBody>
          <a:bodyPr wrap="square" lIns="64008" tIns="64008" rIns="64008" bIns="64008" anchor="t">
            <a:spAutoFit/>
          </a:bodyPr>
          <a:lstStyle/>
          <a:p>
            <a:pPr algn="l"/>
            <a:r>
              <a:rPr sz="1400" b="1">
                <a:solidFill>
                  <a:srgbClr val="21324A"/>
                </a:solidFill>
                <a:latin typeface="Aptos"/>
              </a:rPr>
              <a:t>Dropdown visibility</a:t>
            </a:r>
          </a:p>
        </p:txBody>
      </p:sp>
      <p:sp>
        <p:nvSpPr>
          <p:cNvPr id="25" name="TextBox 24"/>
          <p:cNvSpPr txBox="1"/>
          <p:nvPr/>
        </p:nvSpPr>
        <p:spPr>
          <a:xfrm>
            <a:off x="6400800" y="3429000"/>
            <a:ext cx="4846320" cy="365760"/>
          </a:xfrm>
          <a:prstGeom prst="rect">
            <a:avLst/>
          </a:prstGeom>
          <a:noFill/>
        </p:spPr>
        <p:txBody>
          <a:bodyPr wrap="square" lIns="64008" tIns="64008" rIns="64008" bIns="64008" anchor="t">
            <a:spAutoFit/>
          </a:bodyPr>
          <a:lstStyle/>
          <a:p>
            <a:pPr algn="l"/>
            <a:r>
              <a:rPr sz="1400" b="0">
                <a:solidFill>
                  <a:srgbClr val="1E1E1E"/>
                </a:solidFill>
                <a:latin typeface="Aptos"/>
              </a:rPr>
              <a:t>Some dropdowns or labels appear outside containers or are partially hidden due to layout boundaries.</a:t>
            </a:r>
          </a:p>
        </p:txBody>
      </p:sp>
      <p:sp>
        <p:nvSpPr>
          <p:cNvPr id="26" name="Rounded Rectangle 25"/>
          <p:cNvSpPr/>
          <p:nvPr/>
        </p:nvSpPr>
        <p:spPr>
          <a:xfrm>
            <a:off x="685800" y="4251960"/>
            <a:ext cx="5093208" cy="1083564"/>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85800" y="4251960"/>
            <a:ext cx="73152" cy="960120"/>
          </a:xfrm>
          <a:prstGeom prst="rect">
            <a:avLst/>
          </a:prstGeom>
          <a:solidFill>
            <a:srgbClr val="1F609A"/>
          </a:solidFill>
          <a:ln>
            <a:solidFill>
              <a:srgbClr val="1F60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68680" y="4370832"/>
            <a:ext cx="4846320" cy="320040"/>
          </a:xfrm>
          <a:prstGeom prst="rect">
            <a:avLst/>
          </a:prstGeom>
          <a:noFill/>
        </p:spPr>
        <p:txBody>
          <a:bodyPr wrap="square" lIns="64008" tIns="64008" rIns="64008" bIns="64008" anchor="t">
            <a:spAutoFit/>
          </a:bodyPr>
          <a:lstStyle/>
          <a:p>
            <a:pPr algn="l"/>
            <a:r>
              <a:rPr sz="1400" b="1">
                <a:solidFill>
                  <a:srgbClr val="21324A"/>
                </a:solidFill>
                <a:latin typeface="Aptos"/>
              </a:rPr>
              <a:t>Large service/API surface</a:t>
            </a:r>
          </a:p>
        </p:txBody>
      </p:sp>
      <p:sp>
        <p:nvSpPr>
          <p:cNvPr id="29" name="TextBox 28"/>
          <p:cNvSpPr txBox="1"/>
          <p:nvPr/>
        </p:nvSpPr>
        <p:spPr>
          <a:xfrm>
            <a:off x="845820" y="4594860"/>
            <a:ext cx="4846320" cy="365760"/>
          </a:xfrm>
          <a:prstGeom prst="rect">
            <a:avLst/>
          </a:prstGeom>
          <a:noFill/>
        </p:spPr>
        <p:txBody>
          <a:bodyPr wrap="square" lIns="64008" tIns="64008" rIns="64008" bIns="64008" anchor="t">
            <a:spAutoFit/>
          </a:bodyPr>
          <a:lstStyle/>
          <a:p>
            <a:pPr algn="l"/>
            <a:r>
              <a:rPr sz="1400" b="0">
                <a:solidFill>
                  <a:srgbClr val="1E1E1E"/>
                </a:solidFill>
                <a:latin typeface="Aptos"/>
              </a:rPr>
              <a:t>DataService and route.ts files contain many responsibilities, which increases debugging effort.</a:t>
            </a:r>
          </a:p>
        </p:txBody>
      </p:sp>
      <p:sp>
        <p:nvSpPr>
          <p:cNvPr id="30" name="Rounded Rectangle 29"/>
          <p:cNvSpPr/>
          <p:nvPr/>
        </p:nvSpPr>
        <p:spPr>
          <a:xfrm>
            <a:off x="6217920" y="4251960"/>
            <a:ext cx="5166360" cy="1110996"/>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217920" y="4251960"/>
            <a:ext cx="73152" cy="960120"/>
          </a:xfrm>
          <a:prstGeom prst="rect">
            <a:avLst/>
          </a:prstGeom>
          <a:solidFill>
            <a:srgbClr val="1F609A"/>
          </a:solidFill>
          <a:ln>
            <a:solidFill>
              <a:srgbClr val="1F60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00800" y="4370832"/>
            <a:ext cx="4846320" cy="320040"/>
          </a:xfrm>
          <a:prstGeom prst="rect">
            <a:avLst/>
          </a:prstGeom>
          <a:noFill/>
        </p:spPr>
        <p:txBody>
          <a:bodyPr wrap="square" lIns="64008" tIns="64008" rIns="64008" bIns="64008" anchor="t">
            <a:spAutoFit/>
          </a:bodyPr>
          <a:lstStyle/>
          <a:p>
            <a:pPr algn="l"/>
            <a:r>
              <a:rPr sz="1400" b="1">
                <a:solidFill>
                  <a:srgbClr val="21324A"/>
                </a:solidFill>
                <a:latin typeface="Aptos"/>
              </a:rPr>
              <a:t>Documentation gap</a:t>
            </a:r>
          </a:p>
        </p:txBody>
      </p:sp>
      <p:sp>
        <p:nvSpPr>
          <p:cNvPr id="33" name="TextBox 32"/>
          <p:cNvSpPr txBox="1"/>
          <p:nvPr/>
        </p:nvSpPr>
        <p:spPr>
          <a:xfrm>
            <a:off x="6400800" y="4754880"/>
            <a:ext cx="4846320" cy="365760"/>
          </a:xfrm>
          <a:prstGeom prst="rect">
            <a:avLst/>
          </a:prstGeom>
          <a:noFill/>
        </p:spPr>
        <p:txBody>
          <a:bodyPr wrap="square" lIns="64008" tIns="64008" rIns="64008" bIns="64008" anchor="t">
            <a:spAutoFit/>
          </a:bodyPr>
          <a:lstStyle/>
          <a:p>
            <a:pPr algn="l"/>
            <a:r>
              <a:rPr sz="1400" b="0">
                <a:solidFill>
                  <a:srgbClr val="1E1E1E"/>
                </a:solidFill>
                <a:latin typeface="Aptos"/>
              </a:rPr>
              <a:t>Setup, package run commands, data flow and API behavior need clearer developer/testing documentation.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420624"/>
          </a:xfrm>
          <a:prstGeom prst="rect">
            <a:avLst/>
          </a:prstGeom>
          <a:solidFill>
            <a:srgbClr val="21324A"/>
          </a:solidFill>
          <a:ln>
            <a:solidFill>
              <a:srgbClr val="21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22508"/>
            <a:ext cx="2809318" cy="437043"/>
          </a:xfrm>
          <a:prstGeom prst="rect">
            <a:avLst/>
          </a:prstGeom>
          <a:noFill/>
        </p:spPr>
        <p:txBody>
          <a:bodyPr wrap="square" lIns="64008" tIns="64008" rIns="64008" bIns="64008" anchor="t">
            <a:spAutoFit/>
          </a:bodyPr>
          <a:lstStyle/>
          <a:p>
            <a:pPr algn="l"/>
            <a:r>
              <a:rPr sz="2000" b="1" dirty="0">
                <a:solidFill>
                  <a:srgbClr val="FFFFFF"/>
                </a:solidFill>
                <a:latin typeface="Aptos"/>
              </a:rPr>
              <a:t>RECOMMENDATIONS</a:t>
            </a:r>
          </a:p>
        </p:txBody>
      </p:sp>
      <p:sp>
        <p:nvSpPr>
          <p:cNvPr id="4" name="TextBox 3"/>
          <p:cNvSpPr txBox="1"/>
          <p:nvPr/>
        </p:nvSpPr>
        <p:spPr>
          <a:xfrm>
            <a:off x="11155680" y="100584"/>
            <a:ext cx="731520" cy="228600"/>
          </a:xfrm>
          <a:prstGeom prst="rect">
            <a:avLst/>
          </a:prstGeom>
          <a:noFill/>
        </p:spPr>
        <p:txBody>
          <a:bodyPr wrap="square" lIns="64008" tIns="64008" rIns="64008" bIns="64008" anchor="t">
            <a:spAutoFit/>
          </a:bodyPr>
          <a:lstStyle/>
          <a:p>
            <a:pPr algn="r"/>
            <a:r>
              <a:rPr sz="1400" b="1">
                <a:solidFill>
                  <a:srgbClr val="F26419"/>
                </a:solidFill>
                <a:latin typeface="Aptos"/>
              </a:rPr>
              <a:t>EXL</a:t>
            </a:r>
          </a:p>
        </p:txBody>
      </p:sp>
      <p:sp>
        <p:nvSpPr>
          <p:cNvPr id="5" name="TextBox 4"/>
          <p:cNvSpPr txBox="1"/>
          <p:nvPr/>
        </p:nvSpPr>
        <p:spPr>
          <a:xfrm>
            <a:off x="502920" y="356615"/>
            <a:ext cx="9509760" cy="438912"/>
          </a:xfrm>
          <a:prstGeom prst="rect">
            <a:avLst/>
          </a:prstGeom>
          <a:noFill/>
        </p:spPr>
        <p:txBody>
          <a:bodyPr wrap="square" lIns="64008" tIns="64008" rIns="64008" bIns="64008" anchor="t">
            <a:spAutoFit/>
          </a:bodyPr>
          <a:lstStyle/>
          <a:p>
            <a:pPr algn="l"/>
            <a:r>
              <a:rPr sz="2300" b="1" dirty="0">
                <a:solidFill>
                  <a:srgbClr val="F26419"/>
                </a:solidFill>
                <a:latin typeface="Aptos"/>
              </a:rPr>
              <a:t>Recommended improvement roadmap</a:t>
            </a:r>
          </a:p>
        </p:txBody>
      </p:sp>
      <p:sp>
        <p:nvSpPr>
          <p:cNvPr id="6" name="TextBox 5"/>
          <p:cNvSpPr txBox="1"/>
          <p:nvPr/>
        </p:nvSpPr>
        <p:spPr>
          <a:xfrm>
            <a:off x="521207" y="1024128"/>
            <a:ext cx="10515600" cy="292608"/>
          </a:xfrm>
          <a:prstGeom prst="rect">
            <a:avLst/>
          </a:prstGeom>
          <a:noFill/>
        </p:spPr>
        <p:txBody>
          <a:bodyPr wrap="square" lIns="64008" tIns="64008" rIns="64008" bIns="64008" anchor="t">
            <a:spAutoFit/>
          </a:bodyPr>
          <a:lstStyle/>
          <a:p>
            <a:pPr algn="l"/>
            <a:r>
              <a:rPr sz="1400" b="0">
                <a:solidFill>
                  <a:srgbClr val="5A5A5A"/>
                </a:solidFill>
                <a:latin typeface="Aptos"/>
              </a:rPr>
              <a:t>Recommended actions are grouped into quick wins, stabilization items and medium-term enhancements.</a:t>
            </a:r>
          </a:p>
        </p:txBody>
      </p:sp>
      <p:sp>
        <p:nvSpPr>
          <p:cNvPr id="7" name="TextBox 6"/>
          <p:cNvSpPr txBox="1"/>
          <p:nvPr/>
        </p:nvSpPr>
        <p:spPr>
          <a:xfrm>
            <a:off x="502920" y="6528816"/>
            <a:ext cx="7772400" cy="201168"/>
          </a:xfrm>
          <a:prstGeom prst="rect">
            <a:avLst/>
          </a:prstGeom>
          <a:noFill/>
        </p:spPr>
        <p:txBody>
          <a:bodyPr wrap="square" lIns="64008" tIns="64008" rIns="64008" bIns="64008" anchor="t">
            <a:spAutoFit/>
          </a:bodyPr>
          <a:lstStyle/>
          <a:p>
            <a:pPr algn="l"/>
            <a:r>
              <a:rPr sz="750" b="0">
                <a:solidFill>
                  <a:srgbClr val="5A5A5A"/>
                </a:solidFill>
                <a:latin typeface="Aptos"/>
              </a:rPr>
              <a:t>EXL – Oakbridge Engagement | Our Understanding of Existing System</a:t>
            </a:r>
          </a:p>
        </p:txBody>
      </p:sp>
      <p:sp>
        <p:nvSpPr>
          <p:cNvPr id="8" name="TextBox 7"/>
          <p:cNvSpPr txBox="1"/>
          <p:nvPr/>
        </p:nvSpPr>
        <p:spPr>
          <a:xfrm>
            <a:off x="11475720" y="6528816"/>
            <a:ext cx="320040" cy="201168"/>
          </a:xfrm>
          <a:prstGeom prst="rect">
            <a:avLst/>
          </a:prstGeom>
          <a:noFill/>
        </p:spPr>
        <p:txBody>
          <a:bodyPr wrap="square" lIns="64008" tIns="64008" rIns="64008" bIns="64008" anchor="t">
            <a:spAutoFit/>
          </a:bodyPr>
          <a:lstStyle/>
          <a:p>
            <a:pPr algn="r"/>
            <a:r>
              <a:rPr sz="750" b="0">
                <a:solidFill>
                  <a:srgbClr val="5A5A5A"/>
                </a:solidFill>
                <a:latin typeface="Aptos"/>
              </a:rPr>
              <a:t>17</a:t>
            </a:r>
          </a:p>
        </p:txBody>
      </p:sp>
      <p:sp>
        <p:nvSpPr>
          <p:cNvPr id="9" name="Rectangle 8"/>
          <p:cNvSpPr/>
          <p:nvPr/>
        </p:nvSpPr>
        <p:spPr>
          <a:xfrm>
            <a:off x="502920" y="1344168"/>
            <a:ext cx="11064240" cy="22860"/>
          </a:xfrm>
          <a:prstGeom prst="rect">
            <a:avLst/>
          </a:prstGeom>
          <a:solidFill>
            <a:srgbClr val="DAE0E6"/>
          </a:solidFill>
          <a:ln>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85800" y="1691640"/>
            <a:ext cx="3337560" cy="3566160"/>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85800" y="1691640"/>
            <a:ext cx="45719" cy="2688336"/>
          </a:xfrm>
          <a:prstGeom prst="rect">
            <a:avLst/>
          </a:prstGeom>
          <a:solidFill>
            <a:srgbClr val="F26419"/>
          </a:solidFill>
          <a:ln>
            <a:solidFill>
              <a:srgbClr val="F2641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68680" y="1810512"/>
            <a:ext cx="3017520" cy="320040"/>
          </a:xfrm>
          <a:prstGeom prst="rect">
            <a:avLst/>
          </a:prstGeom>
          <a:noFill/>
        </p:spPr>
        <p:txBody>
          <a:bodyPr wrap="square" lIns="64008" tIns="64008" rIns="64008" bIns="64008" anchor="t">
            <a:spAutoFit/>
          </a:bodyPr>
          <a:lstStyle/>
          <a:p>
            <a:pPr algn="l"/>
            <a:r>
              <a:rPr sz="1400" b="1">
                <a:solidFill>
                  <a:srgbClr val="21324A"/>
                </a:solidFill>
                <a:latin typeface="Aptos"/>
              </a:rPr>
              <a:t>Quick wins</a:t>
            </a:r>
          </a:p>
        </p:txBody>
      </p:sp>
      <p:sp>
        <p:nvSpPr>
          <p:cNvPr id="13" name="TextBox 12"/>
          <p:cNvSpPr txBox="1"/>
          <p:nvPr/>
        </p:nvSpPr>
        <p:spPr>
          <a:xfrm>
            <a:off x="868680" y="2194560"/>
            <a:ext cx="3017520" cy="2971800"/>
          </a:xfrm>
          <a:prstGeom prst="rect">
            <a:avLst/>
          </a:prstGeom>
          <a:noFill/>
        </p:spPr>
        <p:txBody>
          <a:bodyPr wrap="square" lIns="64008" tIns="64008" rIns="64008" bIns="64008" anchor="t">
            <a:spAutoFit/>
          </a:bodyPr>
          <a:lstStyle/>
          <a:p>
            <a:pPr algn="l"/>
            <a:r>
              <a:rPr sz="1400" b="0">
                <a:solidFill>
                  <a:srgbClr val="1E1E1E"/>
                </a:solidFill>
                <a:latin typeface="Aptos"/>
              </a:rPr>
              <a:t>• Fix layout overflow and dropdown clipping.</a:t>
            </a:r>
          </a:p>
          <a:p>
            <a:pPr algn="l"/>
            <a:r>
              <a:rPr sz="1400" b="0">
                <a:solidFill>
                  <a:srgbClr val="1E1E1E"/>
                </a:solidFill>
                <a:latin typeface="Aptos"/>
              </a:rPr>
              <a:t>• Improve 404 handling and redirect user to safe page.</a:t>
            </a:r>
          </a:p>
          <a:p>
            <a:pPr algn="l"/>
            <a:r>
              <a:rPr sz="1400" b="0">
                <a:solidFill>
                  <a:srgbClr val="1E1E1E"/>
                </a:solidFill>
                <a:latin typeface="Aptos"/>
              </a:rPr>
              <a:t>• Standardize empty-state messages.</a:t>
            </a:r>
          </a:p>
          <a:p>
            <a:pPr algn="l"/>
            <a:r>
              <a:rPr sz="1400" b="0">
                <a:solidFill>
                  <a:srgbClr val="1E1E1E"/>
                </a:solidFill>
                <a:latin typeface="Aptos"/>
              </a:rPr>
              <a:t>• Add setup/run instructions for testers.</a:t>
            </a:r>
          </a:p>
        </p:txBody>
      </p:sp>
      <p:sp>
        <p:nvSpPr>
          <p:cNvPr id="14" name="Rounded Rectangle 13"/>
          <p:cNvSpPr/>
          <p:nvPr/>
        </p:nvSpPr>
        <p:spPr>
          <a:xfrm>
            <a:off x="4389120" y="1691640"/>
            <a:ext cx="3337560" cy="3566160"/>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389120" y="1691640"/>
            <a:ext cx="45719" cy="2688336"/>
          </a:xfrm>
          <a:prstGeom prst="rect">
            <a:avLst/>
          </a:prstGeom>
          <a:solidFill>
            <a:srgbClr val="1F609A"/>
          </a:solidFill>
          <a:ln>
            <a:solidFill>
              <a:srgbClr val="1F60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0" y="1810512"/>
            <a:ext cx="3017520" cy="320040"/>
          </a:xfrm>
          <a:prstGeom prst="rect">
            <a:avLst/>
          </a:prstGeom>
          <a:noFill/>
        </p:spPr>
        <p:txBody>
          <a:bodyPr wrap="square" lIns="64008" tIns="64008" rIns="64008" bIns="64008" anchor="t">
            <a:spAutoFit/>
          </a:bodyPr>
          <a:lstStyle/>
          <a:p>
            <a:pPr algn="l"/>
            <a:r>
              <a:rPr sz="1400" b="1">
                <a:solidFill>
                  <a:srgbClr val="21324A"/>
                </a:solidFill>
                <a:latin typeface="Aptos"/>
              </a:rPr>
              <a:t>Stabilization</a:t>
            </a:r>
          </a:p>
        </p:txBody>
      </p:sp>
      <p:sp>
        <p:nvSpPr>
          <p:cNvPr id="17" name="TextBox 16"/>
          <p:cNvSpPr txBox="1"/>
          <p:nvPr/>
        </p:nvSpPr>
        <p:spPr>
          <a:xfrm>
            <a:off x="4572000" y="2194560"/>
            <a:ext cx="3017520" cy="2971800"/>
          </a:xfrm>
          <a:prstGeom prst="rect">
            <a:avLst/>
          </a:prstGeom>
          <a:noFill/>
        </p:spPr>
        <p:txBody>
          <a:bodyPr wrap="square" lIns="64008" tIns="64008" rIns="64008" bIns="64008" anchor="t">
            <a:spAutoFit/>
          </a:bodyPr>
          <a:lstStyle/>
          <a:p>
            <a:pPr algn="l"/>
            <a:r>
              <a:rPr sz="1400" b="0">
                <a:solidFill>
                  <a:srgbClr val="1E1E1E"/>
                </a:solidFill>
                <a:latin typeface="Aptos"/>
              </a:rPr>
              <a:t>• Review DataService responsibilities and split by domain.</a:t>
            </a:r>
          </a:p>
          <a:p>
            <a:pPr algn="l"/>
            <a:r>
              <a:rPr sz="1400" b="0">
                <a:solidFill>
                  <a:srgbClr val="1E1E1E"/>
                </a:solidFill>
                <a:latin typeface="Aptos"/>
              </a:rPr>
              <a:t>• Document API request/response contracts.</a:t>
            </a:r>
          </a:p>
          <a:p>
            <a:pPr algn="l"/>
            <a:r>
              <a:rPr sz="1400" b="0">
                <a:solidFill>
                  <a:srgbClr val="1E1E1E"/>
                </a:solidFill>
                <a:latin typeface="Aptos"/>
              </a:rPr>
              <a:t>• Add consistent loading and error states.</a:t>
            </a:r>
          </a:p>
          <a:p>
            <a:pPr algn="l"/>
            <a:r>
              <a:rPr sz="1400" b="0">
                <a:solidFill>
                  <a:srgbClr val="1E1E1E"/>
                </a:solidFill>
                <a:latin typeface="Aptos"/>
              </a:rPr>
              <a:t>• Validate permissions across team/member flows.</a:t>
            </a:r>
          </a:p>
        </p:txBody>
      </p:sp>
      <p:sp>
        <p:nvSpPr>
          <p:cNvPr id="18" name="Rounded Rectangle 17"/>
          <p:cNvSpPr/>
          <p:nvPr/>
        </p:nvSpPr>
        <p:spPr>
          <a:xfrm>
            <a:off x="8092440" y="1691640"/>
            <a:ext cx="3337560" cy="3566160"/>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92440" y="1691640"/>
            <a:ext cx="45719" cy="2688336"/>
          </a:xfrm>
          <a:prstGeom prst="rect">
            <a:avLst/>
          </a:prstGeom>
          <a:solidFill>
            <a:srgbClr val="0097A7"/>
          </a:solidFill>
          <a:ln>
            <a:solidFill>
              <a:srgbClr val="009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75319" y="1810512"/>
            <a:ext cx="3017520" cy="320040"/>
          </a:xfrm>
          <a:prstGeom prst="rect">
            <a:avLst/>
          </a:prstGeom>
          <a:noFill/>
        </p:spPr>
        <p:txBody>
          <a:bodyPr wrap="square" lIns="64008" tIns="64008" rIns="64008" bIns="64008" anchor="t">
            <a:spAutoFit/>
          </a:bodyPr>
          <a:lstStyle/>
          <a:p>
            <a:pPr algn="l"/>
            <a:r>
              <a:rPr sz="1400" b="1">
                <a:solidFill>
                  <a:srgbClr val="21324A"/>
                </a:solidFill>
                <a:latin typeface="Aptos"/>
              </a:rPr>
              <a:t>Enhancement</a:t>
            </a:r>
          </a:p>
        </p:txBody>
      </p:sp>
      <p:sp>
        <p:nvSpPr>
          <p:cNvPr id="21" name="TextBox 20"/>
          <p:cNvSpPr txBox="1"/>
          <p:nvPr/>
        </p:nvSpPr>
        <p:spPr>
          <a:xfrm>
            <a:off x="8275319" y="2194560"/>
            <a:ext cx="3017520" cy="2971800"/>
          </a:xfrm>
          <a:prstGeom prst="rect">
            <a:avLst/>
          </a:prstGeom>
          <a:noFill/>
        </p:spPr>
        <p:txBody>
          <a:bodyPr wrap="square" lIns="64008" tIns="64008" rIns="64008" bIns="64008" anchor="t">
            <a:spAutoFit/>
          </a:bodyPr>
          <a:lstStyle/>
          <a:p>
            <a:pPr algn="l"/>
            <a:r>
              <a:rPr sz="1400" b="0">
                <a:solidFill>
                  <a:srgbClr val="1E1E1E"/>
                </a:solidFill>
                <a:latin typeface="Aptos"/>
              </a:rPr>
              <a:t>• Improve dashboard/table responsiveness.</a:t>
            </a:r>
          </a:p>
          <a:p>
            <a:pPr algn="l"/>
            <a:r>
              <a:rPr sz="1400" b="0">
                <a:solidFill>
                  <a:srgbClr val="1E1E1E"/>
                </a:solidFill>
                <a:latin typeface="Aptos"/>
              </a:rPr>
              <a:t>• Add client-friendly system documentation.</a:t>
            </a:r>
          </a:p>
          <a:p>
            <a:pPr algn="l"/>
            <a:r>
              <a:rPr sz="1400" b="0">
                <a:solidFill>
                  <a:srgbClr val="1E1E1E"/>
                </a:solidFill>
                <a:latin typeface="Aptos"/>
              </a:rPr>
              <a:t>• Add observability around API failures.</a:t>
            </a:r>
          </a:p>
          <a:p>
            <a:pPr algn="l"/>
            <a:r>
              <a:rPr sz="1400" b="0">
                <a:solidFill>
                  <a:srgbClr val="1E1E1E"/>
                </a:solidFill>
                <a:latin typeface="Aptos"/>
              </a:rPr>
              <a:t>• Create test cases for critical workflows.</a:t>
            </a:r>
          </a:p>
        </p:txBody>
      </p:sp>
      <p:sp>
        <p:nvSpPr>
          <p:cNvPr id="22" name="Rounded Rectangle 21"/>
          <p:cNvSpPr/>
          <p:nvPr/>
        </p:nvSpPr>
        <p:spPr>
          <a:xfrm>
            <a:off x="685800" y="5532120"/>
            <a:ext cx="10744200" cy="996696"/>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85800" y="5532120"/>
            <a:ext cx="73152" cy="640080"/>
          </a:xfrm>
          <a:prstGeom prst="rect">
            <a:avLst/>
          </a:prstGeom>
          <a:solidFill>
            <a:srgbClr val="F26419"/>
          </a:solidFill>
          <a:ln>
            <a:solidFill>
              <a:srgbClr val="F2641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68680" y="5650992"/>
            <a:ext cx="10424160" cy="320040"/>
          </a:xfrm>
          <a:prstGeom prst="rect">
            <a:avLst/>
          </a:prstGeom>
          <a:noFill/>
        </p:spPr>
        <p:txBody>
          <a:bodyPr wrap="square" lIns="64008" tIns="64008" rIns="64008" bIns="64008" anchor="t">
            <a:spAutoFit/>
          </a:bodyPr>
          <a:lstStyle/>
          <a:p>
            <a:pPr algn="l"/>
            <a:r>
              <a:rPr sz="1400" b="1">
                <a:solidFill>
                  <a:srgbClr val="21324A"/>
                </a:solidFill>
                <a:latin typeface="Aptos"/>
              </a:rPr>
              <a:t>Expected outcome</a:t>
            </a:r>
          </a:p>
        </p:txBody>
      </p:sp>
      <p:sp>
        <p:nvSpPr>
          <p:cNvPr id="25" name="TextBox 24"/>
          <p:cNvSpPr txBox="1"/>
          <p:nvPr/>
        </p:nvSpPr>
        <p:spPr>
          <a:xfrm>
            <a:off x="868680" y="6035040"/>
            <a:ext cx="10424160" cy="45719"/>
          </a:xfrm>
          <a:prstGeom prst="rect">
            <a:avLst/>
          </a:prstGeom>
          <a:noFill/>
        </p:spPr>
        <p:txBody>
          <a:bodyPr wrap="square" lIns="64008" tIns="64008" rIns="64008" bIns="64008" anchor="t">
            <a:spAutoFit/>
          </a:bodyPr>
          <a:lstStyle/>
          <a:p>
            <a:pPr algn="l"/>
            <a:r>
              <a:rPr sz="1400" b="0">
                <a:solidFill>
                  <a:srgbClr val="1E1E1E"/>
                </a:solidFill>
                <a:latin typeface="Aptos"/>
              </a:rPr>
              <a:t>These improvements will make the system more reliable for users, easier to support for developers and easier to explain to business stakeholders during client discussions.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420624"/>
          </a:xfrm>
          <a:prstGeom prst="rect">
            <a:avLst/>
          </a:prstGeom>
          <a:solidFill>
            <a:srgbClr val="21324A"/>
          </a:solidFill>
          <a:ln>
            <a:solidFill>
              <a:srgbClr val="21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18872"/>
            <a:ext cx="2377440" cy="437043"/>
          </a:xfrm>
          <a:prstGeom prst="rect">
            <a:avLst/>
          </a:prstGeom>
          <a:noFill/>
        </p:spPr>
        <p:txBody>
          <a:bodyPr wrap="square" lIns="64008" tIns="64008" rIns="64008" bIns="64008" anchor="t">
            <a:spAutoFit/>
          </a:bodyPr>
          <a:lstStyle/>
          <a:p>
            <a:pPr algn="l"/>
            <a:r>
              <a:rPr sz="2000" b="1" dirty="0">
                <a:solidFill>
                  <a:srgbClr val="FFFFFF"/>
                </a:solidFill>
                <a:latin typeface="Aptos"/>
              </a:rPr>
              <a:t>TESTING</a:t>
            </a:r>
          </a:p>
        </p:txBody>
      </p:sp>
      <p:sp>
        <p:nvSpPr>
          <p:cNvPr id="4" name="TextBox 3"/>
          <p:cNvSpPr txBox="1"/>
          <p:nvPr/>
        </p:nvSpPr>
        <p:spPr>
          <a:xfrm>
            <a:off x="11155680" y="100584"/>
            <a:ext cx="731520" cy="228600"/>
          </a:xfrm>
          <a:prstGeom prst="rect">
            <a:avLst/>
          </a:prstGeom>
          <a:noFill/>
        </p:spPr>
        <p:txBody>
          <a:bodyPr wrap="square" lIns="64008" tIns="64008" rIns="64008" bIns="64008" anchor="t">
            <a:spAutoFit/>
          </a:bodyPr>
          <a:lstStyle/>
          <a:p>
            <a:pPr algn="r"/>
            <a:r>
              <a:rPr sz="1400" b="1">
                <a:solidFill>
                  <a:srgbClr val="F26419"/>
                </a:solidFill>
                <a:latin typeface="Aptos"/>
              </a:rPr>
              <a:t>EXL</a:t>
            </a:r>
          </a:p>
        </p:txBody>
      </p:sp>
      <p:sp>
        <p:nvSpPr>
          <p:cNvPr id="5" name="TextBox 4"/>
          <p:cNvSpPr txBox="1"/>
          <p:nvPr/>
        </p:nvSpPr>
        <p:spPr>
          <a:xfrm>
            <a:off x="502920" y="425195"/>
            <a:ext cx="9509760" cy="438912"/>
          </a:xfrm>
          <a:prstGeom prst="rect">
            <a:avLst/>
          </a:prstGeom>
          <a:noFill/>
        </p:spPr>
        <p:txBody>
          <a:bodyPr wrap="square" lIns="64008" tIns="64008" rIns="64008" bIns="64008" anchor="t">
            <a:spAutoFit/>
          </a:bodyPr>
          <a:lstStyle/>
          <a:p>
            <a:pPr algn="l"/>
            <a:r>
              <a:rPr sz="2300" b="1" dirty="0">
                <a:solidFill>
                  <a:srgbClr val="F26419"/>
                </a:solidFill>
                <a:latin typeface="Aptos"/>
              </a:rPr>
              <a:t>Testing approach and coverage summary</a:t>
            </a:r>
          </a:p>
        </p:txBody>
      </p:sp>
      <p:sp>
        <p:nvSpPr>
          <p:cNvPr id="6" name="TextBox 5"/>
          <p:cNvSpPr txBox="1"/>
          <p:nvPr/>
        </p:nvSpPr>
        <p:spPr>
          <a:xfrm>
            <a:off x="521207" y="1024128"/>
            <a:ext cx="10515600" cy="292608"/>
          </a:xfrm>
          <a:prstGeom prst="rect">
            <a:avLst/>
          </a:prstGeom>
          <a:noFill/>
        </p:spPr>
        <p:txBody>
          <a:bodyPr wrap="square" lIns="64008" tIns="64008" rIns="64008" bIns="64008" anchor="t">
            <a:spAutoFit/>
          </a:bodyPr>
          <a:lstStyle/>
          <a:p>
            <a:pPr algn="l"/>
            <a:r>
              <a:rPr sz="1400" b="0">
                <a:solidFill>
                  <a:srgbClr val="5A5A5A"/>
                </a:solidFill>
                <a:latin typeface="Aptos"/>
              </a:rPr>
              <a:t>Testing should demonstrate not only bugs but also system understanding: how the app runs, how screens connect and how data flows.</a:t>
            </a:r>
          </a:p>
        </p:txBody>
      </p:sp>
      <p:sp>
        <p:nvSpPr>
          <p:cNvPr id="7" name="TextBox 6"/>
          <p:cNvSpPr txBox="1"/>
          <p:nvPr/>
        </p:nvSpPr>
        <p:spPr>
          <a:xfrm>
            <a:off x="502920" y="6528816"/>
            <a:ext cx="7772400" cy="201168"/>
          </a:xfrm>
          <a:prstGeom prst="rect">
            <a:avLst/>
          </a:prstGeom>
          <a:noFill/>
        </p:spPr>
        <p:txBody>
          <a:bodyPr wrap="square" lIns="64008" tIns="64008" rIns="64008" bIns="64008" anchor="t">
            <a:spAutoFit/>
          </a:bodyPr>
          <a:lstStyle/>
          <a:p>
            <a:pPr algn="l"/>
            <a:r>
              <a:rPr sz="750" b="0">
                <a:solidFill>
                  <a:srgbClr val="5A5A5A"/>
                </a:solidFill>
                <a:latin typeface="Aptos"/>
              </a:rPr>
              <a:t>EXL – Oakbridge Engagement | Our Understanding of Existing System</a:t>
            </a:r>
          </a:p>
        </p:txBody>
      </p:sp>
      <p:sp>
        <p:nvSpPr>
          <p:cNvPr id="8" name="TextBox 7"/>
          <p:cNvSpPr txBox="1"/>
          <p:nvPr/>
        </p:nvSpPr>
        <p:spPr>
          <a:xfrm>
            <a:off x="11475720" y="6528816"/>
            <a:ext cx="320040" cy="201168"/>
          </a:xfrm>
          <a:prstGeom prst="rect">
            <a:avLst/>
          </a:prstGeom>
          <a:noFill/>
        </p:spPr>
        <p:txBody>
          <a:bodyPr wrap="square" lIns="64008" tIns="64008" rIns="64008" bIns="64008" anchor="t">
            <a:spAutoFit/>
          </a:bodyPr>
          <a:lstStyle/>
          <a:p>
            <a:pPr algn="r"/>
            <a:r>
              <a:rPr sz="750" b="0">
                <a:solidFill>
                  <a:srgbClr val="5A5A5A"/>
                </a:solidFill>
                <a:latin typeface="Aptos"/>
              </a:rPr>
              <a:t>18</a:t>
            </a:r>
          </a:p>
        </p:txBody>
      </p:sp>
      <p:sp>
        <p:nvSpPr>
          <p:cNvPr id="9" name="Rectangle 8"/>
          <p:cNvSpPr/>
          <p:nvPr/>
        </p:nvSpPr>
        <p:spPr>
          <a:xfrm>
            <a:off x="502920" y="1344168"/>
            <a:ext cx="11064240" cy="22860"/>
          </a:xfrm>
          <a:prstGeom prst="rect">
            <a:avLst/>
          </a:prstGeom>
          <a:solidFill>
            <a:srgbClr val="DAE0E6"/>
          </a:solidFill>
          <a:ln>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777240" y="1645920"/>
            <a:ext cx="320040" cy="320040"/>
          </a:xfrm>
          <a:prstGeom prst="ellipse">
            <a:avLst/>
          </a:prstGeom>
          <a:solidFill>
            <a:srgbClr val="F26419"/>
          </a:solidFill>
          <a:ln>
            <a:solidFill>
              <a:srgbClr val="F2641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rPr sz="1400"/>
              <a:t>1</a:t>
            </a:r>
          </a:p>
        </p:txBody>
      </p:sp>
      <p:sp>
        <p:nvSpPr>
          <p:cNvPr id="11" name="TextBox 10"/>
          <p:cNvSpPr txBox="1"/>
          <p:nvPr/>
        </p:nvSpPr>
        <p:spPr>
          <a:xfrm>
            <a:off x="1188720" y="1600200"/>
            <a:ext cx="9784080" cy="201168"/>
          </a:xfrm>
          <a:prstGeom prst="rect">
            <a:avLst/>
          </a:prstGeom>
          <a:noFill/>
        </p:spPr>
        <p:txBody>
          <a:bodyPr wrap="square" lIns="64008" tIns="64008" rIns="64008" bIns="64008" anchor="t">
            <a:spAutoFit/>
          </a:bodyPr>
          <a:lstStyle/>
          <a:p>
            <a:pPr algn="l"/>
            <a:r>
              <a:rPr sz="1400" b="1">
                <a:solidFill>
                  <a:srgbClr val="21324A"/>
                </a:solidFill>
                <a:latin typeface="Aptos"/>
              </a:rPr>
              <a:t>1. Setup and run</a:t>
            </a:r>
          </a:p>
        </p:txBody>
      </p:sp>
      <p:sp>
        <p:nvSpPr>
          <p:cNvPr id="12" name="TextBox 11"/>
          <p:cNvSpPr txBox="1"/>
          <p:nvPr/>
        </p:nvSpPr>
        <p:spPr>
          <a:xfrm>
            <a:off x="1188720" y="1801368"/>
            <a:ext cx="9784080" cy="548640"/>
          </a:xfrm>
          <a:prstGeom prst="rect">
            <a:avLst/>
          </a:prstGeom>
          <a:noFill/>
        </p:spPr>
        <p:txBody>
          <a:bodyPr wrap="square" lIns="64008" tIns="64008" rIns="64008" bIns="64008" anchor="t">
            <a:spAutoFit/>
          </a:bodyPr>
          <a:lstStyle/>
          <a:p>
            <a:pPr algn="l"/>
            <a:r>
              <a:rPr sz="1400" b="0">
                <a:solidFill>
                  <a:srgbClr val="1E1E1E"/>
                </a:solidFill>
                <a:latin typeface="Aptos"/>
              </a:rPr>
              <a:t>Open repository, identify app package, run local application and confirm environment variables and Supabase connectivity.</a:t>
            </a:r>
          </a:p>
        </p:txBody>
      </p:sp>
      <p:sp>
        <p:nvSpPr>
          <p:cNvPr id="13" name="Oval 12"/>
          <p:cNvSpPr/>
          <p:nvPr/>
        </p:nvSpPr>
        <p:spPr>
          <a:xfrm>
            <a:off x="777240" y="2414015"/>
            <a:ext cx="320040" cy="320040"/>
          </a:xfrm>
          <a:prstGeom prst="ellipse">
            <a:avLst/>
          </a:prstGeom>
          <a:solidFill>
            <a:srgbClr val="F26419"/>
          </a:solidFill>
          <a:ln>
            <a:solidFill>
              <a:srgbClr val="F2641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rPr sz="1400"/>
              <a:t>2</a:t>
            </a:r>
          </a:p>
        </p:txBody>
      </p:sp>
      <p:sp>
        <p:nvSpPr>
          <p:cNvPr id="14" name="TextBox 13"/>
          <p:cNvSpPr txBox="1"/>
          <p:nvPr/>
        </p:nvSpPr>
        <p:spPr>
          <a:xfrm>
            <a:off x="1188720" y="2368296"/>
            <a:ext cx="9784080" cy="201168"/>
          </a:xfrm>
          <a:prstGeom prst="rect">
            <a:avLst/>
          </a:prstGeom>
          <a:noFill/>
        </p:spPr>
        <p:txBody>
          <a:bodyPr wrap="square" lIns="64008" tIns="64008" rIns="64008" bIns="64008" anchor="t">
            <a:spAutoFit/>
          </a:bodyPr>
          <a:lstStyle/>
          <a:p>
            <a:pPr algn="l"/>
            <a:r>
              <a:rPr sz="1400" b="1">
                <a:solidFill>
                  <a:srgbClr val="21324A"/>
                </a:solidFill>
                <a:latin typeface="Aptos"/>
              </a:rPr>
              <a:t>2. Navigation testing</a:t>
            </a:r>
          </a:p>
        </p:txBody>
      </p:sp>
      <p:sp>
        <p:nvSpPr>
          <p:cNvPr id="15" name="TextBox 14"/>
          <p:cNvSpPr txBox="1"/>
          <p:nvPr/>
        </p:nvSpPr>
        <p:spPr>
          <a:xfrm>
            <a:off x="1188720" y="2569464"/>
            <a:ext cx="9784080" cy="548640"/>
          </a:xfrm>
          <a:prstGeom prst="rect">
            <a:avLst/>
          </a:prstGeom>
          <a:noFill/>
        </p:spPr>
        <p:txBody>
          <a:bodyPr wrap="square" lIns="64008" tIns="64008" rIns="64008" bIns="64008" anchor="t">
            <a:spAutoFit/>
          </a:bodyPr>
          <a:lstStyle/>
          <a:p>
            <a:pPr algn="l"/>
            <a:r>
              <a:rPr sz="1400" b="0">
                <a:solidFill>
                  <a:srgbClr val="1E1E1E"/>
                </a:solidFill>
                <a:latin typeface="Aptos"/>
              </a:rPr>
              <a:t>Move from Dashboard to Vision, Goals, My Items, Teams and Shared to validate page availability and layout stability.</a:t>
            </a:r>
          </a:p>
        </p:txBody>
      </p:sp>
      <p:sp>
        <p:nvSpPr>
          <p:cNvPr id="16" name="Oval 15"/>
          <p:cNvSpPr/>
          <p:nvPr/>
        </p:nvSpPr>
        <p:spPr>
          <a:xfrm>
            <a:off x="777240" y="3182112"/>
            <a:ext cx="320040" cy="320040"/>
          </a:xfrm>
          <a:prstGeom prst="ellipse">
            <a:avLst/>
          </a:prstGeom>
          <a:solidFill>
            <a:srgbClr val="F26419"/>
          </a:solidFill>
          <a:ln>
            <a:solidFill>
              <a:srgbClr val="F2641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rPr sz="1400"/>
              <a:t>3</a:t>
            </a:r>
          </a:p>
        </p:txBody>
      </p:sp>
      <p:sp>
        <p:nvSpPr>
          <p:cNvPr id="17" name="TextBox 16"/>
          <p:cNvSpPr txBox="1"/>
          <p:nvPr/>
        </p:nvSpPr>
        <p:spPr>
          <a:xfrm>
            <a:off x="1188720" y="3136392"/>
            <a:ext cx="9784080" cy="201168"/>
          </a:xfrm>
          <a:prstGeom prst="rect">
            <a:avLst/>
          </a:prstGeom>
          <a:noFill/>
        </p:spPr>
        <p:txBody>
          <a:bodyPr wrap="square" lIns="64008" tIns="64008" rIns="64008" bIns="64008" anchor="t">
            <a:spAutoFit/>
          </a:bodyPr>
          <a:lstStyle/>
          <a:p>
            <a:pPr algn="l"/>
            <a:r>
              <a:rPr sz="1400" b="1">
                <a:solidFill>
                  <a:srgbClr val="21324A"/>
                </a:solidFill>
                <a:latin typeface="Aptos"/>
              </a:rPr>
              <a:t>3. Functional testing</a:t>
            </a:r>
          </a:p>
        </p:txBody>
      </p:sp>
      <p:sp>
        <p:nvSpPr>
          <p:cNvPr id="18" name="TextBox 17"/>
          <p:cNvSpPr txBox="1"/>
          <p:nvPr/>
        </p:nvSpPr>
        <p:spPr>
          <a:xfrm>
            <a:off x="1188720" y="3337560"/>
            <a:ext cx="9784080" cy="548640"/>
          </a:xfrm>
          <a:prstGeom prst="rect">
            <a:avLst/>
          </a:prstGeom>
          <a:noFill/>
        </p:spPr>
        <p:txBody>
          <a:bodyPr wrap="square" lIns="64008" tIns="64008" rIns="64008" bIns="64008" anchor="t">
            <a:spAutoFit/>
          </a:bodyPr>
          <a:lstStyle/>
          <a:p>
            <a:pPr algn="l"/>
            <a:r>
              <a:rPr sz="1400" b="0">
                <a:solidFill>
                  <a:srgbClr val="1E1E1E"/>
                </a:solidFill>
                <a:latin typeface="Aptos"/>
              </a:rPr>
              <a:t>Create/update/view items, goals, comments, team members, lists and movements where permissions allow.</a:t>
            </a:r>
          </a:p>
        </p:txBody>
      </p:sp>
      <p:sp>
        <p:nvSpPr>
          <p:cNvPr id="19" name="Oval 18"/>
          <p:cNvSpPr/>
          <p:nvPr/>
        </p:nvSpPr>
        <p:spPr>
          <a:xfrm>
            <a:off x="777240" y="3950208"/>
            <a:ext cx="320040" cy="320040"/>
          </a:xfrm>
          <a:prstGeom prst="ellipse">
            <a:avLst/>
          </a:prstGeom>
          <a:solidFill>
            <a:srgbClr val="F26419"/>
          </a:solidFill>
          <a:ln>
            <a:solidFill>
              <a:srgbClr val="F2641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rPr sz="1400"/>
              <a:t>4</a:t>
            </a:r>
          </a:p>
        </p:txBody>
      </p:sp>
      <p:sp>
        <p:nvSpPr>
          <p:cNvPr id="20" name="TextBox 19"/>
          <p:cNvSpPr txBox="1"/>
          <p:nvPr/>
        </p:nvSpPr>
        <p:spPr>
          <a:xfrm>
            <a:off x="1188720" y="3904488"/>
            <a:ext cx="9784080" cy="201168"/>
          </a:xfrm>
          <a:prstGeom prst="rect">
            <a:avLst/>
          </a:prstGeom>
          <a:noFill/>
        </p:spPr>
        <p:txBody>
          <a:bodyPr wrap="square" lIns="64008" tIns="64008" rIns="64008" bIns="64008" anchor="t">
            <a:spAutoFit/>
          </a:bodyPr>
          <a:lstStyle/>
          <a:p>
            <a:pPr algn="l"/>
            <a:r>
              <a:rPr sz="1400" b="1">
                <a:solidFill>
                  <a:srgbClr val="21324A"/>
                </a:solidFill>
                <a:latin typeface="Aptos"/>
              </a:rPr>
              <a:t>4. Backend/API testing</a:t>
            </a:r>
          </a:p>
        </p:txBody>
      </p:sp>
      <p:sp>
        <p:nvSpPr>
          <p:cNvPr id="21" name="TextBox 20"/>
          <p:cNvSpPr txBox="1"/>
          <p:nvPr/>
        </p:nvSpPr>
        <p:spPr>
          <a:xfrm>
            <a:off x="1188720" y="4105656"/>
            <a:ext cx="9784080" cy="548640"/>
          </a:xfrm>
          <a:prstGeom prst="rect">
            <a:avLst/>
          </a:prstGeom>
          <a:noFill/>
        </p:spPr>
        <p:txBody>
          <a:bodyPr wrap="square" lIns="64008" tIns="64008" rIns="64008" bIns="64008" anchor="t">
            <a:spAutoFit/>
          </a:bodyPr>
          <a:lstStyle/>
          <a:p>
            <a:pPr algn="l"/>
            <a:r>
              <a:rPr sz="1400" b="0">
                <a:solidFill>
                  <a:srgbClr val="1E1E1E"/>
                </a:solidFill>
                <a:latin typeface="Aptos"/>
              </a:rPr>
              <a:t>Trace UI actions to DataService and route.ts handlers; verify auth, validation and error behavior.</a:t>
            </a:r>
          </a:p>
        </p:txBody>
      </p:sp>
      <p:sp>
        <p:nvSpPr>
          <p:cNvPr id="22" name="Oval 21"/>
          <p:cNvSpPr/>
          <p:nvPr/>
        </p:nvSpPr>
        <p:spPr>
          <a:xfrm>
            <a:off x="777240" y="4718304"/>
            <a:ext cx="320040" cy="320040"/>
          </a:xfrm>
          <a:prstGeom prst="ellipse">
            <a:avLst/>
          </a:prstGeom>
          <a:solidFill>
            <a:srgbClr val="F26419"/>
          </a:solidFill>
          <a:ln>
            <a:solidFill>
              <a:srgbClr val="F2641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rPr sz="1400"/>
              <a:t>5</a:t>
            </a:r>
          </a:p>
        </p:txBody>
      </p:sp>
      <p:sp>
        <p:nvSpPr>
          <p:cNvPr id="23" name="TextBox 22"/>
          <p:cNvSpPr txBox="1"/>
          <p:nvPr/>
        </p:nvSpPr>
        <p:spPr>
          <a:xfrm>
            <a:off x="1188720" y="4672584"/>
            <a:ext cx="9784080" cy="201168"/>
          </a:xfrm>
          <a:prstGeom prst="rect">
            <a:avLst/>
          </a:prstGeom>
          <a:noFill/>
        </p:spPr>
        <p:txBody>
          <a:bodyPr wrap="square" lIns="64008" tIns="64008" rIns="64008" bIns="64008" anchor="t">
            <a:spAutoFit/>
          </a:bodyPr>
          <a:lstStyle/>
          <a:p>
            <a:pPr algn="l"/>
            <a:r>
              <a:rPr sz="1400" b="1">
                <a:solidFill>
                  <a:srgbClr val="21324A"/>
                </a:solidFill>
                <a:latin typeface="Aptos"/>
              </a:rPr>
              <a:t>5. Reporting</a:t>
            </a:r>
          </a:p>
        </p:txBody>
      </p:sp>
      <p:sp>
        <p:nvSpPr>
          <p:cNvPr id="24" name="TextBox 23"/>
          <p:cNvSpPr txBox="1"/>
          <p:nvPr/>
        </p:nvSpPr>
        <p:spPr>
          <a:xfrm>
            <a:off x="1188720" y="4873752"/>
            <a:ext cx="9784080" cy="548640"/>
          </a:xfrm>
          <a:prstGeom prst="rect">
            <a:avLst/>
          </a:prstGeom>
          <a:noFill/>
        </p:spPr>
        <p:txBody>
          <a:bodyPr wrap="square" lIns="64008" tIns="64008" rIns="64008" bIns="64008" anchor="t">
            <a:spAutoFit/>
          </a:bodyPr>
          <a:lstStyle/>
          <a:p>
            <a:pPr algn="l"/>
            <a:r>
              <a:rPr sz="1400" b="0">
                <a:solidFill>
                  <a:srgbClr val="1E1E1E"/>
                </a:solidFill>
                <a:latin typeface="Aptos"/>
              </a:rPr>
              <a:t>Capture findings in Excel with Page/Area, Finding Type, Observation and Suggested Improvement.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420624"/>
          </a:xfrm>
          <a:prstGeom prst="rect">
            <a:avLst/>
          </a:prstGeom>
          <a:solidFill>
            <a:srgbClr val="21324A"/>
          </a:solidFill>
          <a:ln>
            <a:solidFill>
              <a:srgbClr val="21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22870"/>
            <a:ext cx="2377440" cy="437043"/>
          </a:xfrm>
          <a:prstGeom prst="rect">
            <a:avLst/>
          </a:prstGeom>
          <a:noFill/>
        </p:spPr>
        <p:txBody>
          <a:bodyPr wrap="square" lIns="64008" tIns="64008" rIns="64008" bIns="64008" anchor="t">
            <a:spAutoFit/>
          </a:bodyPr>
          <a:lstStyle/>
          <a:p>
            <a:pPr algn="l"/>
            <a:r>
              <a:rPr sz="2000" b="1" dirty="0">
                <a:solidFill>
                  <a:srgbClr val="FFFFFF"/>
                </a:solidFill>
                <a:latin typeface="Aptos"/>
              </a:rPr>
              <a:t>SUMMARY</a:t>
            </a:r>
          </a:p>
        </p:txBody>
      </p:sp>
      <p:sp>
        <p:nvSpPr>
          <p:cNvPr id="4" name="TextBox 3"/>
          <p:cNvSpPr txBox="1"/>
          <p:nvPr/>
        </p:nvSpPr>
        <p:spPr>
          <a:xfrm>
            <a:off x="11155680" y="100584"/>
            <a:ext cx="731520" cy="228600"/>
          </a:xfrm>
          <a:prstGeom prst="rect">
            <a:avLst/>
          </a:prstGeom>
          <a:noFill/>
        </p:spPr>
        <p:txBody>
          <a:bodyPr wrap="square" lIns="64008" tIns="64008" rIns="64008" bIns="64008" anchor="t">
            <a:spAutoFit/>
          </a:bodyPr>
          <a:lstStyle/>
          <a:p>
            <a:pPr algn="r"/>
            <a:r>
              <a:rPr sz="1400" b="1">
                <a:solidFill>
                  <a:srgbClr val="F26419"/>
                </a:solidFill>
                <a:latin typeface="Aptos"/>
              </a:rPr>
              <a:t>EXL</a:t>
            </a:r>
          </a:p>
        </p:txBody>
      </p:sp>
      <p:sp>
        <p:nvSpPr>
          <p:cNvPr id="5" name="TextBox 4"/>
          <p:cNvSpPr txBox="1"/>
          <p:nvPr/>
        </p:nvSpPr>
        <p:spPr>
          <a:xfrm>
            <a:off x="502920" y="414173"/>
            <a:ext cx="9509760" cy="438912"/>
          </a:xfrm>
          <a:prstGeom prst="rect">
            <a:avLst/>
          </a:prstGeom>
          <a:noFill/>
        </p:spPr>
        <p:txBody>
          <a:bodyPr wrap="square" lIns="64008" tIns="64008" rIns="64008" bIns="64008" anchor="t">
            <a:spAutoFit/>
          </a:bodyPr>
          <a:lstStyle/>
          <a:p>
            <a:pPr algn="l"/>
            <a:r>
              <a:rPr sz="2300" b="1" dirty="0">
                <a:solidFill>
                  <a:srgbClr val="F26419"/>
                </a:solidFill>
                <a:latin typeface="Aptos"/>
              </a:rPr>
              <a:t>Executive summary</a:t>
            </a:r>
          </a:p>
        </p:txBody>
      </p:sp>
      <p:sp>
        <p:nvSpPr>
          <p:cNvPr id="6" name="TextBox 5"/>
          <p:cNvSpPr txBox="1"/>
          <p:nvPr/>
        </p:nvSpPr>
        <p:spPr>
          <a:xfrm>
            <a:off x="521207" y="728706"/>
            <a:ext cx="10515600" cy="292608"/>
          </a:xfrm>
          <a:prstGeom prst="rect">
            <a:avLst/>
          </a:prstGeom>
          <a:noFill/>
        </p:spPr>
        <p:txBody>
          <a:bodyPr wrap="square" lIns="64008" tIns="64008" rIns="64008" bIns="64008" anchor="t">
            <a:spAutoFit/>
          </a:bodyPr>
          <a:lstStyle/>
          <a:p>
            <a:pPr algn="l"/>
            <a:r>
              <a:rPr sz="1400" b="0" dirty="0">
                <a:solidFill>
                  <a:srgbClr val="5A5A5A"/>
                </a:solidFill>
                <a:latin typeface="Aptos"/>
              </a:rPr>
              <a:t>Our current understanding indicates that </a:t>
            </a:r>
            <a:r>
              <a:rPr sz="1400" b="0" dirty="0" err="1">
                <a:solidFill>
                  <a:srgbClr val="5A5A5A"/>
                </a:solidFill>
                <a:latin typeface="Aptos"/>
              </a:rPr>
              <a:t>Oakbridge</a:t>
            </a:r>
            <a:r>
              <a:rPr sz="1400" b="0" dirty="0">
                <a:solidFill>
                  <a:srgbClr val="5A5A5A"/>
                </a:solidFill>
                <a:latin typeface="Aptos"/>
              </a:rPr>
              <a:t> is a mature collaboration platform with strong foundations and clear improvement opportunities.</a:t>
            </a:r>
          </a:p>
        </p:txBody>
      </p:sp>
      <p:sp>
        <p:nvSpPr>
          <p:cNvPr id="7" name="TextBox 6"/>
          <p:cNvSpPr txBox="1"/>
          <p:nvPr/>
        </p:nvSpPr>
        <p:spPr>
          <a:xfrm>
            <a:off x="502920" y="6528816"/>
            <a:ext cx="7772400" cy="201168"/>
          </a:xfrm>
          <a:prstGeom prst="rect">
            <a:avLst/>
          </a:prstGeom>
          <a:noFill/>
        </p:spPr>
        <p:txBody>
          <a:bodyPr wrap="square" lIns="64008" tIns="64008" rIns="64008" bIns="64008" anchor="t">
            <a:spAutoFit/>
          </a:bodyPr>
          <a:lstStyle/>
          <a:p>
            <a:pPr algn="l"/>
            <a:r>
              <a:rPr sz="750" b="0">
                <a:solidFill>
                  <a:srgbClr val="5A5A5A"/>
                </a:solidFill>
                <a:latin typeface="Aptos"/>
              </a:rPr>
              <a:t>EXL – Oakbridge Engagement | Our Understanding of Existing System</a:t>
            </a:r>
          </a:p>
        </p:txBody>
      </p:sp>
      <p:sp>
        <p:nvSpPr>
          <p:cNvPr id="8" name="TextBox 7"/>
          <p:cNvSpPr txBox="1"/>
          <p:nvPr/>
        </p:nvSpPr>
        <p:spPr>
          <a:xfrm>
            <a:off x="11475720" y="6528816"/>
            <a:ext cx="320040" cy="201168"/>
          </a:xfrm>
          <a:prstGeom prst="rect">
            <a:avLst/>
          </a:prstGeom>
          <a:noFill/>
        </p:spPr>
        <p:txBody>
          <a:bodyPr wrap="square" lIns="64008" tIns="64008" rIns="64008" bIns="64008" anchor="t">
            <a:spAutoFit/>
          </a:bodyPr>
          <a:lstStyle/>
          <a:p>
            <a:pPr algn="r"/>
            <a:r>
              <a:rPr sz="750" b="0">
                <a:solidFill>
                  <a:srgbClr val="5A5A5A"/>
                </a:solidFill>
                <a:latin typeface="Aptos"/>
              </a:rPr>
              <a:t>20</a:t>
            </a:r>
          </a:p>
        </p:txBody>
      </p:sp>
      <p:sp>
        <p:nvSpPr>
          <p:cNvPr id="9" name="Rectangle 8"/>
          <p:cNvSpPr/>
          <p:nvPr/>
        </p:nvSpPr>
        <p:spPr>
          <a:xfrm>
            <a:off x="502920" y="1344168"/>
            <a:ext cx="11064240" cy="22860"/>
          </a:xfrm>
          <a:prstGeom prst="rect">
            <a:avLst/>
          </a:prstGeom>
          <a:solidFill>
            <a:srgbClr val="DAE0E6"/>
          </a:solidFill>
          <a:ln>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31520" y="1691640"/>
            <a:ext cx="5120640" cy="1645920"/>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 y="1691640"/>
            <a:ext cx="73152" cy="1417320"/>
          </a:xfrm>
          <a:prstGeom prst="rect">
            <a:avLst/>
          </a:prstGeom>
          <a:solidFill>
            <a:srgbClr val="F26419"/>
          </a:solidFill>
          <a:ln>
            <a:solidFill>
              <a:srgbClr val="F2641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1810512"/>
            <a:ext cx="4800599" cy="320040"/>
          </a:xfrm>
          <a:prstGeom prst="rect">
            <a:avLst/>
          </a:prstGeom>
          <a:noFill/>
        </p:spPr>
        <p:txBody>
          <a:bodyPr wrap="square" lIns="64008" tIns="64008" rIns="64008" bIns="64008" anchor="t">
            <a:spAutoFit/>
          </a:bodyPr>
          <a:lstStyle/>
          <a:p>
            <a:pPr algn="l"/>
            <a:r>
              <a:rPr sz="1400" b="1">
                <a:solidFill>
                  <a:srgbClr val="21324A"/>
                </a:solidFill>
                <a:latin typeface="Aptos"/>
              </a:rPr>
              <a:t>What we understand</a:t>
            </a:r>
          </a:p>
        </p:txBody>
      </p:sp>
      <p:sp>
        <p:nvSpPr>
          <p:cNvPr id="13" name="TextBox 12"/>
          <p:cNvSpPr txBox="1"/>
          <p:nvPr/>
        </p:nvSpPr>
        <p:spPr>
          <a:xfrm>
            <a:off x="914400" y="2194560"/>
            <a:ext cx="4800600" cy="822960"/>
          </a:xfrm>
          <a:prstGeom prst="rect">
            <a:avLst/>
          </a:prstGeom>
          <a:noFill/>
        </p:spPr>
        <p:txBody>
          <a:bodyPr wrap="square" lIns="64008" tIns="64008" rIns="64008" bIns="64008" anchor="t">
            <a:spAutoFit/>
          </a:bodyPr>
          <a:lstStyle/>
          <a:p>
            <a:pPr algn="l"/>
            <a:r>
              <a:rPr sz="1400" b="0">
                <a:solidFill>
                  <a:srgbClr val="1E1E1E"/>
                </a:solidFill>
                <a:latin typeface="Aptos"/>
              </a:rPr>
              <a:t>Oakbridge connects strategy, execution, team collaboration, ownership, notifications and reporting into one platform. The frontend is built in Next.js, backend APIs are implemented through route.ts handlers and Supabase manages data and access control.</a:t>
            </a:r>
          </a:p>
        </p:txBody>
      </p:sp>
      <p:sp>
        <p:nvSpPr>
          <p:cNvPr id="14" name="Rounded Rectangle 13"/>
          <p:cNvSpPr/>
          <p:nvPr/>
        </p:nvSpPr>
        <p:spPr>
          <a:xfrm>
            <a:off x="6263640" y="1691640"/>
            <a:ext cx="5120640" cy="1522476"/>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263640" y="1691640"/>
            <a:ext cx="73152" cy="1417320"/>
          </a:xfrm>
          <a:prstGeom prst="rect">
            <a:avLst/>
          </a:prstGeom>
          <a:solidFill>
            <a:srgbClr val="1F609A"/>
          </a:solidFill>
          <a:ln>
            <a:solidFill>
              <a:srgbClr val="1F60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46520" y="1810512"/>
            <a:ext cx="4800599" cy="320040"/>
          </a:xfrm>
          <a:prstGeom prst="rect">
            <a:avLst/>
          </a:prstGeom>
          <a:noFill/>
        </p:spPr>
        <p:txBody>
          <a:bodyPr wrap="square" lIns="64008" tIns="64008" rIns="64008" bIns="64008" anchor="t">
            <a:spAutoFit/>
          </a:bodyPr>
          <a:lstStyle/>
          <a:p>
            <a:pPr algn="l"/>
            <a:r>
              <a:rPr sz="1400" b="1">
                <a:solidFill>
                  <a:srgbClr val="21324A"/>
                </a:solidFill>
                <a:latin typeface="Aptos"/>
              </a:rPr>
              <a:t>What we tested/reviewed</a:t>
            </a:r>
          </a:p>
        </p:txBody>
      </p:sp>
      <p:sp>
        <p:nvSpPr>
          <p:cNvPr id="17" name="TextBox 16"/>
          <p:cNvSpPr txBox="1"/>
          <p:nvPr/>
        </p:nvSpPr>
        <p:spPr>
          <a:xfrm>
            <a:off x="6446520" y="2194560"/>
            <a:ext cx="4800600" cy="822960"/>
          </a:xfrm>
          <a:prstGeom prst="rect">
            <a:avLst/>
          </a:prstGeom>
          <a:noFill/>
        </p:spPr>
        <p:txBody>
          <a:bodyPr wrap="square" lIns="64008" tIns="64008" rIns="64008" bIns="64008" anchor="t">
            <a:spAutoFit/>
          </a:bodyPr>
          <a:lstStyle/>
          <a:p>
            <a:pPr algn="l"/>
            <a:r>
              <a:rPr sz="1400" b="0">
                <a:solidFill>
                  <a:srgbClr val="1E1E1E"/>
                </a:solidFill>
                <a:latin typeface="Aptos"/>
              </a:rPr>
              <a:t>We reviewed dashboard, vision, goals, my items, team pages, lists, members, site bugs, API flow, DataService behavior and team-members backend logic. We also captured UI and navigation observations for reporting.</a:t>
            </a:r>
          </a:p>
        </p:txBody>
      </p:sp>
      <p:sp>
        <p:nvSpPr>
          <p:cNvPr id="18" name="Rounded Rectangle 17"/>
          <p:cNvSpPr/>
          <p:nvPr/>
        </p:nvSpPr>
        <p:spPr>
          <a:xfrm>
            <a:off x="731520" y="3520440"/>
            <a:ext cx="5120640" cy="1417320"/>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31520" y="3520440"/>
            <a:ext cx="73152" cy="1417320"/>
          </a:xfrm>
          <a:prstGeom prst="rect">
            <a:avLst/>
          </a:prstGeom>
          <a:solidFill>
            <a:srgbClr val="0097A7"/>
          </a:solidFill>
          <a:ln>
            <a:solidFill>
              <a:srgbClr val="009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4400" y="3639312"/>
            <a:ext cx="4800599" cy="320040"/>
          </a:xfrm>
          <a:prstGeom prst="rect">
            <a:avLst/>
          </a:prstGeom>
          <a:noFill/>
        </p:spPr>
        <p:txBody>
          <a:bodyPr wrap="square" lIns="64008" tIns="64008" rIns="64008" bIns="64008" anchor="t">
            <a:spAutoFit/>
          </a:bodyPr>
          <a:lstStyle/>
          <a:p>
            <a:pPr algn="l"/>
            <a:r>
              <a:rPr sz="1400" b="1">
                <a:solidFill>
                  <a:srgbClr val="21324A"/>
                </a:solidFill>
                <a:latin typeface="Aptos"/>
              </a:rPr>
              <a:t>What we recommend</a:t>
            </a:r>
          </a:p>
        </p:txBody>
      </p:sp>
      <p:sp>
        <p:nvSpPr>
          <p:cNvPr id="21" name="TextBox 20"/>
          <p:cNvSpPr txBox="1"/>
          <p:nvPr/>
        </p:nvSpPr>
        <p:spPr>
          <a:xfrm>
            <a:off x="914400" y="4023360"/>
            <a:ext cx="4800600" cy="822960"/>
          </a:xfrm>
          <a:prstGeom prst="rect">
            <a:avLst/>
          </a:prstGeom>
          <a:noFill/>
        </p:spPr>
        <p:txBody>
          <a:bodyPr wrap="square" lIns="64008" tIns="64008" rIns="64008" bIns="64008" anchor="t">
            <a:spAutoFit/>
          </a:bodyPr>
          <a:lstStyle/>
          <a:p>
            <a:pPr algn="l"/>
            <a:r>
              <a:rPr sz="1400" b="0">
                <a:solidFill>
                  <a:srgbClr val="1E1E1E"/>
                </a:solidFill>
                <a:latin typeface="Aptos"/>
              </a:rPr>
              <a:t>Improve layout responsiveness, stabilize navigation edge cases, document setup/API/data flow, split large services where possible and add structured test coverage for critical business workflows.</a:t>
            </a:r>
          </a:p>
        </p:txBody>
      </p:sp>
      <p:sp>
        <p:nvSpPr>
          <p:cNvPr id="22" name="Rounded Rectangle 21"/>
          <p:cNvSpPr/>
          <p:nvPr/>
        </p:nvSpPr>
        <p:spPr>
          <a:xfrm>
            <a:off x="6263640" y="3520440"/>
            <a:ext cx="5120640" cy="1645920"/>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263640" y="3520440"/>
            <a:ext cx="73152" cy="1417320"/>
          </a:xfrm>
          <a:prstGeom prst="rect">
            <a:avLst/>
          </a:prstGeom>
          <a:solidFill>
            <a:srgbClr val="724BA8"/>
          </a:solidFill>
          <a:ln>
            <a:solidFill>
              <a:srgbClr val="724B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46520" y="3639312"/>
            <a:ext cx="4800599" cy="320040"/>
          </a:xfrm>
          <a:prstGeom prst="rect">
            <a:avLst/>
          </a:prstGeom>
          <a:noFill/>
        </p:spPr>
        <p:txBody>
          <a:bodyPr wrap="square" lIns="64008" tIns="64008" rIns="64008" bIns="64008" anchor="t">
            <a:spAutoFit/>
          </a:bodyPr>
          <a:lstStyle/>
          <a:p>
            <a:pPr algn="l"/>
            <a:r>
              <a:rPr sz="1400" b="1">
                <a:solidFill>
                  <a:srgbClr val="21324A"/>
                </a:solidFill>
                <a:latin typeface="Aptos"/>
              </a:rPr>
              <a:t>Next step</a:t>
            </a:r>
          </a:p>
        </p:txBody>
      </p:sp>
      <p:sp>
        <p:nvSpPr>
          <p:cNvPr id="25" name="TextBox 24"/>
          <p:cNvSpPr txBox="1"/>
          <p:nvPr/>
        </p:nvSpPr>
        <p:spPr>
          <a:xfrm>
            <a:off x="6446520" y="4023360"/>
            <a:ext cx="4800600" cy="822960"/>
          </a:xfrm>
          <a:prstGeom prst="rect">
            <a:avLst/>
          </a:prstGeom>
          <a:noFill/>
        </p:spPr>
        <p:txBody>
          <a:bodyPr wrap="square" lIns="64008" tIns="64008" rIns="64008" bIns="64008" anchor="t">
            <a:spAutoFit/>
          </a:bodyPr>
          <a:lstStyle/>
          <a:p>
            <a:pPr algn="l"/>
            <a:r>
              <a:rPr sz="1400" b="0">
                <a:solidFill>
                  <a:srgbClr val="1E1E1E"/>
                </a:solidFill>
                <a:latin typeface="Aptos"/>
              </a:rPr>
              <a:t>Use this deck as the client-facing understanding baseline, then validate it with Nishant/Sachin and convert confirmed observations into a prioritized implementation and testing backlog.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420624"/>
          </a:xfrm>
          <a:prstGeom prst="rect">
            <a:avLst/>
          </a:prstGeom>
          <a:solidFill>
            <a:srgbClr val="21324A"/>
          </a:solidFill>
          <a:ln>
            <a:solidFill>
              <a:srgbClr val="21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8210"/>
            <a:ext cx="2377440" cy="437043"/>
          </a:xfrm>
          <a:prstGeom prst="rect">
            <a:avLst/>
          </a:prstGeom>
          <a:noFill/>
        </p:spPr>
        <p:txBody>
          <a:bodyPr wrap="square" lIns="64008" tIns="64008" rIns="64008" bIns="64008" anchor="t">
            <a:spAutoFit/>
          </a:bodyPr>
          <a:lstStyle/>
          <a:p>
            <a:pPr algn="l"/>
            <a:r>
              <a:rPr sz="2000" b="1" dirty="0">
                <a:solidFill>
                  <a:srgbClr val="FFFFFF"/>
                </a:solidFill>
                <a:latin typeface="Aptos"/>
              </a:rPr>
              <a:t>APPENDIX</a:t>
            </a:r>
          </a:p>
        </p:txBody>
      </p:sp>
      <p:sp>
        <p:nvSpPr>
          <p:cNvPr id="4" name="TextBox 3"/>
          <p:cNvSpPr txBox="1"/>
          <p:nvPr/>
        </p:nvSpPr>
        <p:spPr>
          <a:xfrm>
            <a:off x="11155680" y="100584"/>
            <a:ext cx="731520" cy="228600"/>
          </a:xfrm>
          <a:prstGeom prst="rect">
            <a:avLst/>
          </a:prstGeom>
          <a:noFill/>
        </p:spPr>
        <p:txBody>
          <a:bodyPr wrap="square" lIns="64008" tIns="64008" rIns="64008" bIns="64008" anchor="t">
            <a:spAutoFit/>
          </a:bodyPr>
          <a:lstStyle/>
          <a:p>
            <a:pPr algn="r"/>
            <a:r>
              <a:rPr sz="1400" b="1">
                <a:solidFill>
                  <a:srgbClr val="F26419"/>
                </a:solidFill>
                <a:latin typeface="Aptos"/>
              </a:rPr>
              <a:t>EXL</a:t>
            </a:r>
          </a:p>
        </p:txBody>
      </p:sp>
      <p:sp>
        <p:nvSpPr>
          <p:cNvPr id="5" name="TextBox 4"/>
          <p:cNvSpPr txBox="1"/>
          <p:nvPr/>
        </p:nvSpPr>
        <p:spPr>
          <a:xfrm>
            <a:off x="502920" y="621792"/>
            <a:ext cx="9509760" cy="438912"/>
          </a:xfrm>
          <a:prstGeom prst="rect">
            <a:avLst/>
          </a:prstGeom>
          <a:noFill/>
        </p:spPr>
        <p:txBody>
          <a:bodyPr wrap="square" lIns="64008" tIns="64008" rIns="64008" bIns="64008" anchor="t">
            <a:spAutoFit/>
          </a:bodyPr>
          <a:lstStyle/>
          <a:p>
            <a:pPr algn="l"/>
            <a:r>
              <a:rPr sz="2300" b="1">
                <a:solidFill>
                  <a:srgbClr val="F26419"/>
                </a:solidFill>
                <a:latin typeface="Aptos"/>
              </a:rPr>
              <a:t>Appendix – key files and their role</a:t>
            </a:r>
          </a:p>
        </p:txBody>
      </p:sp>
      <p:sp>
        <p:nvSpPr>
          <p:cNvPr id="6" name="TextBox 5"/>
          <p:cNvSpPr txBox="1"/>
          <p:nvPr/>
        </p:nvSpPr>
        <p:spPr>
          <a:xfrm>
            <a:off x="521207" y="1024128"/>
            <a:ext cx="10515600" cy="292608"/>
          </a:xfrm>
          <a:prstGeom prst="rect">
            <a:avLst/>
          </a:prstGeom>
          <a:noFill/>
        </p:spPr>
        <p:txBody>
          <a:bodyPr wrap="square" lIns="64008" tIns="64008" rIns="64008" bIns="64008" anchor="t">
            <a:spAutoFit/>
          </a:bodyPr>
          <a:lstStyle/>
          <a:p>
            <a:pPr algn="l"/>
            <a:r>
              <a:rPr sz="1400" b="0">
                <a:solidFill>
                  <a:srgbClr val="5A5A5A"/>
                </a:solidFill>
                <a:latin typeface="Aptos"/>
              </a:rPr>
              <a:t>The following file areas are useful for explaining the application flow to technical stakeholders.</a:t>
            </a:r>
          </a:p>
        </p:txBody>
      </p:sp>
      <p:sp>
        <p:nvSpPr>
          <p:cNvPr id="7" name="TextBox 6"/>
          <p:cNvSpPr txBox="1"/>
          <p:nvPr/>
        </p:nvSpPr>
        <p:spPr>
          <a:xfrm>
            <a:off x="502920" y="6528816"/>
            <a:ext cx="7772400" cy="201168"/>
          </a:xfrm>
          <a:prstGeom prst="rect">
            <a:avLst/>
          </a:prstGeom>
          <a:noFill/>
        </p:spPr>
        <p:txBody>
          <a:bodyPr wrap="square" lIns="64008" tIns="64008" rIns="64008" bIns="64008" anchor="t">
            <a:spAutoFit/>
          </a:bodyPr>
          <a:lstStyle/>
          <a:p>
            <a:pPr algn="l"/>
            <a:r>
              <a:rPr sz="750" b="0">
                <a:solidFill>
                  <a:srgbClr val="5A5A5A"/>
                </a:solidFill>
                <a:latin typeface="Aptos"/>
              </a:rPr>
              <a:t>EXL – Oakbridge Engagement | Our Understanding of Existing System</a:t>
            </a:r>
          </a:p>
        </p:txBody>
      </p:sp>
      <p:sp>
        <p:nvSpPr>
          <p:cNvPr id="8" name="TextBox 7"/>
          <p:cNvSpPr txBox="1"/>
          <p:nvPr/>
        </p:nvSpPr>
        <p:spPr>
          <a:xfrm>
            <a:off x="11475720" y="6528816"/>
            <a:ext cx="320040" cy="201168"/>
          </a:xfrm>
          <a:prstGeom prst="rect">
            <a:avLst/>
          </a:prstGeom>
          <a:noFill/>
        </p:spPr>
        <p:txBody>
          <a:bodyPr wrap="square" lIns="64008" tIns="64008" rIns="64008" bIns="64008" anchor="t">
            <a:spAutoFit/>
          </a:bodyPr>
          <a:lstStyle/>
          <a:p>
            <a:pPr algn="r"/>
            <a:r>
              <a:rPr sz="750" b="0">
                <a:solidFill>
                  <a:srgbClr val="5A5A5A"/>
                </a:solidFill>
                <a:latin typeface="Aptos"/>
              </a:rPr>
              <a:t>21</a:t>
            </a:r>
          </a:p>
        </p:txBody>
      </p:sp>
      <p:sp>
        <p:nvSpPr>
          <p:cNvPr id="9" name="Rectangle 8"/>
          <p:cNvSpPr/>
          <p:nvPr/>
        </p:nvSpPr>
        <p:spPr>
          <a:xfrm>
            <a:off x="502920" y="1344168"/>
            <a:ext cx="11064240" cy="22860"/>
          </a:xfrm>
          <a:prstGeom prst="rect">
            <a:avLst/>
          </a:prstGeom>
          <a:solidFill>
            <a:srgbClr val="DAE0E6"/>
          </a:solidFill>
          <a:ln>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85800" y="1554480"/>
            <a:ext cx="10652760" cy="512064"/>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85800" y="1673354"/>
            <a:ext cx="73152" cy="402333"/>
          </a:xfrm>
          <a:prstGeom prst="rect">
            <a:avLst/>
          </a:prstGeom>
          <a:solidFill>
            <a:srgbClr val="F26419"/>
          </a:solidFill>
          <a:ln>
            <a:solidFill>
              <a:srgbClr val="F2641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82396" y="1547617"/>
            <a:ext cx="10332720" cy="320040"/>
          </a:xfrm>
          <a:prstGeom prst="rect">
            <a:avLst/>
          </a:prstGeom>
          <a:noFill/>
        </p:spPr>
        <p:txBody>
          <a:bodyPr wrap="square" lIns="64008" tIns="64008" rIns="64008" bIns="64008" anchor="t">
            <a:spAutoFit/>
          </a:bodyPr>
          <a:lstStyle/>
          <a:p>
            <a:pPr algn="l"/>
            <a:r>
              <a:rPr sz="1400" b="1">
                <a:solidFill>
                  <a:srgbClr val="21324A"/>
                </a:solidFill>
                <a:latin typeface="Aptos"/>
              </a:rPr>
              <a:t>apps/ooo/app/(authenticated)</a:t>
            </a:r>
          </a:p>
        </p:txBody>
      </p:sp>
      <p:sp>
        <p:nvSpPr>
          <p:cNvPr id="13" name="TextBox 12"/>
          <p:cNvSpPr txBox="1"/>
          <p:nvPr/>
        </p:nvSpPr>
        <p:spPr>
          <a:xfrm>
            <a:off x="845820" y="1846735"/>
            <a:ext cx="10332720" cy="0"/>
          </a:xfrm>
          <a:prstGeom prst="rect">
            <a:avLst/>
          </a:prstGeom>
          <a:noFill/>
        </p:spPr>
        <p:txBody>
          <a:bodyPr wrap="square" lIns="64008" tIns="64008" rIns="64008" bIns="64008" anchor="t">
            <a:spAutoFit/>
          </a:bodyPr>
          <a:lstStyle/>
          <a:p>
            <a:pPr algn="l"/>
            <a:r>
              <a:rPr sz="1400" b="0" dirty="0">
                <a:solidFill>
                  <a:srgbClr val="1E1E1E"/>
                </a:solidFill>
                <a:latin typeface="Aptos"/>
              </a:rPr>
              <a:t>Protected frontend pages shown after login such as dashboard, teams, goals, my items and lists.</a:t>
            </a:r>
          </a:p>
        </p:txBody>
      </p:sp>
      <p:sp>
        <p:nvSpPr>
          <p:cNvPr id="14" name="Rounded Rectangle 13"/>
          <p:cNvSpPr/>
          <p:nvPr/>
        </p:nvSpPr>
        <p:spPr>
          <a:xfrm>
            <a:off x="716280" y="2205985"/>
            <a:ext cx="10637520" cy="530355"/>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13232" y="2329428"/>
            <a:ext cx="45719" cy="331475"/>
          </a:xfrm>
          <a:prstGeom prst="rect">
            <a:avLst/>
          </a:prstGeom>
          <a:solidFill>
            <a:srgbClr val="1F609A"/>
          </a:solidFill>
          <a:ln>
            <a:solidFill>
              <a:srgbClr val="1F60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82396" y="2158601"/>
            <a:ext cx="10332720" cy="320040"/>
          </a:xfrm>
          <a:prstGeom prst="rect">
            <a:avLst/>
          </a:prstGeom>
          <a:noFill/>
        </p:spPr>
        <p:txBody>
          <a:bodyPr wrap="square" lIns="64008" tIns="64008" rIns="64008" bIns="64008" anchor="t">
            <a:spAutoFit/>
          </a:bodyPr>
          <a:lstStyle/>
          <a:p>
            <a:pPr algn="l"/>
            <a:r>
              <a:rPr sz="1400" b="1" dirty="0">
                <a:solidFill>
                  <a:srgbClr val="21324A"/>
                </a:solidFill>
                <a:latin typeface="Aptos"/>
              </a:rPr>
              <a:t>apps/</a:t>
            </a:r>
            <a:r>
              <a:rPr sz="1400" b="1" dirty="0" err="1">
                <a:solidFill>
                  <a:srgbClr val="21324A"/>
                </a:solidFill>
                <a:latin typeface="Aptos"/>
              </a:rPr>
              <a:t>ooo</a:t>
            </a:r>
            <a:r>
              <a:rPr sz="1400" b="1" dirty="0">
                <a:solidFill>
                  <a:srgbClr val="21324A"/>
                </a:solidFill>
                <a:latin typeface="Aptos"/>
              </a:rPr>
              <a:t>/app/</a:t>
            </a:r>
            <a:r>
              <a:rPr sz="1400" b="1" dirty="0" err="1">
                <a:solidFill>
                  <a:srgbClr val="21324A"/>
                </a:solidFill>
                <a:latin typeface="Aptos"/>
              </a:rPr>
              <a:t>api</a:t>
            </a:r>
            <a:r>
              <a:rPr sz="1400" b="1" dirty="0">
                <a:solidFill>
                  <a:srgbClr val="21324A"/>
                </a:solidFill>
                <a:latin typeface="Aptos"/>
              </a:rPr>
              <a:t>/**/</a:t>
            </a:r>
            <a:r>
              <a:rPr sz="1400" b="1" dirty="0" err="1">
                <a:solidFill>
                  <a:srgbClr val="21324A"/>
                </a:solidFill>
                <a:latin typeface="Aptos"/>
              </a:rPr>
              <a:t>route.ts</a:t>
            </a:r>
            <a:endParaRPr sz="1400" b="1" dirty="0">
              <a:solidFill>
                <a:srgbClr val="21324A"/>
              </a:solidFill>
              <a:latin typeface="Aptos"/>
            </a:endParaRPr>
          </a:p>
        </p:txBody>
      </p:sp>
      <p:sp>
        <p:nvSpPr>
          <p:cNvPr id="17" name="TextBox 16"/>
          <p:cNvSpPr txBox="1"/>
          <p:nvPr/>
        </p:nvSpPr>
        <p:spPr>
          <a:xfrm>
            <a:off x="868680" y="2459203"/>
            <a:ext cx="10332720" cy="0"/>
          </a:xfrm>
          <a:prstGeom prst="rect">
            <a:avLst/>
          </a:prstGeom>
          <a:noFill/>
        </p:spPr>
        <p:txBody>
          <a:bodyPr wrap="square" lIns="64008" tIns="64008" rIns="64008" bIns="64008" anchor="t">
            <a:spAutoFit/>
          </a:bodyPr>
          <a:lstStyle/>
          <a:p>
            <a:pPr algn="l"/>
            <a:r>
              <a:rPr sz="1400" b="0" dirty="0">
                <a:solidFill>
                  <a:srgbClr val="1E1E1E"/>
                </a:solidFill>
                <a:latin typeface="Aptos"/>
              </a:rPr>
              <a:t>Backend API endpoints. Each route handles HTTP operations, validation, </a:t>
            </a:r>
            <a:r>
              <a:rPr sz="1400" b="0" dirty="0" err="1">
                <a:solidFill>
                  <a:srgbClr val="1E1E1E"/>
                </a:solidFill>
                <a:latin typeface="Aptos"/>
              </a:rPr>
              <a:t>Supabase</a:t>
            </a:r>
            <a:r>
              <a:rPr sz="1400" b="0" dirty="0">
                <a:solidFill>
                  <a:srgbClr val="1E1E1E"/>
                </a:solidFill>
                <a:latin typeface="Aptos"/>
              </a:rPr>
              <a:t> operations and responses.</a:t>
            </a:r>
          </a:p>
        </p:txBody>
      </p:sp>
      <p:sp>
        <p:nvSpPr>
          <p:cNvPr id="18" name="Rounded Rectangle 17"/>
          <p:cNvSpPr/>
          <p:nvPr/>
        </p:nvSpPr>
        <p:spPr>
          <a:xfrm>
            <a:off x="716280" y="2839210"/>
            <a:ext cx="10652760" cy="493777"/>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85800" y="2914644"/>
            <a:ext cx="73152" cy="331475"/>
          </a:xfrm>
          <a:prstGeom prst="rect">
            <a:avLst/>
          </a:prstGeom>
          <a:solidFill>
            <a:srgbClr val="F26419"/>
          </a:solidFill>
          <a:ln>
            <a:solidFill>
              <a:srgbClr val="F2641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68680" y="2843784"/>
            <a:ext cx="10332720" cy="320040"/>
          </a:xfrm>
          <a:prstGeom prst="rect">
            <a:avLst/>
          </a:prstGeom>
          <a:noFill/>
        </p:spPr>
        <p:txBody>
          <a:bodyPr wrap="square" lIns="64008" tIns="64008" rIns="64008" bIns="64008" anchor="t">
            <a:spAutoFit/>
          </a:bodyPr>
          <a:lstStyle/>
          <a:p>
            <a:pPr algn="l"/>
            <a:r>
              <a:rPr sz="1400" b="1">
                <a:solidFill>
                  <a:srgbClr val="21324A"/>
                </a:solidFill>
                <a:latin typeface="Aptos"/>
              </a:rPr>
              <a:t>apps/ooo/lib/data-service.ts</a:t>
            </a:r>
          </a:p>
        </p:txBody>
      </p:sp>
      <p:sp>
        <p:nvSpPr>
          <p:cNvPr id="21" name="TextBox 20"/>
          <p:cNvSpPr txBox="1"/>
          <p:nvPr/>
        </p:nvSpPr>
        <p:spPr>
          <a:xfrm>
            <a:off x="882396" y="3086098"/>
            <a:ext cx="10332720" cy="0"/>
          </a:xfrm>
          <a:prstGeom prst="rect">
            <a:avLst/>
          </a:prstGeom>
          <a:noFill/>
        </p:spPr>
        <p:txBody>
          <a:bodyPr wrap="square" lIns="64008" tIns="64008" rIns="64008" bIns="64008" anchor="t">
            <a:spAutoFit/>
          </a:bodyPr>
          <a:lstStyle/>
          <a:p>
            <a:pPr algn="l"/>
            <a:r>
              <a:rPr sz="1400" b="0" dirty="0">
                <a:solidFill>
                  <a:srgbClr val="1E1E1E"/>
                </a:solidFill>
                <a:latin typeface="Aptos"/>
              </a:rPr>
              <a:t>Frontend service wrapper that calls APIs and normalizes response/error handling.</a:t>
            </a:r>
          </a:p>
        </p:txBody>
      </p:sp>
      <p:sp>
        <p:nvSpPr>
          <p:cNvPr id="22" name="Rounded Rectangle 21"/>
          <p:cNvSpPr/>
          <p:nvPr/>
        </p:nvSpPr>
        <p:spPr>
          <a:xfrm>
            <a:off x="685800" y="3442717"/>
            <a:ext cx="10652760" cy="452627"/>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a:p>
            <a:pPr algn="ctr"/>
            <a:endParaRPr lang="en-IN" dirty="0"/>
          </a:p>
          <a:p>
            <a:pPr algn="ctr"/>
            <a:endParaRPr lang="en-IN" dirty="0"/>
          </a:p>
          <a:p>
            <a:pPr algn="ctr"/>
            <a:endParaRPr lang="en-IN" dirty="0"/>
          </a:p>
          <a:p>
            <a:pPr algn="ctr"/>
            <a:endParaRPr dirty="0"/>
          </a:p>
        </p:txBody>
      </p:sp>
      <p:sp>
        <p:nvSpPr>
          <p:cNvPr id="23" name="Rectangle 22"/>
          <p:cNvSpPr/>
          <p:nvPr/>
        </p:nvSpPr>
        <p:spPr>
          <a:xfrm>
            <a:off x="708660" y="3479293"/>
            <a:ext cx="50292" cy="352042"/>
          </a:xfrm>
          <a:prstGeom prst="rect">
            <a:avLst/>
          </a:prstGeom>
          <a:solidFill>
            <a:srgbClr val="1F609A"/>
          </a:solidFill>
          <a:ln>
            <a:solidFill>
              <a:srgbClr val="1F60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68680" y="3429000"/>
            <a:ext cx="10332720" cy="320040"/>
          </a:xfrm>
          <a:prstGeom prst="rect">
            <a:avLst/>
          </a:prstGeom>
          <a:noFill/>
        </p:spPr>
        <p:txBody>
          <a:bodyPr wrap="square" lIns="64008" tIns="64008" rIns="64008" bIns="64008" anchor="t">
            <a:spAutoFit/>
          </a:bodyPr>
          <a:lstStyle/>
          <a:p>
            <a:pPr algn="l"/>
            <a:r>
              <a:rPr sz="1400" b="1">
                <a:solidFill>
                  <a:srgbClr val="21324A"/>
                </a:solidFill>
                <a:latin typeface="Aptos"/>
              </a:rPr>
              <a:t>apps/ooo/lib/fetch-with-auth.ts</a:t>
            </a:r>
          </a:p>
        </p:txBody>
      </p:sp>
      <p:sp>
        <p:nvSpPr>
          <p:cNvPr id="25" name="TextBox 24"/>
          <p:cNvSpPr txBox="1"/>
          <p:nvPr/>
        </p:nvSpPr>
        <p:spPr>
          <a:xfrm>
            <a:off x="845820" y="3644236"/>
            <a:ext cx="10332720" cy="0"/>
          </a:xfrm>
          <a:prstGeom prst="rect">
            <a:avLst/>
          </a:prstGeom>
          <a:noFill/>
        </p:spPr>
        <p:txBody>
          <a:bodyPr wrap="square" lIns="64008" tIns="64008" rIns="64008" bIns="64008" anchor="t">
            <a:spAutoFit/>
          </a:bodyPr>
          <a:lstStyle/>
          <a:p>
            <a:pPr algn="l"/>
            <a:r>
              <a:rPr sz="1400" b="0" dirty="0">
                <a:solidFill>
                  <a:srgbClr val="1E1E1E"/>
                </a:solidFill>
                <a:latin typeface="Aptos"/>
              </a:rPr>
              <a:t>Adds authentication/session context when making API requests.</a:t>
            </a:r>
          </a:p>
        </p:txBody>
      </p:sp>
      <p:sp>
        <p:nvSpPr>
          <p:cNvPr id="26" name="Rounded Rectangle 25"/>
          <p:cNvSpPr/>
          <p:nvPr/>
        </p:nvSpPr>
        <p:spPr>
          <a:xfrm>
            <a:off x="685800" y="4082796"/>
            <a:ext cx="10637520" cy="576073"/>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72084" y="4222714"/>
            <a:ext cx="73152" cy="393657"/>
          </a:xfrm>
          <a:prstGeom prst="rect">
            <a:avLst/>
          </a:prstGeom>
          <a:solidFill>
            <a:srgbClr val="F26419"/>
          </a:solidFill>
          <a:ln>
            <a:solidFill>
              <a:srgbClr val="F2641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68680" y="4014215"/>
            <a:ext cx="10332720" cy="320040"/>
          </a:xfrm>
          <a:prstGeom prst="rect">
            <a:avLst/>
          </a:prstGeom>
          <a:noFill/>
        </p:spPr>
        <p:txBody>
          <a:bodyPr wrap="square" lIns="64008" tIns="64008" rIns="64008" bIns="64008" anchor="t">
            <a:spAutoFit/>
          </a:bodyPr>
          <a:lstStyle/>
          <a:p>
            <a:pPr algn="l"/>
            <a:r>
              <a:rPr sz="1400" b="1">
                <a:solidFill>
                  <a:srgbClr val="21324A"/>
                </a:solidFill>
                <a:latin typeface="Aptos"/>
              </a:rPr>
              <a:t>apps/ooo/lib/auth-helpers.ts</a:t>
            </a:r>
          </a:p>
        </p:txBody>
      </p:sp>
      <p:sp>
        <p:nvSpPr>
          <p:cNvPr id="29" name="TextBox 28"/>
          <p:cNvSpPr txBox="1"/>
          <p:nvPr/>
        </p:nvSpPr>
        <p:spPr>
          <a:xfrm>
            <a:off x="868680" y="4398264"/>
            <a:ext cx="10332720" cy="0"/>
          </a:xfrm>
          <a:prstGeom prst="rect">
            <a:avLst/>
          </a:prstGeom>
          <a:noFill/>
        </p:spPr>
        <p:txBody>
          <a:bodyPr wrap="square" lIns="64008" tIns="64008" rIns="64008" bIns="64008" anchor="t">
            <a:spAutoFit/>
          </a:bodyPr>
          <a:lstStyle/>
          <a:p>
            <a:pPr algn="l"/>
            <a:r>
              <a:rPr sz="1400" b="0">
                <a:solidFill>
                  <a:srgbClr val="1E1E1E"/>
                </a:solidFill>
                <a:latin typeface="Aptos"/>
              </a:rPr>
              <a:t>Backend authentication and role helper logic used by API routes.</a:t>
            </a:r>
          </a:p>
        </p:txBody>
      </p:sp>
      <p:sp>
        <p:nvSpPr>
          <p:cNvPr id="30" name="Rounded Rectangle 29"/>
          <p:cNvSpPr/>
          <p:nvPr/>
        </p:nvSpPr>
        <p:spPr>
          <a:xfrm>
            <a:off x="685800" y="4752296"/>
            <a:ext cx="10637520" cy="507492"/>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72084" y="4807931"/>
            <a:ext cx="73152" cy="350632"/>
          </a:xfrm>
          <a:prstGeom prst="rect">
            <a:avLst/>
          </a:prstGeom>
          <a:solidFill>
            <a:srgbClr val="1F609A"/>
          </a:solidFill>
          <a:ln>
            <a:solidFill>
              <a:srgbClr val="1F60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68680" y="4696596"/>
            <a:ext cx="10332720" cy="320040"/>
          </a:xfrm>
          <a:prstGeom prst="rect">
            <a:avLst/>
          </a:prstGeom>
          <a:noFill/>
        </p:spPr>
        <p:txBody>
          <a:bodyPr wrap="square" lIns="64008" tIns="64008" rIns="64008" bIns="64008" anchor="t">
            <a:spAutoFit/>
          </a:bodyPr>
          <a:lstStyle/>
          <a:p>
            <a:pPr algn="l"/>
            <a:r>
              <a:rPr sz="1400" b="1" dirty="0">
                <a:solidFill>
                  <a:srgbClr val="21324A"/>
                </a:solidFill>
                <a:latin typeface="Aptos"/>
              </a:rPr>
              <a:t>apps/</a:t>
            </a:r>
            <a:r>
              <a:rPr sz="1400" b="1" dirty="0" err="1">
                <a:solidFill>
                  <a:srgbClr val="21324A"/>
                </a:solidFill>
                <a:latin typeface="Aptos"/>
              </a:rPr>
              <a:t>ooo</a:t>
            </a:r>
            <a:r>
              <a:rPr sz="1400" b="1" dirty="0">
                <a:solidFill>
                  <a:srgbClr val="21324A"/>
                </a:solidFill>
                <a:latin typeface="Aptos"/>
              </a:rPr>
              <a:t>/lib/</a:t>
            </a:r>
            <a:r>
              <a:rPr sz="1400" b="1" dirty="0" err="1">
                <a:solidFill>
                  <a:srgbClr val="21324A"/>
                </a:solidFill>
                <a:latin typeface="Aptos"/>
              </a:rPr>
              <a:t>supabase</a:t>
            </a:r>
            <a:r>
              <a:rPr sz="1400" b="1" dirty="0">
                <a:solidFill>
                  <a:srgbClr val="21324A"/>
                </a:solidFill>
                <a:latin typeface="Aptos"/>
              </a:rPr>
              <a:t>/*</a:t>
            </a:r>
          </a:p>
        </p:txBody>
      </p:sp>
      <p:sp>
        <p:nvSpPr>
          <p:cNvPr id="33" name="TextBox 32"/>
          <p:cNvSpPr txBox="1"/>
          <p:nvPr/>
        </p:nvSpPr>
        <p:spPr>
          <a:xfrm>
            <a:off x="868680" y="4983479"/>
            <a:ext cx="10332720" cy="0"/>
          </a:xfrm>
          <a:prstGeom prst="rect">
            <a:avLst/>
          </a:prstGeom>
          <a:noFill/>
        </p:spPr>
        <p:txBody>
          <a:bodyPr wrap="square" lIns="64008" tIns="64008" rIns="64008" bIns="64008" anchor="t">
            <a:spAutoFit/>
          </a:bodyPr>
          <a:lstStyle/>
          <a:p>
            <a:pPr algn="l"/>
            <a:r>
              <a:rPr sz="1400" b="0">
                <a:solidFill>
                  <a:srgbClr val="1E1E1E"/>
                </a:solidFill>
                <a:latin typeface="Aptos"/>
              </a:rPr>
              <a:t>Supabase client setup for browser/session or service-level backend operations.</a:t>
            </a:r>
          </a:p>
        </p:txBody>
      </p:sp>
      <p:sp>
        <p:nvSpPr>
          <p:cNvPr id="34" name="Rounded Rectangle 33"/>
          <p:cNvSpPr/>
          <p:nvPr/>
        </p:nvSpPr>
        <p:spPr>
          <a:xfrm>
            <a:off x="685800" y="5362956"/>
            <a:ext cx="10652760" cy="534922"/>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672084" y="5370288"/>
            <a:ext cx="73152" cy="411881"/>
          </a:xfrm>
          <a:prstGeom prst="rect">
            <a:avLst/>
          </a:prstGeom>
          <a:solidFill>
            <a:srgbClr val="F26419"/>
          </a:solidFill>
          <a:ln>
            <a:solidFill>
              <a:srgbClr val="F2641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68680" y="5310383"/>
            <a:ext cx="10332720" cy="320040"/>
          </a:xfrm>
          <a:prstGeom prst="rect">
            <a:avLst/>
          </a:prstGeom>
          <a:noFill/>
        </p:spPr>
        <p:txBody>
          <a:bodyPr wrap="square" lIns="64008" tIns="64008" rIns="64008" bIns="64008" anchor="t">
            <a:spAutoFit/>
          </a:bodyPr>
          <a:lstStyle/>
          <a:p>
            <a:pPr algn="l"/>
            <a:r>
              <a:rPr sz="1400" b="1" dirty="0">
                <a:solidFill>
                  <a:srgbClr val="21324A"/>
                </a:solidFill>
                <a:latin typeface="Aptos"/>
              </a:rPr>
              <a:t>apps/</a:t>
            </a:r>
            <a:r>
              <a:rPr sz="1400" b="1" dirty="0" err="1">
                <a:solidFill>
                  <a:srgbClr val="21324A"/>
                </a:solidFill>
                <a:latin typeface="Aptos"/>
              </a:rPr>
              <a:t>ooo</a:t>
            </a:r>
            <a:r>
              <a:rPr sz="1400" b="1" dirty="0">
                <a:solidFill>
                  <a:srgbClr val="21324A"/>
                </a:solidFill>
                <a:latin typeface="Aptos"/>
              </a:rPr>
              <a:t>/components/*</a:t>
            </a:r>
          </a:p>
        </p:txBody>
      </p:sp>
      <p:sp>
        <p:nvSpPr>
          <p:cNvPr id="37" name="TextBox 36"/>
          <p:cNvSpPr txBox="1"/>
          <p:nvPr/>
        </p:nvSpPr>
        <p:spPr>
          <a:xfrm>
            <a:off x="868680" y="5568695"/>
            <a:ext cx="10332720" cy="0"/>
          </a:xfrm>
          <a:prstGeom prst="rect">
            <a:avLst/>
          </a:prstGeom>
          <a:noFill/>
        </p:spPr>
        <p:txBody>
          <a:bodyPr wrap="square" lIns="64008" tIns="64008" rIns="64008" bIns="64008" anchor="t">
            <a:spAutoFit/>
          </a:bodyPr>
          <a:lstStyle/>
          <a:p>
            <a:pPr algn="l"/>
            <a:r>
              <a:rPr sz="1400" b="0">
                <a:solidFill>
                  <a:srgbClr val="1E1E1E"/>
                </a:solidFill>
                <a:latin typeface="Aptos"/>
              </a:rPr>
              <a:t>Reusable visual components such as navigation, cards, tables, forms and organization views.</a:t>
            </a:r>
          </a:p>
        </p:txBody>
      </p:sp>
      <p:sp>
        <p:nvSpPr>
          <p:cNvPr id="38" name="Rounded Rectangle 37"/>
          <p:cNvSpPr/>
          <p:nvPr/>
        </p:nvSpPr>
        <p:spPr>
          <a:xfrm>
            <a:off x="685800" y="5993894"/>
            <a:ext cx="10637520" cy="534922"/>
          </a:xfrm>
          <a:prstGeom prst="roundRect">
            <a:avLst/>
          </a:prstGeom>
          <a:solidFill>
            <a:srgbClr val="FFFFFF"/>
          </a:solidFill>
          <a:ln w="12700">
            <a:solidFill>
              <a:srgbClr val="DA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672084" y="6078947"/>
            <a:ext cx="86868" cy="344710"/>
          </a:xfrm>
          <a:prstGeom prst="rect">
            <a:avLst/>
          </a:prstGeom>
          <a:solidFill>
            <a:srgbClr val="1F609A"/>
          </a:solidFill>
          <a:ln>
            <a:solidFill>
              <a:srgbClr val="1F60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68680" y="5897878"/>
            <a:ext cx="10332720" cy="320040"/>
          </a:xfrm>
          <a:prstGeom prst="rect">
            <a:avLst/>
          </a:prstGeom>
          <a:noFill/>
        </p:spPr>
        <p:txBody>
          <a:bodyPr wrap="square" lIns="64008" tIns="64008" rIns="64008" bIns="64008" anchor="t">
            <a:spAutoFit/>
          </a:bodyPr>
          <a:lstStyle/>
          <a:p>
            <a:pPr algn="l"/>
            <a:r>
              <a:rPr sz="1400" b="1">
                <a:solidFill>
                  <a:srgbClr val="21324A"/>
                </a:solidFill>
                <a:latin typeface="Aptos"/>
              </a:rPr>
              <a:t>apps/ooo/lib/services/*</a:t>
            </a:r>
          </a:p>
        </p:txBody>
      </p:sp>
      <p:sp>
        <p:nvSpPr>
          <p:cNvPr id="41" name="TextBox 40"/>
          <p:cNvSpPr txBox="1"/>
          <p:nvPr/>
        </p:nvSpPr>
        <p:spPr>
          <a:xfrm>
            <a:off x="868680" y="6153911"/>
            <a:ext cx="10332720" cy="344710"/>
          </a:xfrm>
          <a:prstGeom prst="rect">
            <a:avLst/>
          </a:prstGeom>
          <a:noFill/>
        </p:spPr>
        <p:txBody>
          <a:bodyPr wrap="square" lIns="64008" tIns="64008" rIns="64008" bIns="64008" anchor="t">
            <a:spAutoFit/>
          </a:bodyPr>
          <a:lstStyle/>
          <a:p>
            <a:pPr algn="l"/>
            <a:r>
              <a:rPr sz="1400" b="0" dirty="0">
                <a:solidFill>
                  <a:srgbClr val="1E1E1E"/>
                </a:solidFill>
                <a:latin typeface="Aptos"/>
              </a:rPr>
              <a:t>Domain services such as notification logic and other reusable backend/client logic.</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6419"/>
          </a:solidFill>
          <a:ln>
            <a:solidFill>
              <a:srgbClr val="F2641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TextBox 2"/>
          <p:cNvSpPr txBox="1"/>
          <p:nvPr/>
        </p:nvSpPr>
        <p:spPr>
          <a:xfrm>
            <a:off x="306" y="2776514"/>
            <a:ext cx="12191694" cy="1606594"/>
          </a:xfrm>
          <a:prstGeom prst="rect">
            <a:avLst/>
          </a:prstGeom>
          <a:noFill/>
        </p:spPr>
        <p:txBody>
          <a:bodyPr wrap="square" lIns="64008" tIns="64008" rIns="64008" bIns="64008" anchor="t">
            <a:spAutoFit/>
          </a:bodyPr>
          <a:lstStyle/>
          <a:p>
            <a:pPr algn="ctr"/>
            <a:r>
              <a:rPr sz="9600" b="0" dirty="0">
                <a:solidFill>
                  <a:srgbClr val="FFFFFF"/>
                </a:solidFill>
                <a:latin typeface="Aptos"/>
              </a:rPr>
              <a:t>Thank You!</a:t>
            </a:r>
          </a:p>
        </p:txBody>
      </p:sp>
      <p:sp>
        <p:nvSpPr>
          <p:cNvPr id="5" name="TextBox 4"/>
          <p:cNvSpPr txBox="1"/>
          <p:nvPr/>
        </p:nvSpPr>
        <p:spPr>
          <a:xfrm>
            <a:off x="10972800" y="6309360"/>
            <a:ext cx="731520" cy="274320"/>
          </a:xfrm>
          <a:prstGeom prst="rect">
            <a:avLst/>
          </a:prstGeom>
          <a:noFill/>
        </p:spPr>
        <p:txBody>
          <a:bodyPr wrap="square" lIns="64008" tIns="64008" rIns="64008" bIns="64008" anchor="t">
            <a:spAutoFit/>
          </a:bodyPr>
          <a:lstStyle/>
          <a:p>
            <a:pPr algn="r"/>
            <a:r>
              <a:rPr sz="1800" b="1">
                <a:solidFill>
                  <a:srgbClr val="FFFFFF"/>
                </a:solidFill>
                <a:latin typeface="Aptos"/>
              </a:rPr>
              <a:t>EXL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108</TotalTime>
  <Words>3546</Words>
  <Application>Microsoft Office PowerPoint</Application>
  <PresentationFormat>Widescreen</PresentationFormat>
  <Paragraphs>479</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sagar saini</cp:lastModifiedBy>
  <cp:revision>2</cp:revision>
  <dcterms:created xsi:type="dcterms:W3CDTF">2013-01-27T09:14:16Z</dcterms:created>
  <dcterms:modified xsi:type="dcterms:W3CDTF">2026-07-03T12:04:09Z</dcterms:modified>
  <cp:category/>
</cp:coreProperties>
</file>